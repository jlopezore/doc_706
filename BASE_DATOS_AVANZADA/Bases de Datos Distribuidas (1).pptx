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4E7171-8CD5-40EE-8657-8693A238C7EE}">
  <a:tblStyle styleId="{D04E7171-8CD5-40EE-8657-8693A238C7E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84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8412da13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8412da13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8412da138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8412da138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8412da138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8412da138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8412da138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8412da138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8412da138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8412da138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8412da138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8412da138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8412da1380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8412da1380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412da138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412da138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8412da138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8412da138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76625000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76625000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876625000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876625000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8766250002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8766250002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8e775c1c9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8e775c1c9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8e775c1c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8e775c1c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876625000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876625000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8e775c1c9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8e775c1c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8766250002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8766250002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76625000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876625000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76625000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76625000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766250002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8766250002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876625000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876625000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8766250002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876625000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876625000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876625000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876625000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876625000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94eb64b91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94eb64b91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9cd9456f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9cd9456f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9cd9456f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9cd9456f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9cd9456fbc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9cd9456fb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9cd9456fb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9cd9456fb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9cd9456fb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9cd9456fb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9cd9456fb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9cd9456fb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9cd9456fb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9cd9456fb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9cd9456fbc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9cd9456fbc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9cd9456fbc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9cd9456fbc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9cd9456fbc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9cd9456fbc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9cd9456fbc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9cd9456fb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9cd9456fb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9cd9456fbc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9cd9456fbc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9cd9456fbc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cd9456fbc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9cd9456fb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94eb64b91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94eb64b91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94eb64b91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94eb64b91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94eb64b913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94eb64b91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94eb64b91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94eb64b91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94eb64b913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94eb64b913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94eb64b913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94eb64b91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8766250002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876625000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9b6b513da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9b6b513d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9b6b513da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9b6b513da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9b6b513dae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9b6b513dae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9b6b513da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9b6b513da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94eb64b91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94eb64b91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94eb64b91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94eb64b91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419"/>
              <a:t>Bases de Datos Distribuidas</a:t>
            </a:r>
            <a:endParaRPr/>
          </a:p>
        </p:txBody>
      </p:sp>
      <p:sp>
        <p:nvSpPr>
          <p:cNvPr id="55" name="Google Shape;55;p13"/>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419"/>
              <a:t>M.C.C. Eliezer Alcázar Silva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¿Qué son las Bases de datos distribuidas?</a:t>
            </a:r>
            <a:endParaRPr/>
          </a:p>
        </p:txBody>
      </p:sp>
      <p:sp>
        <p:nvSpPr>
          <p:cNvPr id="61" name="Google Shape;61;p1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419">
                <a:solidFill>
                  <a:schemeClr val="dk1"/>
                </a:solidFill>
              </a:rPr>
              <a:t>Una </a:t>
            </a:r>
            <a:r>
              <a:rPr lang="es-419" b="1">
                <a:solidFill>
                  <a:schemeClr val="dk1"/>
                </a:solidFill>
              </a:rPr>
              <a:t>base de datos distribuida</a:t>
            </a:r>
            <a:r>
              <a:rPr lang="es-419">
                <a:solidFill>
                  <a:schemeClr val="dk1"/>
                </a:solidFill>
              </a:rPr>
              <a:t>, o por sus siglas en inglés </a:t>
            </a:r>
            <a:r>
              <a:rPr lang="es-419" b="1">
                <a:solidFill>
                  <a:schemeClr val="dk1"/>
                </a:solidFill>
              </a:rPr>
              <a:t>DDB</a:t>
            </a:r>
            <a:r>
              <a:rPr lang="es-419">
                <a:solidFill>
                  <a:schemeClr val="dk1"/>
                </a:solidFill>
              </a:rPr>
              <a:t> (Distributed Database), la podemos entender como una base de datos tradicional dividida en diferentes partes físicamente dispersas y que se acceden de forma lógica, tal como se accede a una base de datos centralizada por medio de un Sistema de Administración de Bases de Datos.</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¿Qué son las Bases de datos distribuidas?</a:t>
            </a:r>
            <a:endParaRPr/>
          </a:p>
        </p:txBody>
      </p:sp>
      <p:sp>
        <p:nvSpPr>
          <p:cNvPr id="67" name="Google Shape;67;p15"/>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just" rtl="0">
              <a:spcBef>
                <a:spcPts val="900"/>
              </a:spcBef>
              <a:spcAft>
                <a:spcPts val="900"/>
              </a:spcAft>
              <a:buNone/>
            </a:pPr>
            <a:r>
              <a:rPr lang="es-419" sz="1600">
                <a:solidFill>
                  <a:schemeClr val="dk1"/>
                </a:solidFill>
              </a:rPr>
              <a:t>Un </a:t>
            </a:r>
            <a:r>
              <a:rPr lang="es-419" sz="1600" b="1">
                <a:solidFill>
                  <a:schemeClr val="dk1"/>
                </a:solidFill>
              </a:rPr>
              <a:t>Sistema de Administración de Bases de Datos Distribuidas</a:t>
            </a:r>
            <a:r>
              <a:rPr lang="es-419" sz="1600">
                <a:solidFill>
                  <a:schemeClr val="dk1"/>
                </a:solidFill>
              </a:rPr>
              <a:t>, o por si siglas en inglés </a:t>
            </a:r>
            <a:r>
              <a:rPr lang="es-419" sz="1600" b="1">
                <a:solidFill>
                  <a:schemeClr val="dk1"/>
                </a:solidFill>
              </a:rPr>
              <a:t>DDBMS</a:t>
            </a:r>
            <a:r>
              <a:rPr lang="es-419" sz="1600">
                <a:solidFill>
                  <a:schemeClr val="dk1"/>
                </a:solidFill>
              </a:rPr>
              <a:t> (Distributed Database Managment System), rige el almacenamiento y procesamiento de datos lógicamente relacionados a través de sistemas de computadoras interconectadas, en las cuales tanto las funciones de datos como de procesamiento se distribuyen entre varios sitios (R</a:t>
            </a:r>
            <a:r>
              <a:rPr lang="es-419" sz="1700">
                <a:solidFill>
                  <a:schemeClr val="dk1"/>
                </a:solidFill>
              </a:rPr>
              <a:t>ob, Peter 2004)</a:t>
            </a:r>
            <a:endParaRPr sz="2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¿Qué son las Bases de datos distribuidas?</a:t>
            </a:r>
            <a:endParaRPr/>
          </a:p>
        </p:txBody>
      </p:sp>
      <p:sp>
        <p:nvSpPr>
          <p:cNvPr id="73" name="Google Shape;73;p1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just" rtl="0">
              <a:spcBef>
                <a:spcPts val="900"/>
              </a:spcBef>
              <a:spcAft>
                <a:spcPts val="900"/>
              </a:spcAft>
              <a:buNone/>
            </a:pPr>
            <a:r>
              <a:rPr lang="es-419">
                <a:solidFill>
                  <a:schemeClr val="dk1"/>
                </a:solidFill>
              </a:rPr>
              <a:t>Un Sistema de Administración de Base de Datos Distribuida debe realizar todas las funciones de un sistema de administración de base de datos centralizado y manejar todas las funciones necesarias impuestas por la distribución de los datos y procesamiento; además, debe realizar estas funciones adicionales </a:t>
            </a:r>
            <a:r>
              <a:rPr lang="es-419" i="1">
                <a:solidFill>
                  <a:schemeClr val="dk1"/>
                </a:solidFill>
              </a:rPr>
              <a:t>transparentemente</a:t>
            </a:r>
            <a:r>
              <a:rPr lang="es-419">
                <a:solidFill>
                  <a:schemeClr val="dk1"/>
                </a:solidFill>
              </a:rPr>
              <a:t> para el usuario. </a:t>
            </a:r>
            <a:endParaRPr sz="3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80" name="Google Shape;80;p17"/>
          <p:cNvPicPr preferRelativeResize="0"/>
          <p:nvPr/>
        </p:nvPicPr>
        <p:blipFill>
          <a:blip r:embed="rId3">
            <a:alphaModFix/>
          </a:blip>
          <a:stretch>
            <a:fillRect/>
          </a:stretch>
        </p:blipFill>
        <p:spPr>
          <a:xfrm>
            <a:off x="982200" y="381400"/>
            <a:ext cx="7400975" cy="4681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Componentes de una Bases de datos distribuidas</a:t>
            </a:r>
            <a:endParaRPr/>
          </a:p>
        </p:txBody>
      </p:sp>
      <p:sp>
        <p:nvSpPr>
          <p:cNvPr id="86" name="Google Shape;86;p18"/>
          <p:cNvSpPr txBox="1">
            <a:spLocks noGrp="1"/>
          </p:cNvSpPr>
          <p:nvPr>
            <p:ph type="body" idx="1"/>
          </p:nvPr>
        </p:nvSpPr>
        <p:spPr>
          <a:prstGeom prst="rect">
            <a:avLst/>
          </a:prstGeom>
        </p:spPr>
        <p:txBody>
          <a:bodyPr spcFirstLastPara="1" wrap="square" lIns="91425" tIns="91425" rIns="91425" bIns="91425" anchor="t" anchorCtr="0">
            <a:normAutofit fontScale="32500" lnSpcReduction="10000"/>
          </a:bodyPr>
          <a:lstStyle/>
          <a:p>
            <a:pPr marL="0" lvl="0" indent="0" algn="just" rtl="0">
              <a:spcBef>
                <a:spcPts val="1200"/>
              </a:spcBef>
              <a:spcAft>
                <a:spcPts val="0"/>
              </a:spcAft>
              <a:buNone/>
            </a:pPr>
            <a:r>
              <a:rPr lang="es-419" sz="7165" i="1">
                <a:solidFill>
                  <a:schemeClr val="dk1"/>
                </a:solidFill>
              </a:rPr>
              <a:t>De acuerdo con Peter Rob (2004), el Sistema de Administración de Bases de Datos Distribuidas debe incluir (por lo menos) los siguientes componentes:</a:t>
            </a:r>
            <a:endParaRPr sz="7165" i="1">
              <a:solidFill>
                <a:schemeClr val="dk1"/>
              </a:solidFill>
            </a:endParaRPr>
          </a:p>
          <a:p>
            <a:pPr marL="457200" lvl="0" indent="-342350" algn="l" rtl="0">
              <a:spcBef>
                <a:spcPts val="1200"/>
              </a:spcBef>
              <a:spcAft>
                <a:spcPts val="0"/>
              </a:spcAft>
              <a:buClr>
                <a:schemeClr val="dk1"/>
              </a:buClr>
              <a:buSzPct val="100000"/>
              <a:buChar char="●"/>
            </a:pPr>
            <a:r>
              <a:rPr lang="es-419" sz="7165" b="1" i="1">
                <a:solidFill>
                  <a:schemeClr val="dk1"/>
                </a:solidFill>
              </a:rPr>
              <a:t>Estaciones de trabajo</a:t>
            </a:r>
            <a:r>
              <a:rPr lang="es-419" sz="7165" i="1">
                <a:solidFill>
                  <a:schemeClr val="dk1"/>
                </a:solidFill>
              </a:rPr>
              <a:t> (sitios y nodos) que formen el sistema de red. El Sistema de Bases de Datos Distribuidas debe ser independiente del hardware del sistema de computadoras.</a:t>
            </a:r>
            <a:endParaRPr sz="7165" i="1">
              <a:solidFill>
                <a:schemeClr val="dk1"/>
              </a:solidFill>
            </a:endParaRPr>
          </a:p>
          <a:p>
            <a:pPr marL="457200" lvl="0" indent="-342350" algn="l" rtl="0">
              <a:spcBef>
                <a:spcPts val="0"/>
              </a:spcBef>
              <a:spcAft>
                <a:spcPts val="0"/>
              </a:spcAft>
              <a:buClr>
                <a:schemeClr val="dk1"/>
              </a:buClr>
              <a:buSzPct val="100000"/>
              <a:buChar char="●"/>
            </a:pPr>
            <a:r>
              <a:rPr lang="es-419" sz="7165" b="1" i="1">
                <a:solidFill>
                  <a:schemeClr val="dk1"/>
                </a:solidFill>
              </a:rPr>
              <a:t>Componentes de software y hardware</a:t>
            </a:r>
            <a:r>
              <a:rPr lang="es-419" sz="7165" i="1">
                <a:solidFill>
                  <a:schemeClr val="dk1"/>
                </a:solidFill>
              </a:rPr>
              <a:t> residentes en cada estación de trabajo. Los componentes de red permiten que todos los sitios interactúen e intercambien datos. </a:t>
            </a:r>
            <a:endParaRPr sz="7165" i="1">
              <a:solidFill>
                <a:schemeClr val="dk1"/>
              </a:solidFill>
            </a:endParaRPr>
          </a:p>
          <a:p>
            <a:pPr marL="0" lvl="0" indent="0" algn="just" rtl="0">
              <a:spcBef>
                <a:spcPts val="900"/>
              </a:spcBef>
              <a:spcAft>
                <a:spcPts val="1200"/>
              </a:spcAft>
              <a:buNone/>
            </a:pP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rmAutofit fontScale="25000" lnSpcReduction="20000"/>
          </a:bodyPr>
          <a:lstStyle/>
          <a:p>
            <a:pPr marL="457200" lvl="0" indent="-342350" algn="l" rtl="0">
              <a:spcBef>
                <a:spcPts val="900"/>
              </a:spcBef>
              <a:spcAft>
                <a:spcPts val="0"/>
              </a:spcAft>
              <a:buClr>
                <a:schemeClr val="dk1"/>
              </a:buClr>
              <a:buSzPct val="100000"/>
              <a:buChar char="●"/>
            </a:pPr>
            <a:r>
              <a:rPr lang="es-419" sz="7165" b="1" i="1">
                <a:solidFill>
                  <a:schemeClr val="dk1"/>
                </a:solidFill>
              </a:rPr>
              <a:t>Medios de comunicación</a:t>
            </a:r>
            <a:r>
              <a:rPr lang="es-419" sz="7165" i="1">
                <a:solidFill>
                  <a:schemeClr val="dk1"/>
                </a:solidFill>
              </a:rPr>
              <a:t> que transporten los datos de una estación de trabajo a otra. El Sistema de Administración de bases de Datos Distribuidas debe ser independiente de los medios de comunicación; es decir, debe ser capaz de soportar varios tipos de medios de comunicación.</a:t>
            </a:r>
            <a:endParaRPr sz="7165" i="1">
              <a:solidFill>
                <a:schemeClr val="dk1"/>
              </a:solidFill>
            </a:endParaRPr>
          </a:p>
          <a:p>
            <a:pPr marL="457200" lvl="0" indent="-342350" algn="l" rtl="0">
              <a:spcBef>
                <a:spcPts val="0"/>
              </a:spcBef>
              <a:spcAft>
                <a:spcPts val="0"/>
              </a:spcAft>
              <a:buClr>
                <a:schemeClr val="dk1"/>
              </a:buClr>
              <a:buSzPct val="100000"/>
              <a:buChar char="●"/>
            </a:pPr>
            <a:r>
              <a:rPr lang="es-419" sz="7165" b="1" i="1">
                <a:solidFill>
                  <a:schemeClr val="dk1"/>
                </a:solidFill>
              </a:rPr>
              <a:t>El Procesador de Transacciones</a:t>
            </a:r>
            <a:r>
              <a:rPr lang="es-419" sz="7165" i="1">
                <a:solidFill>
                  <a:schemeClr val="dk1"/>
                </a:solidFill>
              </a:rPr>
              <a:t> (</a:t>
            </a:r>
            <a:r>
              <a:rPr lang="es-419" sz="7165" b="1" i="1">
                <a:solidFill>
                  <a:schemeClr val="dk1"/>
                </a:solidFill>
              </a:rPr>
              <a:t>TP</a:t>
            </a:r>
            <a:r>
              <a:rPr lang="es-419" sz="7165" i="1">
                <a:solidFill>
                  <a:schemeClr val="dk1"/>
                </a:solidFill>
              </a:rPr>
              <a:t>, por sus siglas en inglés), el cual es el componente de software encontrado en cada computadora que solicita datos. El PT recibe y procesa las solicitudes de datos de la aplicación (remotas y locales); el TP también es conocido como </a:t>
            </a:r>
            <a:r>
              <a:rPr lang="es-419" sz="7165" b="1" i="1">
                <a:solidFill>
                  <a:schemeClr val="dk1"/>
                </a:solidFill>
              </a:rPr>
              <a:t>Procesador de Aplicaciones</a:t>
            </a:r>
            <a:r>
              <a:rPr lang="es-419" sz="7165" i="1">
                <a:solidFill>
                  <a:schemeClr val="dk1"/>
                </a:solidFill>
              </a:rPr>
              <a:t> (</a:t>
            </a:r>
            <a:r>
              <a:rPr lang="es-419" sz="7165" b="1" i="1">
                <a:solidFill>
                  <a:schemeClr val="dk1"/>
                </a:solidFill>
              </a:rPr>
              <a:t>AP</a:t>
            </a:r>
            <a:r>
              <a:rPr lang="es-419" sz="7165" i="1">
                <a:solidFill>
                  <a:schemeClr val="dk1"/>
                </a:solidFill>
              </a:rPr>
              <a:t>, por sus siglas en inglés) o como </a:t>
            </a:r>
            <a:r>
              <a:rPr lang="es-419" sz="7165" b="1" i="1">
                <a:solidFill>
                  <a:schemeClr val="dk1"/>
                </a:solidFill>
              </a:rPr>
              <a:t>Administrador de Transacciones</a:t>
            </a:r>
            <a:r>
              <a:rPr lang="es-419" sz="7165" i="1">
                <a:solidFill>
                  <a:schemeClr val="dk1"/>
                </a:solidFill>
              </a:rPr>
              <a:t> (</a:t>
            </a:r>
            <a:r>
              <a:rPr lang="es-419" sz="7165" b="1" i="1">
                <a:solidFill>
                  <a:schemeClr val="dk1"/>
                </a:solidFill>
              </a:rPr>
              <a:t>TM</a:t>
            </a:r>
            <a:r>
              <a:rPr lang="es-419" sz="7165" i="1">
                <a:solidFill>
                  <a:schemeClr val="dk1"/>
                </a:solidFill>
              </a:rPr>
              <a:t>, por sus siglas en inglés).</a:t>
            </a:r>
            <a:endParaRPr sz="7165" i="1">
              <a:solidFill>
                <a:schemeClr val="dk1"/>
              </a:solidFill>
            </a:endParaRPr>
          </a:p>
          <a:p>
            <a:pPr marL="457200" lvl="0" indent="-342350" algn="l" rtl="0">
              <a:spcBef>
                <a:spcPts val="0"/>
              </a:spcBef>
              <a:spcAft>
                <a:spcPts val="0"/>
              </a:spcAft>
              <a:buClr>
                <a:schemeClr val="dk1"/>
              </a:buClr>
              <a:buSzPct val="100000"/>
              <a:buChar char="●"/>
            </a:pPr>
            <a:r>
              <a:rPr lang="es-419" sz="7165" b="1" i="1">
                <a:solidFill>
                  <a:schemeClr val="dk1"/>
                </a:solidFill>
              </a:rPr>
              <a:t>El Procesador de Datos</a:t>
            </a:r>
            <a:r>
              <a:rPr lang="es-419" sz="7165" i="1">
                <a:solidFill>
                  <a:schemeClr val="dk1"/>
                </a:solidFill>
              </a:rPr>
              <a:t> (</a:t>
            </a:r>
            <a:r>
              <a:rPr lang="es-419" sz="7165" b="1" i="1">
                <a:solidFill>
                  <a:schemeClr val="dk1"/>
                </a:solidFill>
              </a:rPr>
              <a:t>DP</a:t>
            </a:r>
            <a:r>
              <a:rPr lang="es-419" sz="7165" i="1">
                <a:solidFill>
                  <a:schemeClr val="dk1"/>
                </a:solidFill>
              </a:rPr>
              <a:t>, por sus siglas en inglés), el cual es el componente de software residente en cada computadora que guarda y recupera datos localizados en el sitio. El DP también se conoce como </a:t>
            </a:r>
            <a:r>
              <a:rPr lang="es-419" sz="7165" b="1" i="1">
                <a:solidFill>
                  <a:schemeClr val="dk1"/>
                </a:solidFill>
              </a:rPr>
              <a:t>administrador de datos</a:t>
            </a:r>
            <a:r>
              <a:rPr lang="es-419" sz="7165" i="1">
                <a:solidFill>
                  <a:schemeClr val="dk1"/>
                </a:solidFill>
              </a:rPr>
              <a:t> (</a:t>
            </a:r>
            <a:r>
              <a:rPr lang="es-419" sz="7165" b="1" i="1">
                <a:solidFill>
                  <a:schemeClr val="dk1"/>
                </a:solidFill>
              </a:rPr>
              <a:t>DM</a:t>
            </a:r>
            <a:r>
              <a:rPr lang="es-419" sz="7165" i="1">
                <a:solidFill>
                  <a:schemeClr val="dk1"/>
                </a:solidFill>
              </a:rPr>
              <a:t>); incluso, un procesador de datos puede ser un DBM centralizado.</a:t>
            </a:r>
            <a:endParaRPr sz="7165" i="1">
              <a:solidFill>
                <a:schemeClr val="dk1"/>
              </a:solidFill>
            </a:endParaRPr>
          </a:p>
          <a:p>
            <a:pPr marL="0" lvl="0" indent="0" algn="just" rtl="0">
              <a:spcBef>
                <a:spcPts val="900"/>
              </a:spcBef>
              <a:spcAft>
                <a:spcPts val="0"/>
              </a:spcAft>
              <a:buClr>
                <a:schemeClr val="dk1"/>
              </a:buClr>
              <a:buSzPct val="122222"/>
              <a:buFont typeface="Arial"/>
              <a:buNone/>
            </a:pPr>
            <a:endParaRPr sz="900" b="1" i="1">
              <a:solidFill>
                <a:schemeClr val="dk1"/>
              </a:solidFill>
            </a:endParaRPr>
          </a:p>
          <a:p>
            <a:pPr marL="0" lvl="0" indent="0" algn="just" rtl="0">
              <a:spcBef>
                <a:spcPts val="0"/>
              </a:spcBef>
              <a:spcAft>
                <a:spcPts val="0"/>
              </a:spcAft>
              <a:buClr>
                <a:schemeClr val="dk1"/>
              </a:buClr>
              <a:buSzPct val="61111"/>
              <a:buFont typeface="Arial"/>
              <a:buNone/>
            </a:pPr>
            <a:endParaRPr>
              <a:solidFill>
                <a:schemeClr val="dk1"/>
              </a:solidFill>
            </a:endParaRPr>
          </a:p>
          <a:p>
            <a:pPr marL="0" lvl="0" indent="0" algn="just" rtl="0">
              <a:spcBef>
                <a:spcPts val="1200"/>
              </a:spcBef>
              <a:spcAft>
                <a:spcPts val="1200"/>
              </a:spcAft>
              <a:buNone/>
            </a:pPr>
            <a:endParaRPr sz="7165" i="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8" name="Google Shape;98;p20"/>
          <p:cNvPicPr preferRelativeResize="0"/>
          <p:nvPr/>
        </p:nvPicPr>
        <p:blipFill>
          <a:blip r:embed="rId3">
            <a:alphaModFix/>
          </a:blip>
          <a:stretch>
            <a:fillRect/>
          </a:stretch>
        </p:blipFill>
        <p:spPr>
          <a:xfrm>
            <a:off x="1521699" y="445025"/>
            <a:ext cx="5762200" cy="4518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DDBMS</a:t>
            </a:r>
            <a:endParaRPr/>
          </a:p>
        </p:txBody>
      </p:sp>
      <p:sp>
        <p:nvSpPr>
          <p:cNvPr id="104" name="Google Shape;104;p21"/>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endParaRPr>
              <a:solidFill>
                <a:schemeClr val="dk1"/>
              </a:solidFill>
            </a:endParaRPr>
          </a:p>
          <a:p>
            <a:pPr marL="0" lvl="0" indent="0" algn="just" rtl="0">
              <a:spcBef>
                <a:spcPts val="1200"/>
              </a:spcBef>
              <a:spcAft>
                <a:spcPts val="0"/>
              </a:spcAft>
              <a:buNone/>
            </a:pPr>
            <a:r>
              <a:rPr lang="es-419">
                <a:solidFill>
                  <a:schemeClr val="dk1"/>
                </a:solidFill>
              </a:rPr>
              <a:t>De acuerdo con Peter Rob (Rob, 2004), un DDBMS rige el almacenamiento y procesamiento de datos lógicamente relacionados a través de sistemas de computadoras interconectadas, en las cuales tanto las funciones de datos como de procesamiento se distribuyen entre varios sitios. De esta manera, un DDBMS debe contar por lo menos con las siguientes características o funciones para ser considerado como distribuido:</a:t>
            </a:r>
            <a:endParaRPr>
              <a:solidFill>
                <a:schemeClr val="dk1"/>
              </a:solidFill>
            </a:endParaRPr>
          </a:p>
          <a:p>
            <a:pPr marL="0" lvl="0" indent="0" algn="just" rtl="0">
              <a:spcBef>
                <a:spcPts val="1200"/>
              </a:spcBef>
              <a:spcAft>
                <a:spcPts val="0"/>
              </a:spcAft>
              <a:buNone/>
            </a:pPr>
            <a:endParaRPr>
              <a:solidFill>
                <a:schemeClr val="dk1"/>
              </a:solidFill>
            </a:endParaRPr>
          </a:p>
          <a:p>
            <a:pPr marL="0" lvl="0" indent="0" algn="just" rtl="0">
              <a:spcBef>
                <a:spcPts val="1200"/>
              </a:spcBef>
              <a:spcAft>
                <a:spcPts val="1200"/>
              </a:spcAft>
              <a:buNone/>
            </a:pP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body" idx="1"/>
          </p:nvPr>
        </p:nvSpPr>
        <p:spPr>
          <a:xfrm>
            <a:off x="311700" y="675600"/>
            <a:ext cx="8520600" cy="4402800"/>
          </a:xfrm>
          <a:prstGeom prst="rect">
            <a:avLst/>
          </a:prstGeom>
        </p:spPr>
        <p:txBody>
          <a:bodyPr spcFirstLastPara="1" wrap="square" lIns="91425" tIns="91425" rIns="91425" bIns="91425" anchor="t" anchorCtr="0">
            <a:normAutofit/>
          </a:bodyPr>
          <a:lstStyle/>
          <a:p>
            <a:pPr marL="457200" lvl="0" indent="-342900" algn="l" rtl="0">
              <a:spcBef>
                <a:spcPts val="900"/>
              </a:spcBef>
              <a:spcAft>
                <a:spcPts val="0"/>
              </a:spcAft>
              <a:buClr>
                <a:schemeClr val="dk1"/>
              </a:buClr>
              <a:buSzPts val="1800"/>
              <a:buChar char="●"/>
            </a:pPr>
            <a:r>
              <a:rPr lang="es-419" b="1" i="1">
                <a:solidFill>
                  <a:schemeClr val="dk1"/>
                </a:solidFill>
              </a:rPr>
              <a:t>Interface de aplicación</a:t>
            </a:r>
            <a:r>
              <a:rPr lang="es-419">
                <a:solidFill>
                  <a:schemeClr val="dk1"/>
                </a:solidFill>
              </a:rPr>
              <a:t> para interactuar con el usuario final o con programas de aplicación y con otros sistemas de administración de base de datos (DBMS) dentro de la base de datos distribuida.</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Validación</a:t>
            </a:r>
            <a:r>
              <a:rPr lang="es-419">
                <a:solidFill>
                  <a:schemeClr val="dk1"/>
                </a:solidFill>
              </a:rPr>
              <a:t> para analizar las solicitudes de datos.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Transformación</a:t>
            </a:r>
            <a:r>
              <a:rPr lang="es-419">
                <a:solidFill>
                  <a:schemeClr val="dk1"/>
                </a:solidFill>
              </a:rPr>
              <a:t> para determinar qué componentes de solicitud de datos se distribuyen y cuáles son locales.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Optimización de consultas</a:t>
            </a:r>
            <a:r>
              <a:rPr lang="es-419">
                <a:solidFill>
                  <a:schemeClr val="dk1"/>
                </a:solidFill>
              </a:rPr>
              <a:t> para encontrar la mejor estrategia de acceso. (¿Cuáles fragmentos deben ser accesados por la consulta y cómo, si las hay, se deben sincronizar las actualizaciones de los datos?)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Mapeo</a:t>
            </a:r>
            <a:r>
              <a:rPr lang="es-419">
                <a:solidFill>
                  <a:schemeClr val="dk1"/>
                </a:solidFill>
              </a:rPr>
              <a:t> para determinar la ubicación de los datos de fragmentos locales y remotos.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Interface de E/S</a:t>
            </a:r>
            <a:r>
              <a:rPr lang="es-419">
                <a:solidFill>
                  <a:schemeClr val="dk1"/>
                </a:solidFill>
              </a:rPr>
              <a:t> para leer o escribir datos de o en medios de almacenamiento locales y permanentes.</a:t>
            </a:r>
            <a:endParaRPr sz="8065" i="1">
              <a:solidFill>
                <a:schemeClr val="dk1"/>
              </a:solidFill>
            </a:endParaRPr>
          </a:p>
        </p:txBody>
      </p:sp>
      <p:sp>
        <p:nvSpPr>
          <p:cNvPr id="110" name="Google Shape;110;p22"/>
          <p:cNvSpPr txBox="1"/>
          <p:nvPr/>
        </p:nvSpPr>
        <p:spPr>
          <a:xfrm>
            <a:off x="0" y="0"/>
            <a:ext cx="9144000" cy="538800"/>
          </a:xfrm>
          <a:prstGeom prst="rect">
            <a:avLst/>
          </a:prstGeom>
          <a:noFill/>
          <a:ln>
            <a:noFill/>
          </a:ln>
        </p:spPr>
        <p:txBody>
          <a:bodyPr spcFirstLastPara="1" wrap="square" lIns="91425" tIns="91425" rIns="91425" bIns="91425" anchor="t" anchorCtr="0">
            <a:spAutoFit/>
          </a:bodyPr>
          <a:lstStyle/>
          <a:p>
            <a:pPr marL="444500" lvl="0" indent="0" algn="l" rtl="0">
              <a:lnSpc>
                <a:spcPct val="7840"/>
              </a:lnSpc>
              <a:spcBef>
                <a:spcPts val="300"/>
              </a:spcBef>
              <a:spcAft>
                <a:spcPts val="300"/>
              </a:spcAft>
              <a:buNone/>
            </a:pPr>
            <a:endParaRPr sz="2300" b="1">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42900" algn="l" rtl="0">
              <a:spcBef>
                <a:spcPts val="900"/>
              </a:spcBef>
              <a:spcAft>
                <a:spcPts val="0"/>
              </a:spcAft>
              <a:buClr>
                <a:schemeClr val="dk1"/>
              </a:buClr>
              <a:buSzPts val="1800"/>
              <a:buChar char="●"/>
            </a:pPr>
            <a:r>
              <a:rPr lang="es-419" b="1" i="1">
                <a:solidFill>
                  <a:schemeClr val="dk1"/>
                </a:solidFill>
              </a:rPr>
              <a:t>Formateo</a:t>
            </a:r>
            <a:r>
              <a:rPr lang="es-419">
                <a:solidFill>
                  <a:schemeClr val="dk1"/>
                </a:solidFill>
              </a:rPr>
              <a:t> para presentar los datos para su representación al usuario final o un programa de aplicación.</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Seguridad</a:t>
            </a:r>
            <a:r>
              <a:rPr lang="es-419">
                <a:solidFill>
                  <a:schemeClr val="dk1"/>
                </a:solidFill>
              </a:rPr>
              <a:t> para proporcionar privacidad tanto en bases de datos locales como en remotas.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Respaldo y recuperación</a:t>
            </a:r>
            <a:r>
              <a:rPr lang="es-419">
                <a:solidFill>
                  <a:schemeClr val="dk1"/>
                </a:solidFill>
              </a:rPr>
              <a:t> para garantizar la disponibilidad y recuperabilidad de la base de datos en caso de una falla.</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Administración de base de datos</a:t>
            </a:r>
            <a:r>
              <a:rPr lang="es-419">
                <a:solidFill>
                  <a:schemeClr val="dk1"/>
                </a:solidFill>
              </a:rPr>
              <a:t> para el administrador de la base de datos.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Control de concurrencia</a:t>
            </a:r>
            <a:r>
              <a:rPr lang="es-419">
                <a:solidFill>
                  <a:schemeClr val="dk1"/>
                </a:solidFill>
              </a:rPr>
              <a:t> para manejar el acceso simultáneo a los datos y para garantizar su consistencia a través de los fragmentos en el DDBMS.</a:t>
            </a:r>
            <a:endParaRPr>
              <a:solidFill>
                <a:schemeClr val="dk1"/>
              </a:solidFill>
            </a:endParaRPr>
          </a:p>
          <a:p>
            <a:pPr marL="457200" lvl="0" indent="-342900" algn="l" rtl="0">
              <a:spcBef>
                <a:spcPts val="0"/>
              </a:spcBef>
              <a:spcAft>
                <a:spcPts val="0"/>
              </a:spcAft>
              <a:buClr>
                <a:schemeClr val="dk1"/>
              </a:buClr>
              <a:buSzPts val="1800"/>
              <a:buChar char="●"/>
            </a:pPr>
            <a:r>
              <a:rPr lang="es-419" b="1" i="1">
                <a:solidFill>
                  <a:schemeClr val="dk1"/>
                </a:solidFill>
              </a:rPr>
              <a:t>Manejo de transacciones</a:t>
            </a:r>
            <a:r>
              <a:rPr lang="es-419">
                <a:solidFill>
                  <a:schemeClr val="dk1"/>
                </a:solidFill>
              </a:rPr>
              <a:t> para garantizar que los datos pasen de un estado consistente a otro. Esta actividad incluye la sincronización de transacciones locales y remotas, lo mismo que transacciones a través de segmentos múltiples distribuidos.</a:t>
            </a:r>
            <a:endParaRPr b="1" i="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4"/>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55600" algn="l" rtl="0">
              <a:spcBef>
                <a:spcPts val="900"/>
              </a:spcBef>
              <a:spcAft>
                <a:spcPts val="0"/>
              </a:spcAft>
              <a:buClr>
                <a:schemeClr val="dk1"/>
              </a:buClr>
              <a:buSzPts val="2000"/>
              <a:buChar char="●"/>
            </a:pPr>
            <a:r>
              <a:rPr lang="es-419" sz="2000">
                <a:solidFill>
                  <a:schemeClr val="dk1"/>
                </a:solidFill>
              </a:rPr>
              <a:t>Un </a:t>
            </a:r>
            <a:r>
              <a:rPr lang="es-419" sz="2000" b="1">
                <a:solidFill>
                  <a:schemeClr val="dk1"/>
                </a:solidFill>
              </a:rPr>
              <a:t>DDBMS</a:t>
            </a:r>
            <a:r>
              <a:rPr lang="es-419" sz="2000">
                <a:solidFill>
                  <a:schemeClr val="dk1"/>
                </a:solidFill>
              </a:rPr>
              <a:t> debe realizar todas las funciones de un sistema de administración de base de datos centralizado, y además manejar todas las funciones necesarias impuestas por la distribución de los datos y procesamiento, además de realizar estas funciones adicionales </a:t>
            </a:r>
            <a:r>
              <a:rPr lang="es-419" sz="2000" i="1">
                <a:solidFill>
                  <a:schemeClr val="dk1"/>
                </a:solidFill>
              </a:rPr>
              <a:t>transparentemente</a:t>
            </a:r>
            <a:r>
              <a:rPr lang="es-419" sz="2000">
                <a:solidFill>
                  <a:schemeClr val="dk1"/>
                </a:solidFill>
              </a:rPr>
              <a:t> para el usuario.</a:t>
            </a:r>
            <a:endParaRPr sz="2000" b="1" i="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25"/>
          <p:cNvSpPr txBox="1">
            <a:spLocks noGrp="1"/>
          </p:cNvSpPr>
          <p:nvPr>
            <p:ph type="title"/>
          </p:nvPr>
        </p:nvSpPr>
        <p:spPr>
          <a:xfrm>
            <a:off x="311700" y="95575"/>
            <a:ext cx="8520600" cy="572700"/>
          </a:xfrm>
          <a:prstGeom prst="rect">
            <a:avLst/>
          </a:prstGeom>
        </p:spPr>
        <p:txBody>
          <a:bodyPr spcFirstLastPara="1" wrap="square" lIns="91425" tIns="91425" rIns="91425" bIns="91425" anchor="t" anchorCtr="0">
            <a:normAutofit/>
          </a:bodyPr>
          <a:lstStyle/>
          <a:p>
            <a:pPr marL="444500" lvl="0" indent="0" algn="l" rtl="0">
              <a:lnSpc>
                <a:spcPct val="7840"/>
              </a:lnSpc>
              <a:spcBef>
                <a:spcPts val="300"/>
              </a:spcBef>
              <a:spcAft>
                <a:spcPts val="300"/>
              </a:spcAft>
              <a:buNone/>
            </a:pPr>
            <a:r>
              <a:rPr lang="es-419" sz="2000" b="1">
                <a:latin typeface="Times New Roman"/>
                <a:ea typeface="Times New Roman"/>
                <a:cs typeface="Times New Roman"/>
                <a:sym typeface="Times New Roman"/>
              </a:rPr>
              <a:t>Evolución en la gestión de datos</a:t>
            </a:r>
            <a:endParaRPr sz="2000" b="1"/>
          </a:p>
        </p:txBody>
      </p:sp>
      <p:sp>
        <p:nvSpPr>
          <p:cNvPr id="125" name="Google Shape;125;p25"/>
          <p:cNvSpPr txBox="1">
            <a:spLocks noGrp="1"/>
          </p:cNvSpPr>
          <p:nvPr>
            <p:ph type="body" idx="1"/>
          </p:nvPr>
        </p:nvSpPr>
        <p:spPr>
          <a:xfrm>
            <a:off x="311700" y="850350"/>
            <a:ext cx="8520600" cy="44028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s-419" sz="1600" b="1">
                <a:solidFill>
                  <a:schemeClr val="dk1"/>
                </a:solidFill>
                <a:highlight>
                  <a:srgbClr val="FCFBFB"/>
                </a:highlight>
              </a:rPr>
              <a:t>Décadas de 1950 y 1960: Almacenamiento manual y secuencial</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Uso de archivos, tarjetas perforadas y cintas magnéticas para guardar datos en medios físicos.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Procesamiento por lotes: operaciones manuales y acceso secuencial, limitando la velocidad y flexibilidad.</a:t>
            </a:r>
            <a:endParaRPr sz="1600">
              <a:solidFill>
                <a:schemeClr val="dk1"/>
              </a:solidFill>
              <a:highlight>
                <a:srgbClr val="FCFBFB"/>
              </a:highlight>
            </a:endParaRPr>
          </a:p>
          <a:p>
            <a:pPr marL="457200" lvl="0" indent="0" algn="l" rtl="0">
              <a:spcBef>
                <a:spcPts val="900"/>
              </a:spcBef>
              <a:spcAft>
                <a:spcPts val="900"/>
              </a:spcAft>
              <a:buNone/>
            </a:pP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26"/>
          <p:cNvSpPr txBox="1">
            <a:spLocks noGrp="1"/>
          </p:cNvSpPr>
          <p:nvPr>
            <p:ph type="title"/>
          </p:nvPr>
        </p:nvSpPr>
        <p:spPr>
          <a:xfrm>
            <a:off x="311700" y="95575"/>
            <a:ext cx="8520600" cy="572700"/>
          </a:xfrm>
          <a:prstGeom prst="rect">
            <a:avLst/>
          </a:prstGeom>
        </p:spPr>
        <p:txBody>
          <a:bodyPr spcFirstLastPara="1" wrap="square" lIns="91425" tIns="91425" rIns="91425" bIns="91425" anchor="t" anchorCtr="0">
            <a:normAutofit/>
          </a:bodyPr>
          <a:lstStyle/>
          <a:p>
            <a:pPr marL="444500" lvl="0" indent="0" algn="l" rtl="0">
              <a:lnSpc>
                <a:spcPct val="7840"/>
              </a:lnSpc>
              <a:spcBef>
                <a:spcPts val="300"/>
              </a:spcBef>
              <a:spcAft>
                <a:spcPts val="300"/>
              </a:spcAft>
              <a:buNone/>
            </a:pPr>
            <a:r>
              <a:rPr lang="es-419" sz="2000" b="1">
                <a:latin typeface="Times New Roman"/>
                <a:ea typeface="Times New Roman"/>
                <a:cs typeface="Times New Roman"/>
                <a:sym typeface="Times New Roman"/>
              </a:rPr>
              <a:t>Evolución en la gestión de datos</a:t>
            </a:r>
            <a:endParaRPr sz="2000" b="1"/>
          </a:p>
        </p:txBody>
      </p:sp>
      <p:sp>
        <p:nvSpPr>
          <p:cNvPr id="131" name="Google Shape;131;p26"/>
          <p:cNvSpPr txBox="1">
            <a:spLocks noGrp="1"/>
          </p:cNvSpPr>
          <p:nvPr>
            <p:ph type="body" idx="1"/>
          </p:nvPr>
        </p:nvSpPr>
        <p:spPr>
          <a:xfrm>
            <a:off x="311700" y="850350"/>
            <a:ext cx="8520600" cy="44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600" b="1">
                <a:solidFill>
                  <a:schemeClr val="dk1"/>
                </a:solidFill>
                <a:highlight>
                  <a:srgbClr val="FCFBFB"/>
                </a:highlight>
              </a:rPr>
              <a:t>Década de 1970: Primeros SGBD y modelos primitivos</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Surgimiento de los Sistemas de Gestión de Bases de Datos (SGBD).</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Modelos jerárquicos y de red: permitían estructuras complejas, pero con acceso rígido y relaciones predefinidas.</a:t>
            </a:r>
            <a:endParaRPr sz="1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27"/>
          <p:cNvSpPr txBox="1">
            <a:spLocks noGrp="1"/>
          </p:cNvSpPr>
          <p:nvPr>
            <p:ph type="title"/>
          </p:nvPr>
        </p:nvSpPr>
        <p:spPr>
          <a:xfrm>
            <a:off x="311700" y="95575"/>
            <a:ext cx="8520600" cy="572700"/>
          </a:xfrm>
          <a:prstGeom prst="rect">
            <a:avLst/>
          </a:prstGeom>
        </p:spPr>
        <p:txBody>
          <a:bodyPr spcFirstLastPara="1" wrap="square" lIns="91425" tIns="91425" rIns="91425" bIns="91425" anchor="t" anchorCtr="0">
            <a:normAutofit/>
          </a:bodyPr>
          <a:lstStyle/>
          <a:p>
            <a:pPr marL="444500" lvl="0" indent="0" algn="l" rtl="0">
              <a:lnSpc>
                <a:spcPct val="7840"/>
              </a:lnSpc>
              <a:spcBef>
                <a:spcPts val="300"/>
              </a:spcBef>
              <a:spcAft>
                <a:spcPts val="300"/>
              </a:spcAft>
              <a:buNone/>
            </a:pPr>
            <a:r>
              <a:rPr lang="es-419" sz="2000" b="1">
                <a:latin typeface="Times New Roman"/>
                <a:ea typeface="Times New Roman"/>
                <a:cs typeface="Times New Roman"/>
                <a:sym typeface="Times New Roman"/>
              </a:rPr>
              <a:t>Evolución en la gestión de datos</a:t>
            </a:r>
            <a:endParaRPr sz="2000" b="1"/>
          </a:p>
        </p:txBody>
      </p:sp>
      <p:sp>
        <p:nvSpPr>
          <p:cNvPr id="137" name="Google Shape;137;p27"/>
          <p:cNvSpPr txBox="1">
            <a:spLocks noGrp="1"/>
          </p:cNvSpPr>
          <p:nvPr>
            <p:ph type="body" idx="1"/>
          </p:nvPr>
        </p:nvSpPr>
        <p:spPr>
          <a:xfrm>
            <a:off x="311700" y="850350"/>
            <a:ext cx="8520600" cy="44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600" b="1">
                <a:solidFill>
                  <a:schemeClr val="dk1"/>
                </a:solidFill>
                <a:highlight>
                  <a:srgbClr val="FCFBFB"/>
                </a:highlight>
              </a:rPr>
              <a:t>Década de 1980: La revolución relacional</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Bases de datos relacionales (RDBMS), introducidas por Edgar F. Codd, usando tablas estructuradas (filas y columnas).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Aparición de SQL, que estandarizó consultas y manipulación de datos, aumentando la flexibilidad.</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8"/>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600" b="1">
                <a:solidFill>
                  <a:schemeClr val="dk1"/>
                </a:solidFill>
                <a:highlight>
                  <a:srgbClr val="FCFBFB"/>
                </a:highlight>
              </a:rPr>
              <a:t>Décadas de 1990 y 2000: Inteligencia de negocios y el auge de la web</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Bases de datos orientadas a objetos para datos complejos como imágenes y videos.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Almacenes de datos (Data Warehouses) para centralizar información de múltiples fuentes y facilitar análisis.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Bases de datos para la web, impulsadas por la expansión de Internet y el acceso vía navegadores.</a:t>
            </a:r>
            <a:endParaRPr sz="1600" b="1">
              <a:solidFill>
                <a:schemeClr val="dk1"/>
              </a:solidFill>
              <a:highlight>
                <a:srgbClr val="FCFBFB"/>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600" b="1">
                <a:solidFill>
                  <a:schemeClr val="dk1"/>
                </a:solidFill>
                <a:highlight>
                  <a:srgbClr val="FCFBFB"/>
                </a:highlight>
              </a:rPr>
              <a:t>Década de 2010: El Big Data y la nube</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Explosión del Big Data debido a redes sociales, IoT y grandes volúmenes de datos no estructurados.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Sistemas distribuidos como Hadoop y Spark para procesamiento escalable.</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Bases de datos NoSQL para gestionar datos diversos y veloces.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Computación en la nube (AWS, Azure) ofreciendo soluciones escalables de almacenamiento y procesamiento.</a:t>
            </a:r>
            <a:endParaRPr sz="1600" b="1">
              <a:solidFill>
                <a:schemeClr val="dk1"/>
              </a:solidFill>
              <a:highlight>
                <a:srgbClr val="FCFBFB"/>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0"/>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600" b="1">
                <a:solidFill>
                  <a:schemeClr val="dk1"/>
                </a:solidFill>
                <a:highlight>
                  <a:srgbClr val="FCFBFB"/>
                </a:highlight>
              </a:rPr>
              <a:t>Década de 2020: IA, análisis en tiempo real y gobernanza</a:t>
            </a:r>
            <a:endParaRPr sz="1600" b="1">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Integración de IA y Machine Learning para análisis predictivo y decisiones automáticas.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Análisis en tiempo real para respuestas inmediatas a cambios del mercado.</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Arquitectura de malla de datos (Data Mesh): enfoque descentralizado en gestión de datos.</a:t>
            </a:r>
            <a:endParaRPr sz="1600">
              <a:solidFill>
                <a:schemeClr val="dk1"/>
              </a:solidFill>
              <a:highlight>
                <a:srgbClr val="FCFBFB"/>
              </a:highlight>
            </a:endParaRPr>
          </a:p>
          <a:p>
            <a:pPr marL="457200" lvl="0" indent="-330200" algn="l" rtl="0">
              <a:spcBef>
                <a:spcPts val="0"/>
              </a:spcBef>
              <a:spcAft>
                <a:spcPts val="0"/>
              </a:spcAft>
              <a:buClr>
                <a:schemeClr val="dk1"/>
              </a:buClr>
              <a:buSzPts val="1600"/>
              <a:buChar char="●"/>
            </a:pPr>
            <a:r>
              <a:rPr lang="es-419" sz="1600">
                <a:solidFill>
                  <a:schemeClr val="dk1"/>
                </a:solidFill>
                <a:highlight>
                  <a:srgbClr val="FCFBFB"/>
                </a:highlight>
              </a:rPr>
              <a:t>Énfasis en gobernanza, calidad, seguridad y cumplimiento normativo en ecosistemas de datos complejos.</a:t>
            </a:r>
            <a:endParaRPr sz="1600" b="1">
              <a:solidFill>
                <a:schemeClr val="dk1"/>
              </a:solidFill>
              <a:highlight>
                <a:srgbClr val="FCFBFB"/>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1"/>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55600" algn="l" rtl="0">
              <a:spcBef>
                <a:spcPts val="900"/>
              </a:spcBef>
              <a:spcAft>
                <a:spcPts val="0"/>
              </a:spcAft>
              <a:buClr>
                <a:schemeClr val="dk1"/>
              </a:buClr>
              <a:buSzPts val="2000"/>
              <a:buChar char="●"/>
            </a:pPr>
            <a:r>
              <a:rPr lang="es-419" sz="2000">
                <a:solidFill>
                  <a:schemeClr val="dk1"/>
                </a:solidFill>
              </a:rPr>
              <a:t>Los sistemas de base de datos actuales se clasifican con base en cómo la distribución de los procesos y datos son soportados; por ejemplo, un </a:t>
            </a:r>
            <a:r>
              <a:rPr lang="es-419" sz="2000" b="1">
                <a:solidFill>
                  <a:schemeClr val="dk1"/>
                </a:solidFill>
              </a:rPr>
              <a:t>Sistema de Administración de Bases de Datos</a:t>
            </a:r>
            <a:r>
              <a:rPr lang="es-419" sz="2000">
                <a:solidFill>
                  <a:schemeClr val="dk1"/>
                </a:solidFill>
              </a:rPr>
              <a:t> (</a:t>
            </a:r>
            <a:r>
              <a:rPr lang="es-419" sz="2000" b="1">
                <a:solidFill>
                  <a:schemeClr val="dk1"/>
                </a:solidFill>
              </a:rPr>
              <a:t>DBMS</a:t>
            </a:r>
            <a:r>
              <a:rPr lang="es-419" sz="2000">
                <a:solidFill>
                  <a:schemeClr val="dk1"/>
                </a:solidFill>
              </a:rPr>
              <a:t>) puede guardar datos en un solo sitio (</a:t>
            </a:r>
            <a:r>
              <a:rPr lang="es-419" sz="2000" b="1">
                <a:solidFill>
                  <a:schemeClr val="dk1"/>
                </a:solidFill>
              </a:rPr>
              <a:t>DB centralizada</a:t>
            </a:r>
            <a:r>
              <a:rPr lang="es-419" sz="2000">
                <a:solidFill>
                  <a:schemeClr val="dk1"/>
                </a:solidFill>
              </a:rPr>
              <a:t>) o en múltiples sitios (</a:t>
            </a:r>
            <a:r>
              <a:rPr lang="es-419" sz="2000" b="1">
                <a:solidFill>
                  <a:schemeClr val="dk1"/>
                </a:solidFill>
              </a:rPr>
              <a:t>DB distribuida</a:t>
            </a:r>
            <a:r>
              <a:rPr lang="es-419" sz="2000">
                <a:solidFill>
                  <a:schemeClr val="dk1"/>
                </a:solidFill>
              </a:rPr>
              <a:t>) y puede soportar procesamiento de datos en un solo sitio o en varios.</a:t>
            </a:r>
            <a:endParaRPr sz="2000" b="1" i="1">
              <a:solidFill>
                <a:schemeClr val="dk1"/>
              </a:solidFill>
            </a:endParaRPr>
          </a:p>
        </p:txBody>
      </p:sp>
      <p:pic>
        <p:nvPicPr>
          <p:cNvPr id="159" name="Google Shape;159;p31"/>
          <p:cNvPicPr preferRelativeResize="0"/>
          <p:nvPr/>
        </p:nvPicPr>
        <p:blipFill>
          <a:blip r:embed="rId3">
            <a:alphaModFix/>
          </a:blip>
          <a:stretch>
            <a:fillRect/>
          </a:stretch>
        </p:blipFill>
        <p:spPr>
          <a:xfrm>
            <a:off x="1628591" y="2552850"/>
            <a:ext cx="6066325" cy="2424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2"/>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r>
              <a:rPr lang="es-419" b="1">
                <a:solidFill>
                  <a:schemeClr val="dk1"/>
                </a:solidFill>
              </a:rPr>
              <a:t>Los sistemas de administración de base de datos distribuida (DDBMS) ofrecen varias ventajas en relación con los sistemas tradicionales</a:t>
            </a:r>
            <a:endParaRPr b="1">
              <a:solidFill>
                <a:schemeClr val="dk1"/>
              </a:solidFill>
            </a:endParaRPr>
          </a:p>
          <a:p>
            <a:pPr marL="457200" lvl="0" indent="-336550" algn="l" rtl="0">
              <a:spcBef>
                <a:spcPts val="900"/>
              </a:spcBef>
              <a:spcAft>
                <a:spcPts val="0"/>
              </a:spcAft>
              <a:buClr>
                <a:schemeClr val="dk1"/>
              </a:buClr>
              <a:buSzPts val="1700"/>
              <a:buChar char="●"/>
            </a:pPr>
            <a:r>
              <a:rPr lang="es-419" sz="1700" b="1" i="1">
                <a:solidFill>
                  <a:schemeClr val="dk1"/>
                </a:solidFill>
              </a:rPr>
              <a:t>Los datos se localizan cerca del sitio de "mayor demanda"</a:t>
            </a:r>
            <a:r>
              <a:rPr lang="es-419" sz="1700">
                <a:solidFill>
                  <a:schemeClr val="dk1"/>
                </a:solidFill>
              </a:rPr>
              <a:t>. Los datos en un sistema de base de datos distribuida se dispersan de acuerdo con los requerimientos del negocio.</a:t>
            </a:r>
            <a:endParaRPr sz="1700">
              <a:solidFill>
                <a:schemeClr val="dk1"/>
              </a:solidFill>
            </a:endParaRPr>
          </a:p>
          <a:p>
            <a:pPr marL="457200" lvl="0" indent="-336550" algn="l" rtl="0">
              <a:spcBef>
                <a:spcPts val="0"/>
              </a:spcBef>
              <a:spcAft>
                <a:spcPts val="0"/>
              </a:spcAft>
              <a:buClr>
                <a:schemeClr val="dk1"/>
              </a:buClr>
              <a:buSzPts val="1700"/>
              <a:buChar char="●"/>
            </a:pPr>
            <a:r>
              <a:rPr lang="es-419" sz="1700" b="1" i="1">
                <a:solidFill>
                  <a:schemeClr val="dk1"/>
                </a:solidFill>
              </a:rPr>
              <a:t>Acceso más rápido a los datos</a:t>
            </a:r>
            <a:r>
              <a:rPr lang="es-419" sz="1700">
                <a:solidFill>
                  <a:schemeClr val="dk1"/>
                </a:solidFill>
              </a:rPr>
              <a:t>. Los usuarios a menudo trabajan sólo con un subconjunto de los datos de la compañía. Si tales subconjuntos de datos se guardan y acceden localmente, el sistema de base de datos permitirá un acceso a los datos más rápido que con datos centralizados remotamente localizados.</a:t>
            </a:r>
            <a:endParaRPr sz="1700">
              <a:solidFill>
                <a:schemeClr val="dk1"/>
              </a:solidFill>
            </a:endParaRPr>
          </a:p>
          <a:p>
            <a:pPr marL="457200" lvl="0" indent="-336550" algn="l" rtl="0">
              <a:spcBef>
                <a:spcPts val="0"/>
              </a:spcBef>
              <a:spcAft>
                <a:spcPts val="0"/>
              </a:spcAft>
              <a:buClr>
                <a:schemeClr val="dk1"/>
              </a:buClr>
              <a:buSzPts val="1700"/>
              <a:buChar char="●"/>
            </a:pPr>
            <a:r>
              <a:rPr lang="es-419" sz="1700" b="1" i="1">
                <a:solidFill>
                  <a:schemeClr val="dk1"/>
                </a:solidFill>
              </a:rPr>
              <a:t>Procesamiento más rápido de los datos</a:t>
            </a:r>
            <a:r>
              <a:rPr lang="es-419" sz="1700">
                <a:solidFill>
                  <a:schemeClr val="dk1"/>
                </a:solidFill>
              </a:rPr>
              <a:t>. Un sistema de base de datos distribuida hace posible procesar datos en varios sitios, con lo que se reparte la carga de trabajo del sistema.</a:t>
            </a:r>
            <a:endParaRPr sz="1700">
              <a:solidFill>
                <a:schemeClr val="dk1"/>
              </a:solidFill>
            </a:endParaRPr>
          </a:p>
          <a:p>
            <a:pPr marL="457200" lvl="0" indent="-336550" algn="l" rtl="0">
              <a:spcBef>
                <a:spcPts val="0"/>
              </a:spcBef>
              <a:spcAft>
                <a:spcPts val="0"/>
              </a:spcAft>
              <a:buClr>
                <a:schemeClr val="dk1"/>
              </a:buClr>
              <a:buSzPts val="1700"/>
              <a:buChar char="●"/>
            </a:pPr>
            <a:r>
              <a:rPr lang="es-419" sz="1700" b="1" i="1">
                <a:solidFill>
                  <a:schemeClr val="dk1"/>
                </a:solidFill>
              </a:rPr>
              <a:t>Facilitación del crecimiento</a:t>
            </a:r>
            <a:r>
              <a:rPr lang="es-419" sz="1700">
                <a:solidFill>
                  <a:schemeClr val="dk1"/>
                </a:solidFill>
              </a:rPr>
              <a:t>. Pueden agregarse sitios nuevos a la red sin afectar las operaciones de otros sitios. Tal flexibilidad permite que la compañía se expanda con relativa facilidad y rapidez.</a:t>
            </a:r>
            <a:endParaRPr sz="17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3"/>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30200" algn="l" rtl="0">
              <a:spcBef>
                <a:spcPts val="900"/>
              </a:spcBef>
              <a:spcAft>
                <a:spcPts val="0"/>
              </a:spcAft>
              <a:buClr>
                <a:schemeClr val="dk1"/>
              </a:buClr>
              <a:buSzPts val="1600"/>
              <a:buChar char="●"/>
            </a:pPr>
            <a:r>
              <a:rPr lang="es-419" sz="1600" b="1" i="1">
                <a:solidFill>
                  <a:schemeClr val="dk1"/>
                </a:solidFill>
              </a:rPr>
              <a:t>Comunicaciones mejoradas</a:t>
            </a:r>
            <a:r>
              <a:rPr lang="es-419" sz="1600">
                <a:solidFill>
                  <a:schemeClr val="dk1"/>
                </a:solidFill>
              </a:rPr>
              <a:t>. Como los sitios locales son más pequeños y están más cerca de los clientes, promueven una mejor comunicación entre departamentos y entre los clientes y el personal de la compañia. La mejor y más rápida comunicación, con frecuencia ayuda a mejorar los sistemas de información; por ejemplo, una operación de cuentas por pagar local utiliza los datos del Departamento de Ventas directamente, sin tener que depender de los reportes tardados de la oficina central.</a:t>
            </a:r>
            <a:endParaRPr sz="1600">
              <a:solidFill>
                <a:schemeClr val="dk1"/>
              </a:solidFill>
            </a:endParaRPr>
          </a:p>
          <a:p>
            <a:pPr marL="457200" lvl="0" indent="-330200" algn="l" rtl="0">
              <a:spcBef>
                <a:spcPts val="0"/>
              </a:spcBef>
              <a:spcAft>
                <a:spcPts val="0"/>
              </a:spcAft>
              <a:buClr>
                <a:schemeClr val="dk1"/>
              </a:buClr>
              <a:buSzPts val="1600"/>
              <a:buChar char="●"/>
            </a:pPr>
            <a:r>
              <a:rPr lang="es-419" sz="1600" b="1" i="1">
                <a:solidFill>
                  <a:schemeClr val="dk1"/>
                </a:solidFill>
              </a:rPr>
              <a:t>Costos de operación reducidos</a:t>
            </a:r>
            <a:r>
              <a:rPr lang="es-419" sz="1600">
                <a:solidFill>
                  <a:schemeClr val="dk1"/>
                </a:solidFill>
              </a:rPr>
              <a:t>. Es mucho más barato agregar estaciones a una red que actualizar un sistema </a:t>
            </a:r>
            <a:r>
              <a:rPr lang="es-419" sz="1600" i="1">
                <a:solidFill>
                  <a:schemeClr val="dk1"/>
                </a:solidFill>
              </a:rPr>
              <a:t>mainframe</a:t>
            </a:r>
            <a:r>
              <a:rPr lang="es-419" sz="1600">
                <a:solidFill>
                  <a:schemeClr val="dk1"/>
                </a:solidFill>
              </a:rPr>
              <a:t>. El costo de las líneas de comunicación de datos dedicadas y el software de </a:t>
            </a:r>
            <a:r>
              <a:rPr lang="es-419" sz="1600" i="1">
                <a:solidFill>
                  <a:schemeClr val="dk1"/>
                </a:solidFill>
              </a:rPr>
              <a:t>mainframe</a:t>
            </a:r>
            <a:r>
              <a:rPr lang="es-419" sz="1600">
                <a:solidFill>
                  <a:schemeClr val="dk1"/>
                </a:solidFill>
              </a:rPr>
              <a:t> se reducen proporcionalmente. El trabajo de desarrollo se realiza con más rapidez y menor costo con computadoras personales baratas que con </a:t>
            </a:r>
            <a:r>
              <a:rPr lang="es-419" sz="1600" i="1">
                <a:solidFill>
                  <a:schemeClr val="dk1"/>
                </a:solidFill>
              </a:rPr>
              <a:t>mainframes</a:t>
            </a:r>
            <a:r>
              <a:rPr lang="es-419" sz="1600">
                <a:solidFill>
                  <a:schemeClr val="dk1"/>
                </a:solidFill>
              </a:rPr>
              <a:t>. Las </a:t>
            </a:r>
            <a:r>
              <a:rPr lang="es-419" sz="1600" i="1">
                <a:solidFill>
                  <a:schemeClr val="dk1"/>
                </a:solidFill>
              </a:rPr>
              <a:t>mainframes</a:t>
            </a:r>
            <a:r>
              <a:rPr lang="es-419" sz="1600">
                <a:solidFill>
                  <a:schemeClr val="dk1"/>
                </a:solidFill>
              </a:rPr>
              <a:t> no están condenadas a desaparecer de la escena de la base de datos, su poder no puede ser desconectado; no obstante, la existencia de redes de computadoras personales hace posible distribuir las cargas de trabajo con más prudencia y reservar las costosas </a:t>
            </a:r>
            <a:r>
              <a:rPr lang="es-419" sz="1600" i="1">
                <a:solidFill>
                  <a:schemeClr val="dk1"/>
                </a:solidFill>
              </a:rPr>
              <a:t>mainframes</a:t>
            </a:r>
            <a:r>
              <a:rPr lang="es-419" sz="1600">
                <a:solidFill>
                  <a:schemeClr val="dk1"/>
                </a:solidFill>
              </a:rPr>
              <a:t> para tareas de procesamiento más especializadas.</a:t>
            </a:r>
            <a:endParaRPr sz="1600">
              <a:solidFill>
                <a:schemeClr val="dk1"/>
              </a:solidFill>
            </a:endParaRPr>
          </a:p>
          <a:p>
            <a:pPr marL="0" lvl="0" indent="0" algn="l" rtl="0">
              <a:spcBef>
                <a:spcPts val="900"/>
              </a:spcBef>
              <a:spcAft>
                <a:spcPts val="900"/>
              </a:spcAft>
              <a:buNone/>
            </a:pPr>
            <a:endParaRPr sz="17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4"/>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36550" algn="l" rtl="0">
              <a:spcBef>
                <a:spcPts val="900"/>
              </a:spcBef>
              <a:spcAft>
                <a:spcPts val="0"/>
              </a:spcAft>
              <a:buClr>
                <a:schemeClr val="dk1"/>
              </a:buClr>
              <a:buSzPts val="1700"/>
              <a:buChar char="●"/>
            </a:pPr>
            <a:r>
              <a:rPr lang="es-419" sz="1700" b="1" i="1">
                <a:solidFill>
                  <a:schemeClr val="dk1"/>
                </a:solidFill>
              </a:rPr>
              <a:t>Interface de usuario fácil de usar</a:t>
            </a:r>
            <a:r>
              <a:rPr lang="es-419" sz="1700">
                <a:solidFill>
                  <a:schemeClr val="dk1"/>
                </a:solidFill>
              </a:rPr>
              <a:t>. Las computadoras personales y las estaciones de trabajo en general vienen equipadas con una interface de usuario gráfica (GUI, por sus siglas en inglés), la cual simplifica el uso y el entrenamiento de los usuarios finales.</a:t>
            </a:r>
            <a:endParaRPr sz="1700">
              <a:solidFill>
                <a:schemeClr val="dk1"/>
              </a:solidFill>
            </a:endParaRPr>
          </a:p>
          <a:p>
            <a:pPr marL="457200" lvl="0" indent="-336550" algn="l" rtl="0">
              <a:spcBef>
                <a:spcPts val="0"/>
              </a:spcBef>
              <a:spcAft>
                <a:spcPts val="0"/>
              </a:spcAft>
              <a:buClr>
                <a:schemeClr val="dk1"/>
              </a:buClr>
              <a:buSzPts val="1700"/>
              <a:buChar char="●"/>
            </a:pPr>
            <a:r>
              <a:rPr lang="es-419" sz="1700" b="1" i="1">
                <a:solidFill>
                  <a:schemeClr val="dk1"/>
                </a:solidFill>
              </a:rPr>
              <a:t>Menos peligro de falla en un solo punto</a:t>
            </a:r>
            <a:r>
              <a:rPr lang="es-419" sz="1700">
                <a:solidFill>
                  <a:schemeClr val="dk1"/>
                </a:solidFill>
              </a:rPr>
              <a:t>. En un sistema centralizado, la falla de una </a:t>
            </a:r>
            <a:r>
              <a:rPr lang="es-419" sz="1700" i="1">
                <a:solidFill>
                  <a:schemeClr val="dk1"/>
                </a:solidFill>
              </a:rPr>
              <a:t>mainframe</a:t>
            </a:r>
            <a:r>
              <a:rPr lang="es-419" sz="1700">
                <a:solidFill>
                  <a:schemeClr val="dk1"/>
                </a:solidFill>
              </a:rPr>
              <a:t> acaba con todas las operaciones del sistema; por el contrario, un sistema distribuido es capaz de desplazar las operaciones cuando falla una de las computadoras. La carga de trabajo del sistema es absorbida por otras estaciones de trabajo porque una de las características del sistema distribuido es que los datos existen en múltiples sitios.</a:t>
            </a:r>
            <a:endParaRPr sz="1700">
              <a:solidFill>
                <a:schemeClr val="dk1"/>
              </a:solidFill>
            </a:endParaRPr>
          </a:p>
          <a:p>
            <a:pPr marL="457200" lvl="0" indent="-336550" algn="l" rtl="0">
              <a:spcBef>
                <a:spcPts val="0"/>
              </a:spcBef>
              <a:spcAft>
                <a:spcPts val="0"/>
              </a:spcAft>
              <a:buClr>
                <a:schemeClr val="dk1"/>
              </a:buClr>
              <a:buSzPts val="1700"/>
              <a:buChar char="●"/>
            </a:pPr>
            <a:r>
              <a:rPr lang="es-419" sz="1700" b="1" i="1">
                <a:solidFill>
                  <a:schemeClr val="dk1"/>
                </a:solidFill>
              </a:rPr>
              <a:t>Independencia del procesador</a:t>
            </a:r>
            <a:r>
              <a:rPr lang="es-419" sz="1700">
                <a:solidFill>
                  <a:schemeClr val="dk1"/>
                </a:solidFill>
              </a:rPr>
              <a:t>. El usuario final es capaz de acceder cualquier copia disponible de los datos y la solicitud de un usuario es procesada por cualquier procesador disponible en la ubicación de los datos. En otras palabras, las solicitudes no dependen de un procesador específico, cualquier procesador disponible puede manejar dicha solicitud.</a:t>
            </a:r>
            <a:endParaRPr sz="1700">
              <a:solidFill>
                <a:schemeClr val="dk1"/>
              </a:solidFill>
            </a:endParaRPr>
          </a:p>
          <a:p>
            <a:pPr marL="457200" lvl="0" indent="0" algn="l" rtl="0">
              <a:spcBef>
                <a:spcPts val="900"/>
              </a:spcBef>
              <a:spcAft>
                <a:spcPts val="900"/>
              </a:spcAft>
              <a:buNone/>
            </a:pPr>
            <a:endParaRPr sz="17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5"/>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r>
              <a:rPr lang="es-419" b="1">
                <a:solidFill>
                  <a:schemeClr val="dk1"/>
                </a:solidFill>
              </a:rPr>
              <a:t>Toda base de datos distribuida debe estar diseñada con base en los 12 objetivos planteados por C. J. Date (Date, 2001) en 1987.</a:t>
            </a:r>
            <a:endParaRPr b="1">
              <a:solidFill>
                <a:schemeClr val="dk1"/>
              </a:solidFill>
            </a:endParaRPr>
          </a:p>
          <a:p>
            <a:pPr marL="457200" lvl="0" indent="0" algn="just" rtl="0">
              <a:spcBef>
                <a:spcPts val="900"/>
              </a:spcBef>
              <a:spcAft>
                <a:spcPts val="900"/>
              </a:spcAft>
              <a:buNone/>
            </a:pPr>
            <a:r>
              <a:rPr lang="es-419">
                <a:solidFill>
                  <a:schemeClr val="dk1"/>
                </a:solidFill>
              </a:rPr>
              <a:t>Los objetivos, reglas o mandamientos de Date describen una base de datos totalmente distribuida y, aunque ningún sistema de administración de base de datos distribuida (DDBMS) actual se adapta a todos ellos, las reglas sí constituyen un útil objetivo de base de datos distribuida. Los 12 objetivos son (Date, 2001):</a:t>
            </a:r>
            <a:endParaRPr sz="17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6"/>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342900" algn="l" rtl="0">
              <a:spcBef>
                <a:spcPts val="900"/>
              </a:spcBef>
              <a:spcAft>
                <a:spcPts val="0"/>
              </a:spcAft>
              <a:buClr>
                <a:schemeClr val="dk1"/>
              </a:buClr>
              <a:buSzPts val="1800"/>
              <a:buAutoNum type="arabicPeriod"/>
            </a:pPr>
            <a:r>
              <a:rPr lang="es-419" b="1" i="1">
                <a:solidFill>
                  <a:schemeClr val="dk1"/>
                </a:solidFill>
              </a:rPr>
              <a:t>Independencia del sitio local</a:t>
            </a:r>
            <a:r>
              <a:rPr lang="es-419">
                <a:solidFill>
                  <a:schemeClr val="dk1"/>
                </a:solidFill>
              </a:rPr>
              <a:t>. Cada sitio local puede actuar como un sistema de administración de base de datos (DBMS) independiente, autónomo y centralizado. Cada sitio es responsable de la seguridad, el control de concurrencia, el respaldo y la recuperación.</a:t>
            </a:r>
            <a:endParaRPr>
              <a:solidFill>
                <a:schemeClr val="dk1"/>
              </a:solidFill>
            </a:endParaRPr>
          </a:p>
          <a:p>
            <a:pPr marL="457200" lvl="0" indent="-342900" algn="l" rtl="0">
              <a:spcBef>
                <a:spcPts val="0"/>
              </a:spcBef>
              <a:spcAft>
                <a:spcPts val="0"/>
              </a:spcAft>
              <a:buClr>
                <a:schemeClr val="dk1"/>
              </a:buClr>
              <a:buSzPts val="1800"/>
              <a:buAutoNum type="arabicPeriod"/>
            </a:pPr>
            <a:r>
              <a:rPr lang="es-419" b="1" i="1">
                <a:solidFill>
                  <a:schemeClr val="dk1"/>
                </a:solidFill>
              </a:rPr>
              <a:t>Independencia del sitio central</a:t>
            </a:r>
            <a:r>
              <a:rPr lang="es-419">
                <a:solidFill>
                  <a:schemeClr val="dk1"/>
                </a:solidFill>
              </a:rPr>
              <a:t>. Ningún sitio en la red depende de un sitio central o de cualquier otro sitio. Todos los sitios tienen las mismas capacidades.</a:t>
            </a:r>
            <a:endParaRPr>
              <a:solidFill>
                <a:schemeClr val="dk1"/>
              </a:solidFill>
            </a:endParaRPr>
          </a:p>
          <a:p>
            <a:pPr marL="457200" lvl="0" indent="-342900" algn="l" rtl="0">
              <a:spcBef>
                <a:spcPts val="0"/>
              </a:spcBef>
              <a:spcAft>
                <a:spcPts val="0"/>
              </a:spcAft>
              <a:buClr>
                <a:schemeClr val="dk1"/>
              </a:buClr>
              <a:buSzPts val="1800"/>
              <a:buAutoNum type="arabicPeriod"/>
            </a:pPr>
            <a:r>
              <a:rPr lang="es-419" b="1" i="1">
                <a:solidFill>
                  <a:schemeClr val="dk1"/>
                </a:solidFill>
              </a:rPr>
              <a:t>Independencia de fallas</a:t>
            </a:r>
            <a:r>
              <a:rPr lang="es-419">
                <a:solidFill>
                  <a:schemeClr val="dk1"/>
                </a:solidFill>
              </a:rPr>
              <a:t>. El sistema no se ve afectado por fallas de nodos. El sistema continúa operando, incluso en el caso de una falla de nodo o de una expansión de la red.</a:t>
            </a:r>
            <a:endParaRPr>
              <a:solidFill>
                <a:schemeClr val="dk1"/>
              </a:solidFill>
            </a:endParaRPr>
          </a:p>
          <a:p>
            <a:pPr marL="457200" lvl="0" indent="-342900" algn="l" rtl="0">
              <a:spcBef>
                <a:spcPts val="0"/>
              </a:spcBef>
              <a:spcAft>
                <a:spcPts val="0"/>
              </a:spcAft>
              <a:buClr>
                <a:schemeClr val="dk1"/>
              </a:buClr>
              <a:buSzPts val="1800"/>
              <a:buAutoNum type="arabicPeriod"/>
            </a:pPr>
            <a:r>
              <a:rPr lang="es-419" b="1" i="1">
                <a:solidFill>
                  <a:schemeClr val="dk1"/>
                </a:solidFill>
              </a:rPr>
              <a:t>Transparencia de ubicación</a:t>
            </a:r>
            <a:r>
              <a:rPr lang="es-419">
                <a:solidFill>
                  <a:schemeClr val="dk1"/>
                </a:solidFill>
              </a:rPr>
              <a:t>. El usuario ve sólo una base de datos lógica. La fragmentación de los datos es transparente para el usuario. El usuario no necesita saber la ubicación de los datos para recuperarlos.</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7"/>
          <p:cNvSpPr txBox="1">
            <a:spLocks noGrp="1"/>
          </p:cNvSpPr>
          <p:nvPr>
            <p:ph type="body" idx="1"/>
          </p:nvPr>
        </p:nvSpPr>
        <p:spPr>
          <a:xfrm>
            <a:off x="311700" y="166000"/>
            <a:ext cx="8520600" cy="47118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r>
              <a:rPr lang="es-419" sz="1700" b="1" i="1">
                <a:solidFill>
                  <a:schemeClr val="dk1"/>
                </a:solidFill>
              </a:rPr>
              <a:t>5.- Transparencia de fragmentación</a:t>
            </a:r>
            <a:r>
              <a:rPr lang="es-419" sz="1700">
                <a:solidFill>
                  <a:schemeClr val="dk1"/>
                </a:solidFill>
              </a:rPr>
              <a:t>. El usuario ve sólo una base de datos lógica. La fragmentación de los datos es transparente para el usuario. El usuario no necesita conocer el nombre de los fragmentos de la base de datos para recuperarlos.</a:t>
            </a:r>
            <a:endParaRPr sz="1700">
              <a:solidFill>
                <a:schemeClr val="dk1"/>
              </a:solidFill>
            </a:endParaRPr>
          </a:p>
          <a:p>
            <a:pPr marL="457200" lvl="0" indent="0" algn="l" rtl="0">
              <a:spcBef>
                <a:spcPts val="900"/>
              </a:spcBef>
              <a:spcAft>
                <a:spcPts val="0"/>
              </a:spcAft>
              <a:buNone/>
            </a:pPr>
            <a:r>
              <a:rPr lang="es-419" sz="1700" b="1" i="1">
                <a:solidFill>
                  <a:schemeClr val="dk1"/>
                </a:solidFill>
              </a:rPr>
              <a:t>6.- Transparencia de replicación</a:t>
            </a:r>
            <a:r>
              <a:rPr lang="es-419" sz="1700">
                <a:solidFill>
                  <a:schemeClr val="dk1"/>
                </a:solidFill>
              </a:rPr>
              <a:t>. El usuario ve sólo una base de datos lógica. El DDBMS selecciona de una manera transparente el fragmento que va a acceder; además, maneja todos los fragmentos transparentemente ante el usuario.</a:t>
            </a:r>
            <a:endParaRPr sz="1700">
              <a:solidFill>
                <a:schemeClr val="dk1"/>
              </a:solidFill>
            </a:endParaRPr>
          </a:p>
          <a:p>
            <a:pPr marL="457200" lvl="0" indent="0" algn="l" rtl="0">
              <a:spcBef>
                <a:spcPts val="900"/>
              </a:spcBef>
              <a:spcAft>
                <a:spcPts val="0"/>
              </a:spcAft>
              <a:buNone/>
            </a:pPr>
            <a:r>
              <a:rPr lang="es-419" sz="1700" b="1" i="1">
                <a:solidFill>
                  <a:schemeClr val="dk1"/>
                </a:solidFill>
              </a:rPr>
              <a:t>7.- Procesamiento de consulta distribuida</a:t>
            </a:r>
            <a:r>
              <a:rPr lang="es-419" sz="1700">
                <a:solidFill>
                  <a:schemeClr val="dk1"/>
                </a:solidFill>
              </a:rPr>
              <a:t>. Una consulta distribuida puede ser ejecutada en varios sitios diferentes de procesamiento de datos. La optimación de las consultas es realizada transparentemente por el usuario.</a:t>
            </a:r>
            <a:endParaRPr sz="1700">
              <a:solidFill>
                <a:schemeClr val="dk1"/>
              </a:solidFill>
            </a:endParaRPr>
          </a:p>
          <a:p>
            <a:pPr marL="457200" lvl="0" indent="0" algn="l" rtl="0">
              <a:spcBef>
                <a:spcPts val="900"/>
              </a:spcBef>
              <a:spcAft>
                <a:spcPts val="0"/>
              </a:spcAft>
              <a:buNone/>
            </a:pPr>
            <a:r>
              <a:rPr lang="es-419" sz="1700" b="1" i="1">
                <a:solidFill>
                  <a:schemeClr val="dk1"/>
                </a:solidFill>
              </a:rPr>
              <a:t>8.-  Procesamiento de transacciones distribuidas</a:t>
            </a:r>
            <a:r>
              <a:rPr lang="es-419" sz="1700">
                <a:solidFill>
                  <a:schemeClr val="dk1"/>
                </a:solidFill>
              </a:rPr>
              <a:t>. Una transacción puede actualizar datos en varios sitios diferentes. La transacción es transparente ejecutada en varios sitios diferentes de procesamiento de datos.</a:t>
            </a:r>
            <a:endParaRPr sz="1700">
              <a:solidFill>
                <a:schemeClr val="dk1"/>
              </a:solidFill>
            </a:endParaRPr>
          </a:p>
          <a:p>
            <a:pPr marL="457200" lvl="0" indent="0" algn="l" rtl="0">
              <a:spcBef>
                <a:spcPts val="900"/>
              </a:spcBef>
              <a:spcAft>
                <a:spcPts val="900"/>
              </a:spcAft>
              <a:buNone/>
            </a:pPr>
            <a:endParaRPr sz="900" b="1" i="1">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8"/>
          <p:cNvSpPr txBox="1">
            <a:spLocks noGrp="1"/>
          </p:cNvSpPr>
          <p:nvPr>
            <p:ph type="body" idx="1"/>
          </p:nvPr>
        </p:nvSpPr>
        <p:spPr>
          <a:xfrm>
            <a:off x="311700" y="166000"/>
            <a:ext cx="8520600" cy="44028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endParaRPr>
              <a:solidFill>
                <a:schemeClr val="dk1"/>
              </a:solidFill>
            </a:endParaRPr>
          </a:p>
          <a:p>
            <a:pPr marL="457200" lvl="0" indent="0" algn="l" rtl="0">
              <a:spcBef>
                <a:spcPts val="900"/>
              </a:spcBef>
              <a:spcAft>
                <a:spcPts val="0"/>
              </a:spcAft>
              <a:buNone/>
            </a:pPr>
            <a:r>
              <a:rPr lang="es-419" b="1" i="1">
                <a:solidFill>
                  <a:schemeClr val="dk1"/>
                </a:solidFill>
              </a:rPr>
              <a:t>9.- Independencia del hardware</a:t>
            </a:r>
            <a:r>
              <a:rPr lang="es-419">
                <a:solidFill>
                  <a:schemeClr val="dk1"/>
                </a:solidFill>
              </a:rPr>
              <a:t>. El sistema debe funcionar en cualquier plataforma de hardware.</a:t>
            </a:r>
            <a:endParaRPr>
              <a:solidFill>
                <a:schemeClr val="dk1"/>
              </a:solidFill>
            </a:endParaRPr>
          </a:p>
          <a:p>
            <a:pPr marL="457200" lvl="0" indent="0" algn="l" rtl="0">
              <a:spcBef>
                <a:spcPts val="900"/>
              </a:spcBef>
              <a:spcAft>
                <a:spcPts val="0"/>
              </a:spcAft>
              <a:buNone/>
            </a:pPr>
            <a:r>
              <a:rPr lang="es-419" b="1" i="1">
                <a:solidFill>
                  <a:schemeClr val="dk1"/>
                </a:solidFill>
              </a:rPr>
              <a:t>10.- Independencia del sistema operativo</a:t>
            </a:r>
            <a:r>
              <a:rPr lang="es-419">
                <a:solidFill>
                  <a:schemeClr val="dk1"/>
                </a:solidFill>
              </a:rPr>
              <a:t>. El sistema debe funcionar con cualquier plataforma de software de sistema operativo.</a:t>
            </a:r>
            <a:endParaRPr>
              <a:solidFill>
                <a:schemeClr val="dk1"/>
              </a:solidFill>
            </a:endParaRPr>
          </a:p>
          <a:p>
            <a:pPr marL="457200" lvl="0" indent="0" algn="l" rtl="0">
              <a:spcBef>
                <a:spcPts val="900"/>
              </a:spcBef>
              <a:spcAft>
                <a:spcPts val="0"/>
              </a:spcAft>
              <a:buNone/>
            </a:pPr>
            <a:r>
              <a:rPr lang="es-419" b="1" i="1">
                <a:solidFill>
                  <a:schemeClr val="dk1"/>
                </a:solidFill>
              </a:rPr>
              <a:t>11.- Independencia de la red</a:t>
            </a:r>
            <a:r>
              <a:rPr lang="es-419">
                <a:solidFill>
                  <a:schemeClr val="dk1"/>
                </a:solidFill>
              </a:rPr>
              <a:t>. El sistema debe funcionar con cualquier plataforma de red.</a:t>
            </a:r>
            <a:endParaRPr>
              <a:solidFill>
                <a:schemeClr val="dk1"/>
              </a:solidFill>
            </a:endParaRPr>
          </a:p>
          <a:p>
            <a:pPr marL="457200" lvl="0" indent="0" algn="l" rtl="0">
              <a:spcBef>
                <a:spcPts val="900"/>
              </a:spcBef>
              <a:spcAft>
                <a:spcPts val="0"/>
              </a:spcAft>
              <a:buNone/>
            </a:pPr>
            <a:r>
              <a:rPr lang="es-419" b="1" i="1">
                <a:solidFill>
                  <a:schemeClr val="dk1"/>
                </a:solidFill>
              </a:rPr>
              <a:t>12.- Independencia de la base de datos</a:t>
            </a:r>
            <a:r>
              <a:rPr lang="es-419">
                <a:solidFill>
                  <a:schemeClr val="dk1"/>
                </a:solidFill>
              </a:rPr>
              <a:t>. El sistema debe soportar cualquier producto de base de datos provisto por cualquier proveedor.</a:t>
            </a:r>
            <a:endParaRPr b="1" i="1">
              <a:solidFill>
                <a:schemeClr val="dk1"/>
              </a:solidFill>
            </a:endParaRPr>
          </a:p>
          <a:p>
            <a:pPr marL="457200" lvl="0" indent="0" algn="l" rtl="0">
              <a:spcBef>
                <a:spcPts val="900"/>
              </a:spcBef>
              <a:spcAft>
                <a:spcPts val="900"/>
              </a:spcAft>
              <a:buNone/>
            </a:pPr>
            <a:endParaRPr sz="900" b="1" i="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9"/>
          <p:cNvSpPr txBox="1">
            <a:spLocks noGrp="1"/>
          </p:cNvSpPr>
          <p:nvPr>
            <p:ph type="body" idx="1"/>
          </p:nvPr>
        </p:nvSpPr>
        <p:spPr>
          <a:xfrm>
            <a:off x="90225" y="383550"/>
            <a:ext cx="8918400" cy="4376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s-419" sz="1350">
                <a:solidFill>
                  <a:schemeClr val="dk1"/>
                </a:solidFill>
                <a:highlight>
                  <a:srgbClr val="FCFBFB"/>
                </a:highlight>
              </a:rPr>
              <a:t>Ejemplos de sistemas de tipo BASE incluyen:</a:t>
            </a:r>
            <a:endParaRPr sz="1350">
              <a:solidFill>
                <a:schemeClr val="dk1"/>
              </a:solidFill>
              <a:highlight>
                <a:srgbClr val="FCFBFB"/>
              </a:highlight>
            </a:endParaRPr>
          </a:p>
          <a:p>
            <a:pPr marL="0" lvl="0" indent="0" algn="l" rtl="0">
              <a:spcBef>
                <a:spcPts val="900"/>
              </a:spcBef>
              <a:spcAft>
                <a:spcPts val="0"/>
              </a:spcAft>
              <a:buNone/>
            </a:pPr>
            <a:r>
              <a:rPr lang="es-419" sz="1350" b="1">
                <a:solidFill>
                  <a:schemeClr val="dk1"/>
                </a:solidFill>
                <a:highlight>
                  <a:srgbClr val="FCFBFB"/>
                </a:highlight>
              </a:rPr>
              <a:t>Los modelos arquitectónicos para DDBMS (o múltiples DBMS) se clasifican en tres dimensiones principales:</a:t>
            </a:r>
            <a:br>
              <a:rPr lang="es-419" sz="1350" b="1">
                <a:solidFill>
                  <a:schemeClr val="dk1"/>
                </a:solidFill>
                <a:highlight>
                  <a:srgbClr val="FCFBFB"/>
                </a:highlight>
              </a:rPr>
            </a:br>
            <a:endParaRPr sz="1350" b="1">
              <a:solidFill>
                <a:schemeClr val="dk1"/>
              </a:solidFill>
              <a:highlight>
                <a:srgbClr val="FCFBFB"/>
              </a:highlight>
            </a:endParaRPr>
          </a:p>
          <a:p>
            <a:pPr marL="457200" lvl="0" indent="-298450" algn="l" rtl="0">
              <a:spcBef>
                <a:spcPts val="1200"/>
              </a:spcBef>
              <a:spcAft>
                <a:spcPts val="0"/>
              </a:spcAft>
              <a:buClr>
                <a:schemeClr val="dk1"/>
              </a:buClr>
              <a:buSzPts val="1100"/>
              <a:buAutoNum type="arabicPeriod"/>
            </a:pPr>
            <a:r>
              <a:rPr lang="es-419" sz="1350" b="1">
                <a:solidFill>
                  <a:schemeClr val="dk1"/>
                </a:solidFill>
                <a:highlight>
                  <a:srgbClr val="FCFBFB"/>
                </a:highlight>
              </a:rPr>
              <a:t>Autonomía</a:t>
            </a:r>
            <a:br>
              <a:rPr lang="es-419" sz="1350" b="1">
                <a:solidFill>
                  <a:schemeClr val="dk1"/>
                </a:solidFill>
                <a:highlight>
                  <a:srgbClr val="FCFBFB"/>
                </a:highlight>
              </a:rPr>
            </a:br>
            <a:endParaRPr sz="1350" b="1">
              <a:solidFill>
                <a:schemeClr val="dk1"/>
              </a:solidFill>
              <a:highlight>
                <a:srgbClr val="FCFBFB"/>
              </a:highlight>
            </a:endParaRPr>
          </a:p>
          <a:p>
            <a:pPr marL="457200" lvl="0" indent="-298450" algn="l" rtl="0">
              <a:spcBef>
                <a:spcPts val="0"/>
              </a:spcBef>
              <a:spcAft>
                <a:spcPts val="0"/>
              </a:spcAft>
              <a:buClr>
                <a:schemeClr val="dk1"/>
              </a:buClr>
              <a:buSzPts val="1100"/>
              <a:buAutoNum type="arabicPeriod"/>
            </a:pPr>
            <a:r>
              <a:rPr lang="es-419" sz="1350" b="1">
                <a:solidFill>
                  <a:schemeClr val="dk1"/>
                </a:solidFill>
                <a:highlight>
                  <a:srgbClr val="FCFBFB"/>
                </a:highlight>
              </a:rPr>
              <a:t>Distribución</a:t>
            </a:r>
            <a:br>
              <a:rPr lang="es-419" sz="1350" b="1">
                <a:solidFill>
                  <a:schemeClr val="dk1"/>
                </a:solidFill>
                <a:highlight>
                  <a:srgbClr val="FCFBFB"/>
                </a:highlight>
              </a:rPr>
            </a:br>
            <a:endParaRPr sz="1350" b="1">
              <a:solidFill>
                <a:schemeClr val="dk1"/>
              </a:solidFill>
              <a:highlight>
                <a:srgbClr val="FCFBFB"/>
              </a:highlight>
            </a:endParaRPr>
          </a:p>
          <a:p>
            <a:pPr marL="457200" lvl="0" indent="-298450" algn="l" rtl="0">
              <a:spcBef>
                <a:spcPts val="0"/>
              </a:spcBef>
              <a:spcAft>
                <a:spcPts val="0"/>
              </a:spcAft>
              <a:buClr>
                <a:schemeClr val="dk1"/>
              </a:buClr>
              <a:buSzPts val="1100"/>
              <a:buAutoNum type="arabicPeriod"/>
            </a:pPr>
            <a:r>
              <a:rPr lang="es-419" sz="1350" b="1">
                <a:solidFill>
                  <a:schemeClr val="dk1"/>
                </a:solidFill>
                <a:highlight>
                  <a:srgbClr val="FCFBFB"/>
                </a:highlight>
              </a:rPr>
              <a:t>Heterogeneidad</a:t>
            </a:r>
            <a:br>
              <a:rPr lang="es-419" sz="1350" b="1">
                <a:solidFill>
                  <a:schemeClr val="dk1"/>
                </a:solidFill>
                <a:highlight>
                  <a:srgbClr val="FCFBFB"/>
                </a:highlight>
              </a:rPr>
            </a:br>
            <a:endParaRPr sz="1350" b="1">
              <a:solidFill>
                <a:schemeClr val="dk1"/>
              </a:solidFill>
              <a:highlight>
                <a:srgbClr val="FCFBFB"/>
              </a:highlight>
            </a:endParaRPr>
          </a:p>
          <a:p>
            <a:pPr marL="0" lvl="0" indent="0" algn="l" rtl="0">
              <a:spcBef>
                <a:spcPts val="1200"/>
              </a:spcBef>
              <a:spcAft>
                <a:spcPts val="0"/>
              </a:spcAft>
              <a:buNone/>
            </a:pPr>
            <a:r>
              <a:rPr lang="es-419" sz="1350" b="1">
                <a:solidFill>
                  <a:schemeClr val="dk1"/>
                </a:solidFill>
                <a:highlight>
                  <a:srgbClr val="FCFBFB"/>
                </a:highlight>
              </a:rPr>
              <a:t>Estas dimensiones determinan cómo se organizan los datos, el control y los componentes del sistema en los diferentes sitios.</a:t>
            </a:r>
            <a:endParaRPr sz="1350" b="1">
              <a:solidFill>
                <a:schemeClr val="dk1"/>
              </a:solidFill>
              <a:highlight>
                <a:srgbClr val="FCFBFB"/>
              </a:highlight>
            </a:endParaRPr>
          </a:p>
        </p:txBody>
      </p:sp>
      <p:sp>
        <p:nvSpPr>
          <p:cNvPr id="200" name="Google Shape;200;p39"/>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¿Qué son los Modelos de Arquitectura en DDBMS?</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0"/>
          <p:cNvSpPr txBox="1">
            <a:spLocks noGrp="1"/>
          </p:cNvSpPr>
          <p:nvPr>
            <p:ph type="body" idx="1"/>
          </p:nvPr>
        </p:nvSpPr>
        <p:spPr>
          <a:xfrm>
            <a:off x="90225" y="383550"/>
            <a:ext cx="8918400" cy="4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000">
                <a:solidFill>
                  <a:schemeClr val="dk1"/>
                </a:solidFill>
              </a:rPr>
              <a:t>Indica la </a:t>
            </a:r>
            <a:r>
              <a:rPr lang="es-419" sz="2000" b="1">
                <a:solidFill>
                  <a:schemeClr val="dk1"/>
                </a:solidFill>
              </a:rPr>
              <a:t>distribución física</a:t>
            </a:r>
            <a:r>
              <a:rPr lang="es-419" sz="2000">
                <a:solidFill>
                  <a:schemeClr val="dk1"/>
                </a:solidFill>
              </a:rPr>
              <a:t> de los datos entre los distintos sitios.</a:t>
            </a:r>
            <a:br>
              <a:rPr lang="es-419" sz="2000">
                <a:solidFill>
                  <a:schemeClr val="dk1"/>
                </a:solidFill>
              </a:rPr>
            </a:br>
            <a:endParaRPr sz="2000">
              <a:solidFill>
                <a:schemeClr val="dk1"/>
              </a:solidFill>
            </a:endParaRPr>
          </a:p>
          <a:p>
            <a:pPr marL="0" lvl="0" indent="0" algn="l" rtl="0">
              <a:spcBef>
                <a:spcPts val="0"/>
              </a:spcBef>
              <a:spcAft>
                <a:spcPts val="0"/>
              </a:spcAft>
              <a:buClr>
                <a:schemeClr val="dk1"/>
              </a:buClr>
              <a:buSzPts val="1100"/>
              <a:buFont typeface="Arial"/>
              <a:buNone/>
            </a:pPr>
            <a:r>
              <a:rPr lang="es-419" sz="2000">
                <a:solidFill>
                  <a:schemeClr val="dk1"/>
                </a:solidFill>
              </a:rPr>
              <a:t>Define cómo se almacenan y acceden los fragmentos o réplicas de datos.</a:t>
            </a:r>
            <a:br>
              <a:rPr lang="es-419" sz="2000">
                <a:solidFill>
                  <a:schemeClr val="dk1"/>
                </a:solidFill>
              </a:rPr>
            </a:br>
            <a:endParaRPr sz="2000">
              <a:solidFill>
                <a:schemeClr val="dk1"/>
              </a:solidFill>
            </a:endParaRPr>
          </a:p>
          <a:p>
            <a:pPr marL="0" lvl="0" indent="0" algn="l" rtl="0">
              <a:spcBef>
                <a:spcPts val="0"/>
              </a:spcBef>
              <a:spcAft>
                <a:spcPts val="0"/>
              </a:spcAft>
              <a:buClr>
                <a:schemeClr val="dk1"/>
              </a:buClr>
              <a:buSzPts val="1100"/>
              <a:buFont typeface="Arial"/>
              <a:buNone/>
            </a:pPr>
            <a:r>
              <a:rPr lang="es-419" sz="2000">
                <a:solidFill>
                  <a:schemeClr val="dk1"/>
                </a:solidFill>
              </a:rPr>
              <a:t>Afecta el rendimiento, la escalabilidad y la disponibilidad de la información.</a:t>
            </a:r>
            <a:endParaRPr sz="2000">
              <a:solidFill>
                <a:schemeClr val="dk1"/>
              </a:solidFill>
            </a:endParaRPr>
          </a:p>
          <a:p>
            <a:pPr marL="0" lvl="0" indent="0" algn="l" rtl="0">
              <a:spcBef>
                <a:spcPts val="0"/>
              </a:spcBef>
              <a:spcAft>
                <a:spcPts val="0"/>
              </a:spcAft>
              <a:buNone/>
            </a:pPr>
            <a:endParaRPr sz="1350">
              <a:solidFill>
                <a:schemeClr val="dk1"/>
              </a:solidFill>
              <a:highlight>
                <a:srgbClr val="FCFBFB"/>
              </a:highlight>
            </a:endParaRPr>
          </a:p>
        </p:txBody>
      </p:sp>
      <p:sp>
        <p:nvSpPr>
          <p:cNvPr id="206" name="Google Shape;206;p40"/>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Distribución	</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1"/>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sz="2000">
                <a:solidFill>
                  <a:schemeClr val="dk1"/>
                </a:solidFill>
              </a:rPr>
              <a:t>Señala el </a:t>
            </a:r>
            <a:r>
              <a:rPr lang="es-419" sz="2000" b="1">
                <a:solidFill>
                  <a:schemeClr val="dk1"/>
                </a:solidFill>
              </a:rPr>
              <a:t>grado de independencia</a:t>
            </a:r>
            <a:r>
              <a:rPr lang="es-419" sz="2000">
                <a:solidFill>
                  <a:schemeClr val="dk1"/>
                </a:solidFill>
              </a:rPr>
              <a:t> que posee cada sistema o sitio dentro del DDBMS.</a:t>
            </a:r>
            <a:br>
              <a:rPr lang="es-419" sz="2000">
                <a:solidFill>
                  <a:schemeClr val="dk1"/>
                </a:solidFill>
              </a:rPr>
            </a:br>
            <a:endParaRPr sz="2000">
              <a:solidFill>
                <a:schemeClr val="dk1"/>
              </a:solidFill>
            </a:endParaRPr>
          </a:p>
          <a:p>
            <a:pPr marL="0" lvl="0" indent="0" algn="l" rtl="0">
              <a:spcBef>
                <a:spcPts val="0"/>
              </a:spcBef>
              <a:spcAft>
                <a:spcPts val="0"/>
              </a:spcAft>
              <a:buClr>
                <a:schemeClr val="dk1"/>
              </a:buClr>
              <a:buSzPts val="1100"/>
              <a:buFont typeface="Arial"/>
              <a:buNone/>
            </a:pPr>
            <a:r>
              <a:rPr lang="es-419" sz="2000">
                <a:solidFill>
                  <a:schemeClr val="dk1"/>
                </a:solidFill>
              </a:rPr>
              <a:t>Refleja cómo se distribuye el control del sistema de bases de datos.</a:t>
            </a:r>
            <a:br>
              <a:rPr lang="es-419" sz="2000">
                <a:solidFill>
                  <a:schemeClr val="dk1"/>
                </a:solidFill>
              </a:rPr>
            </a:br>
            <a:endParaRPr sz="2000">
              <a:solidFill>
                <a:schemeClr val="dk1"/>
              </a:solidFill>
            </a:endParaRPr>
          </a:p>
          <a:p>
            <a:pPr marL="0" lvl="0" indent="0" algn="l" rtl="0">
              <a:spcBef>
                <a:spcPts val="0"/>
              </a:spcBef>
              <a:spcAft>
                <a:spcPts val="0"/>
              </a:spcAft>
              <a:buNone/>
            </a:pPr>
            <a:r>
              <a:rPr lang="es-419" sz="2000">
                <a:solidFill>
                  <a:schemeClr val="dk1"/>
                </a:solidFill>
              </a:rPr>
              <a:t>Cuanta más autonomía tiene un sitio, menor coordinación central se requiere.</a:t>
            </a:r>
            <a:endParaRPr sz="2000">
              <a:solidFill>
                <a:schemeClr val="dk1"/>
              </a:solidFill>
            </a:endParaRPr>
          </a:p>
        </p:txBody>
      </p:sp>
      <p:sp>
        <p:nvSpPr>
          <p:cNvPr id="212" name="Google Shape;212;p41"/>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Autonomía</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2"/>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2000">
                <a:solidFill>
                  <a:schemeClr val="dk1"/>
                </a:solidFill>
              </a:rPr>
              <a:t>Se refiere a las </a:t>
            </a:r>
            <a:r>
              <a:rPr lang="es-419" sz="2000" b="1">
                <a:solidFill>
                  <a:schemeClr val="dk1"/>
                </a:solidFill>
              </a:rPr>
              <a:t>diferencias entre los modelos de datos, software de DBMS y componentes de hardware.</a:t>
            </a:r>
            <a:br>
              <a:rPr lang="es-419" sz="2000" b="1">
                <a:solidFill>
                  <a:schemeClr val="dk1"/>
                </a:solidFill>
              </a:rPr>
            </a:br>
            <a:endParaRPr sz="2000" b="1">
              <a:solidFill>
                <a:schemeClr val="dk1"/>
              </a:solidFill>
            </a:endParaRPr>
          </a:p>
          <a:p>
            <a:pPr marL="0" lvl="0" indent="0" algn="l" rtl="0">
              <a:spcBef>
                <a:spcPts val="0"/>
              </a:spcBef>
              <a:spcAft>
                <a:spcPts val="0"/>
              </a:spcAft>
              <a:buNone/>
            </a:pPr>
            <a:r>
              <a:rPr lang="es-419" sz="2000">
                <a:solidFill>
                  <a:schemeClr val="dk1"/>
                </a:solidFill>
              </a:rPr>
              <a:t>Puede implicar distintos lenguajes de consulta, estructuras de datos u operaciones del sistema.</a:t>
            </a:r>
            <a:br>
              <a:rPr lang="es-419" sz="2000">
                <a:solidFill>
                  <a:schemeClr val="dk1"/>
                </a:solidFill>
              </a:rPr>
            </a:br>
            <a:endParaRPr sz="2000">
              <a:solidFill>
                <a:schemeClr val="dk1"/>
              </a:solidFill>
            </a:endParaRPr>
          </a:p>
          <a:p>
            <a:pPr marL="0" lvl="0" indent="0" algn="l" rtl="0">
              <a:spcBef>
                <a:spcPts val="0"/>
              </a:spcBef>
              <a:spcAft>
                <a:spcPts val="0"/>
              </a:spcAft>
              <a:buNone/>
            </a:pPr>
            <a:r>
              <a:rPr lang="es-419" sz="2000">
                <a:solidFill>
                  <a:schemeClr val="dk1"/>
                </a:solidFill>
              </a:rPr>
              <a:t>El sistema debe gestionar la </a:t>
            </a:r>
            <a:r>
              <a:rPr lang="es-419" sz="2000" b="1">
                <a:solidFill>
                  <a:schemeClr val="dk1"/>
                </a:solidFill>
              </a:rPr>
              <a:t>integración y traducción</a:t>
            </a:r>
            <a:r>
              <a:rPr lang="es-419" sz="2000">
                <a:solidFill>
                  <a:schemeClr val="dk1"/>
                </a:solidFill>
              </a:rPr>
              <a:t> entre los diferentes componentes.</a:t>
            </a:r>
            <a:endParaRPr sz="2000">
              <a:solidFill>
                <a:schemeClr val="dk1"/>
              </a:solidFill>
            </a:endParaRPr>
          </a:p>
        </p:txBody>
      </p:sp>
      <p:sp>
        <p:nvSpPr>
          <p:cNvPr id="218" name="Google Shape;218;p42"/>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Heterogeneidad</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43"/>
          <p:cNvSpPr txBox="1">
            <a:spLocks noGrp="1"/>
          </p:cNvSpPr>
          <p:nvPr>
            <p:ph type="body" idx="1"/>
          </p:nvPr>
        </p:nvSpPr>
        <p:spPr>
          <a:xfrm>
            <a:off x="0" y="405900"/>
            <a:ext cx="8918400" cy="43764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es-419" sz="1700" b="1" dirty="0">
                <a:solidFill>
                  <a:schemeClr val="dk1"/>
                </a:solidFill>
              </a:rPr>
              <a:t>1. Según el grado de autonomía</a:t>
            </a:r>
            <a:endParaRPr sz="1700" b="1" dirty="0">
              <a:solidFill>
                <a:schemeClr val="dk1"/>
              </a:solidFill>
            </a:endParaRPr>
          </a:p>
          <a:p>
            <a:pPr marL="0" lvl="0" indent="0" algn="l" rtl="0">
              <a:spcBef>
                <a:spcPts val="1200"/>
              </a:spcBef>
              <a:spcAft>
                <a:spcPts val="0"/>
              </a:spcAft>
              <a:buNone/>
            </a:pPr>
            <a:r>
              <a:rPr lang="es-419" sz="1100" dirty="0">
                <a:solidFill>
                  <a:schemeClr val="dk1"/>
                </a:solidFill>
              </a:rPr>
              <a:t>Este criterio se refiere a </a:t>
            </a:r>
            <a:r>
              <a:rPr lang="es-419" sz="1100" b="1" dirty="0">
                <a:solidFill>
                  <a:schemeClr val="dk1"/>
                </a:solidFill>
              </a:rPr>
              <a:t>cuánta independencia tienen las bases de datos locales</a:t>
            </a:r>
            <a:r>
              <a:rPr lang="es-419" sz="1100" dirty="0">
                <a:solidFill>
                  <a:schemeClr val="dk1"/>
                </a:solidFill>
              </a:rPr>
              <a:t> dentro del sistema distribuido.</a:t>
            </a:r>
            <a:endParaRPr sz="1100" dirty="0">
              <a:solidFill>
                <a:schemeClr val="dk1"/>
              </a:solidFill>
            </a:endParaRPr>
          </a:p>
          <a:p>
            <a:pPr marL="0" lvl="0" indent="0" algn="l" rtl="0">
              <a:spcBef>
                <a:spcPts val="1400"/>
              </a:spcBef>
              <a:spcAft>
                <a:spcPts val="0"/>
              </a:spcAft>
              <a:buNone/>
            </a:pPr>
            <a:r>
              <a:rPr lang="es-419" sz="1300" b="1" dirty="0">
                <a:solidFill>
                  <a:schemeClr val="dk1"/>
                </a:solidFill>
              </a:rPr>
              <a:t>🔹 a) Sistema Centralizado (sin autonomía)</a:t>
            </a:r>
            <a:endParaRPr sz="1300" b="1" dirty="0">
              <a:solidFill>
                <a:schemeClr val="dk1"/>
              </a:solidFill>
            </a:endParaRPr>
          </a:p>
          <a:p>
            <a:pPr marL="457200" lvl="0" indent="-298450" algn="l" rtl="0">
              <a:lnSpc>
                <a:spcPct val="100000"/>
              </a:lnSpc>
              <a:spcBef>
                <a:spcPts val="1200"/>
              </a:spcBef>
              <a:spcAft>
                <a:spcPts val="0"/>
              </a:spcAft>
              <a:buClr>
                <a:schemeClr val="dk1"/>
              </a:buClr>
              <a:buSzPts val="1100"/>
              <a:buChar char="●"/>
            </a:pPr>
            <a:r>
              <a:rPr lang="es-419" sz="1100" dirty="0">
                <a:solidFill>
                  <a:schemeClr val="dk1"/>
                </a:solidFill>
              </a:rPr>
              <a:t>Existe </a:t>
            </a:r>
            <a:r>
              <a:rPr lang="es-419" sz="1100" b="1" dirty="0">
                <a:solidFill>
                  <a:schemeClr val="dk1"/>
                </a:solidFill>
              </a:rPr>
              <a:t>una sola base de datos</a:t>
            </a:r>
            <a:r>
              <a:rPr lang="es-419" sz="1100" dirty="0">
                <a:solidFill>
                  <a:schemeClr val="dk1"/>
                </a:solidFill>
              </a:rPr>
              <a:t> y un solo sitio de control.</a:t>
            </a:r>
            <a:endParaRPr sz="1100" dirty="0">
              <a:solidFill>
                <a:schemeClr val="dk1"/>
              </a:solidFill>
            </a:endParaRPr>
          </a:p>
          <a:p>
            <a:pPr marL="457200" lvl="0" indent="-298450" algn="l" rtl="0">
              <a:lnSpc>
                <a:spcPct val="100000"/>
              </a:lnSpc>
              <a:spcBef>
                <a:spcPts val="0"/>
              </a:spcBef>
              <a:spcAft>
                <a:spcPts val="0"/>
              </a:spcAft>
              <a:buClr>
                <a:schemeClr val="dk1"/>
              </a:buClr>
              <a:buSzPts val="1100"/>
              <a:buChar char="●"/>
            </a:pPr>
            <a:r>
              <a:rPr lang="es-419" sz="1100" dirty="0">
                <a:solidFill>
                  <a:schemeClr val="dk1"/>
                </a:solidFill>
              </a:rPr>
              <a:t>Los usuarios acceden remotamente, pero </a:t>
            </a:r>
            <a:r>
              <a:rPr lang="es-419" sz="1100" b="1" dirty="0">
                <a:solidFill>
                  <a:schemeClr val="dk1"/>
                </a:solidFill>
              </a:rPr>
              <a:t>toda la gestión se hace desde un único nodo</a:t>
            </a:r>
            <a:r>
              <a:rPr lang="es-419" sz="1100" dirty="0">
                <a:solidFill>
                  <a:schemeClr val="dk1"/>
                </a:solidFill>
              </a:rPr>
              <a:t>.</a:t>
            </a:r>
            <a:endParaRPr sz="1100" dirty="0">
              <a:solidFill>
                <a:schemeClr val="dk1"/>
              </a:solidFill>
            </a:endParaRPr>
          </a:p>
          <a:p>
            <a:pPr marL="457200" lvl="0" indent="-298450" algn="l" rtl="0">
              <a:lnSpc>
                <a:spcPct val="100000"/>
              </a:lnSpc>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Un servidor principal con múltiples clientes conectados.</a:t>
            </a:r>
            <a:endParaRPr sz="1100" dirty="0">
              <a:solidFill>
                <a:schemeClr val="dk1"/>
              </a:solidFill>
            </a:endParaRPr>
          </a:p>
          <a:p>
            <a:pPr marL="0" lvl="0" indent="0" algn="l" rtl="0">
              <a:spcBef>
                <a:spcPts val="1400"/>
              </a:spcBef>
              <a:spcAft>
                <a:spcPts val="0"/>
              </a:spcAft>
              <a:buNone/>
            </a:pPr>
            <a:r>
              <a:rPr lang="es-419" sz="1300" b="1" dirty="0">
                <a:solidFill>
                  <a:schemeClr val="dk1"/>
                </a:solidFill>
              </a:rPr>
              <a:t>🔹 b) Sistema Distribuido </a:t>
            </a:r>
            <a:r>
              <a:rPr lang="es-419" sz="1300" b="1" dirty="0" err="1">
                <a:solidFill>
                  <a:schemeClr val="dk1"/>
                </a:solidFill>
              </a:rPr>
              <a:t>Tightly</a:t>
            </a:r>
            <a:r>
              <a:rPr lang="es-419" sz="1300" b="1" dirty="0">
                <a:solidFill>
                  <a:schemeClr val="dk1"/>
                </a:solidFill>
              </a:rPr>
              <a:t> </a:t>
            </a:r>
            <a:r>
              <a:rPr lang="es-419" sz="1300" b="1" dirty="0" err="1">
                <a:solidFill>
                  <a:schemeClr val="dk1"/>
                </a:solidFill>
              </a:rPr>
              <a:t>Coupled</a:t>
            </a:r>
            <a:r>
              <a:rPr lang="es-419" sz="1300" b="1" dirty="0">
                <a:solidFill>
                  <a:schemeClr val="dk1"/>
                </a:solidFill>
              </a:rPr>
              <a:t> (autonomía parcial)</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Los nodos </a:t>
            </a:r>
            <a:r>
              <a:rPr lang="es-419" sz="1100" b="1" dirty="0">
                <a:solidFill>
                  <a:schemeClr val="dk1"/>
                </a:solidFill>
              </a:rPr>
              <a:t>trabajan cooperativamente bajo un mismo control de transacciones y catálogo global</a:t>
            </a:r>
            <a:r>
              <a:rPr lang="es-419" sz="1100" dirty="0">
                <a:solidFill>
                  <a:schemeClr val="dk1"/>
                </a:solidFill>
              </a:rPr>
              <a:t>.</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Hay una </a:t>
            </a:r>
            <a:r>
              <a:rPr lang="es-419" sz="1100" b="1" dirty="0">
                <a:solidFill>
                  <a:schemeClr val="dk1"/>
                </a:solidFill>
              </a:rPr>
              <a:t>coordinación fuerte</a:t>
            </a:r>
            <a:r>
              <a:rPr lang="es-419" sz="1100" dirty="0">
                <a:solidFill>
                  <a:schemeClr val="dk1"/>
                </a:solidFill>
              </a:rPr>
              <a:t> entre los nodos, pero </a:t>
            </a:r>
            <a:r>
              <a:rPr lang="es-419" sz="1100" b="1" dirty="0">
                <a:solidFill>
                  <a:schemeClr val="dk1"/>
                </a:solidFill>
              </a:rPr>
              <a:t>las bases locales conservan algo de control</a:t>
            </a:r>
            <a:r>
              <a:rPr lang="es-419" sz="1100" dirty="0">
                <a:solidFill>
                  <a:schemeClr val="dk1"/>
                </a:solidFill>
              </a:rPr>
              <a:t> sobre sus datos.</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Un sistema de sucursales bancarias donde todas usan la misma política de acceso y transacciones coordinadas.</a:t>
            </a:r>
            <a:endParaRPr sz="1100" dirty="0">
              <a:solidFill>
                <a:schemeClr val="dk1"/>
              </a:solidFill>
            </a:endParaRPr>
          </a:p>
          <a:p>
            <a:pPr marL="0" lvl="0" indent="0" algn="l" rtl="0">
              <a:spcBef>
                <a:spcPts val="1400"/>
              </a:spcBef>
              <a:spcAft>
                <a:spcPts val="0"/>
              </a:spcAft>
              <a:buNone/>
            </a:pPr>
            <a:r>
              <a:rPr lang="es-419" sz="1300" b="1" dirty="0">
                <a:solidFill>
                  <a:schemeClr val="dk1"/>
                </a:solidFill>
              </a:rPr>
              <a:t>🔹 c) Sistema Federado (autonomía alta)</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Cada base de datos </a:t>
            </a:r>
            <a:r>
              <a:rPr lang="es-419" sz="1100" b="1" dirty="0">
                <a:solidFill>
                  <a:schemeClr val="dk1"/>
                </a:solidFill>
              </a:rPr>
              <a:t>mantiene su propio esquema, control y administrador</a:t>
            </a:r>
            <a:r>
              <a:rPr lang="es-419" sz="1100" dirty="0">
                <a:solidFill>
                  <a:schemeClr val="dk1"/>
                </a:solidFill>
              </a:rPr>
              <a:t>, pero colabora mediante una </a:t>
            </a:r>
            <a:r>
              <a:rPr lang="es-419" sz="1100" b="1" dirty="0">
                <a:solidFill>
                  <a:schemeClr val="dk1"/>
                </a:solidFill>
              </a:rPr>
              <a:t>capa de federación o mediador</a:t>
            </a:r>
            <a:r>
              <a:rPr lang="es-419" sz="1100" dirty="0">
                <a:solidFill>
                  <a:schemeClr val="dk1"/>
                </a:solidFill>
              </a:rPr>
              <a:t>.</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Se permite la </a:t>
            </a:r>
            <a:r>
              <a:rPr lang="es-419" sz="1100" b="1" dirty="0">
                <a:solidFill>
                  <a:schemeClr val="dk1"/>
                </a:solidFill>
              </a:rPr>
              <a:t>integración lógica de datos heterogéneos</a:t>
            </a:r>
            <a:r>
              <a:rPr lang="es-419" sz="1100" dirty="0">
                <a:solidFill>
                  <a:schemeClr val="dk1"/>
                </a:solidFill>
              </a:rPr>
              <a:t> sin perder la independencia local.</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Varias universidades que comparten un sistema para consultar información académica sin modificar sus bases internas.</a:t>
            </a:r>
            <a:endParaRPr sz="1100" dirty="0">
              <a:solidFill>
                <a:schemeClr val="dk1"/>
              </a:solidFill>
            </a:endParaRPr>
          </a:p>
          <a:p>
            <a:pPr marL="0" lvl="0" indent="0" algn="l" rtl="0">
              <a:spcBef>
                <a:spcPts val="1200"/>
              </a:spcBef>
              <a:spcAft>
                <a:spcPts val="0"/>
              </a:spcAft>
              <a:buNone/>
            </a:pPr>
            <a:endParaRPr sz="2000" dirty="0">
              <a:solidFill>
                <a:schemeClr val="dk1"/>
              </a:solidFill>
            </a:endParaRPr>
          </a:p>
        </p:txBody>
      </p:sp>
      <p:sp>
        <p:nvSpPr>
          <p:cNvPr id="224" name="Google Shape;224;p43"/>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Autonomía</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4"/>
          <p:cNvSpPr txBox="1">
            <a:spLocks noGrp="1"/>
          </p:cNvSpPr>
          <p:nvPr>
            <p:ph type="body" idx="1"/>
          </p:nvPr>
        </p:nvSpPr>
        <p:spPr>
          <a:xfrm>
            <a:off x="0" y="405900"/>
            <a:ext cx="8918400" cy="43764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None/>
            </a:pPr>
            <a:r>
              <a:rPr lang="es-419" sz="1700" b="1" dirty="0">
                <a:solidFill>
                  <a:schemeClr val="dk1"/>
                </a:solidFill>
              </a:rPr>
              <a:t>2. Según la heterogeneidad</a:t>
            </a:r>
            <a:endParaRPr sz="1700" b="1" dirty="0">
              <a:solidFill>
                <a:schemeClr val="dk1"/>
              </a:solidFill>
            </a:endParaRPr>
          </a:p>
          <a:p>
            <a:pPr marL="0" lvl="0" indent="0" algn="l" rtl="0">
              <a:spcBef>
                <a:spcPts val="1200"/>
              </a:spcBef>
              <a:spcAft>
                <a:spcPts val="0"/>
              </a:spcAft>
              <a:buNone/>
            </a:pPr>
            <a:r>
              <a:rPr lang="es-419" sz="1100" dirty="0">
                <a:solidFill>
                  <a:schemeClr val="dk1"/>
                </a:solidFill>
              </a:rPr>
              <a:t>Este criterio evalúa </a:t>
            </a:r>
            <a:r>
              <a:rPr lang="es-419" sz="1100" b="1" dirty="0">
                <a:solidFill>
                  <a:schemeClr val="dk1"/>
                </a:solidFill>
              </a:rPr>
              <a:t>las diferencias en hardware, software o modelos de datos</a:t>
            </a:r>
            <a:r>
              <a:rPr lang="es-419" sz="1100" dirty="0">
                <a:solidFill>
                  <a:schemeClr val="dk1"/>
                </a:solidFill>
              </a:rPr>
              <a:t> entre los nodos del sistema.</a:t>
            </a:r>
            <a:endParaRPr sz="1100" dirty="0">
              <a:solidFill>
                <a:schemeClr val="dk1"/>
              </a:solidFill>
            </a:endParaRPr>
          </a:p>
          <a:p>
            <a:pPr marL="0" lvl="0" indent="0" algn="l" rtl="0">
              <a:spcBef>
                <a:spcPts val="1400"/>
              </a:spcBef>
              <a:spcAft>
                <a:spcPts val="0"/>
              </a:spcAft>
              <a:buNone/>
            </a:pPr>
            <a:r>
              <a:rPr lang="es-419" sz="1300" b="1" dirty="0">
                <a:solidFill>
                  <a:schemeClr val="dk1"/>
                </a:solidFill>
              </a:rPr>
              <a:t>🔹 a) Homogéneas</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Todos los nodos usan el </a:t>
            </a:r>
            <a:r>
              <a:rPr lang="es-419" sz="1100" b="1" dirty="0">
                <a:solidFill>
                  <a:schemeClr val="dk1"/>
                </a:solidFill>
              </a:rPr>
              <a:t>mismo SGBD (Sistema Gestor de Base de Datos)</a:t>
            </a:r>
            <a:r>
              <a:rPr lang="es-419" sz="1100" dirty="0">
                <a:solidFill>
                  <a:schemeClr val="dk1"/>
                </a:solidFill>
              </a:rPr>
              <a:t> y el </a:t>
            </a:r>
            <a:r>
              <a:rPr lang="es-419" sz="1100" b="1" dirty="0">
                <a:solidFill>
                  <a:schemeClr val="dk1"/>
                </a:solidFill>
              </a:rPr>
              <a:t>mismo modelo de datos</a:t>
            </a:r>
            <a:r>
              <a:rPr lang="es-419" sz="1100" dirty="0">
                <a:solidFill>
                  <a:schemeClr val="dk1"/>
                </a:solidFill>
              </a:rPr>
              <a:t>.</a:t>
            </a:r>
            <a:br>
              <a:rPr lang="es-419" sz="1100" dirty="0">
                <a:solidFill>
                  <a:schemeClr val="dk1"/>
                </a:solidFill>
              </a:rPr>
            </a:b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Simplifica la coordinación y las consultas distribuidas.</a:t>
            </a:r>
            <a:br>
              <a:rPr lang="es-419" sz="1100" dirty="0">
                <a:solidFill>
                  <a:schemeClr val="dk1"/>
                </a:solidFill>
              </a:rPr>
            </a:b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Varias instancias de PostgreSQL o </a:t>
            </a:r>
            <a:r>
              <a:rPr lang="es-419" sz="1100" dirty="0" err="1">
                <a:solidFill>
                  <a:schemeClr val="dk1"/>
                </a:solidFill>
              </a:rPr>
              <a:t>CockroachDB</a:t>
            </a:r>
            <a:r>
              <a:rPr lang="es-419" sz="1100" dirty="0">
                <a:solidFill>
                  <a:schemeClr val="dk1"/>
                </a:solidFill>
              </a:rPr>
              <a:t> distribuidas en red local.</a:t>
            </a:r>
            <a:br>
              <a:rPr lang="es-419" sz="1100" dirty="0">
                <a:solidFill>
                  <a:schemeClr val="dk1"/>
                </a:solidFill>
              </a:rPr>
            </a:br>
            <a:endParaRPr sz="1100" dirty="0">
              <a:solidFill>
                <a:schemeClr val="dk1"/>
              </a:solidFill>
            </a:endParaRPr>
          </a:p>
          <a:p>
            <a:pPr marL="0" lvl="0" indent="0" algn="l" rtl="0">
              <a:spcBef>
                <a:spcPts val="1400"/>
              </a:spcBef>
              <a:spcAft>
                <a:spcPts val="0"/>
              </a:spcAft>
              <a:buNone/>
            </a:pPr>
            <a:r>
              <a:rPr lang="es-419" sz="1300" b="1" dirty="0">
                <a:solidFill>
                  <a:schemeClr val="dk1"/>
                </a:solidFill>
              </a:rPr>
              <a:t>🔹 b) Heterogéneas</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Los nodos pueden usar </a:t>
            </a:r>
            <a:r>
              <a:rPr lang="es-419" sz="1100" b="1" dirty="0">
                <a:solidFill>
                  <a:schemeClr val="dk1"/>
                </a:solidFill>
              </a:rPr>
              <a:t>diferentes SGBD</a:t>
            </a:r>
            <a:r>
              <a:rPr lang="es-419" sz="1100" dirty="0">
                <a:solidFill>
                  <a:schemeClr val="dk1"/>
                </a:solidFill>
              </a:rPr>
              <a:t> (por ejemplo, Oracle, MySQL, MongoDB) o </a:t>
            </a:r>
            <a:r>
              <a:rPr lang="es-419" sz="1100" b="1" dirty="0">
                <a:solidFill>
                  <a:schemeClr val="dk1"/>
                </a:solidFill>
              </a:rPr>
              <a:t>modelos distintos</a:t>
            </a:r>
            <a:r>
              <a:rPr lang="es-419" sz="1100" dirty="0">
                <a:solidFill>
                  <a:schemeClr val="dk1"/>
                </a:solidFill>
              </a:rPr>
              <a:t> (relacional, objeto, documento).</a:t>
            </a:r>
            <a:br>
              <a:rPr lang="es-419" sz="1100" dirty="0">
                <a:solidFill>
                  <a:schemeClr val="dk1"/>
                </a:solidFill>
              </a:rPr>
            </a:b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Requiere </a:t>
            </a:r>
            <a:r>
              <a:rPr lang="es-419" sz="1100" b="1" dirty="0">
                <a:solidFill>
                  <a:schemeClr val="dk1"/>
                </a:solidFill>
              </a:rPr>
              <a:t>traductores o mediadores</a:t>
            </a:r>
            <a:r>
              <a:rPr lang="es-419" sz="1100" dirty="0">
                <a:solidFill>
                  <a:schemeClr val="dk1"/>
                </a:solidFill>
              </a:rPr>
              <a:t> para comunicar los sistemas.</a:t>
            </a:r>
            <a:br>
              <a:rPr lang="es-419" sz="1100" dirty="0">
                <a:solidFill>
                  <a:schemeClr val="dk1"/>
                </a:solidFill>
              </a:rPr>
            </a:b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Un sistema que integra información de ventas en MySQL y logística en MongoDB.</a:t>
            </a:r>
            <a:endParaRPr sz="1100" dirty="0">
              <a:solidFill>
                <a:schemeClr val="dk1"/>
              </a:solidFill>
            </a:endParaRPr>
          </a:p>
          <a:p>
            <a:pPr marL="457200" lvl="0" indent="-298450" algn="l" rtl="0">
              <a:spcBef>
                <a:spcPts val="0"/>
              </a:spcBef>
              <a:spcAft>
                <a:spcPts val="0"/>
              </a:spcAft>
              <a:buClr>
                <a:schemeClr val="dk1"/>
              </a:buClr>
              <a:buSzPts val="1100"/>
              <a:buChar char="●"/>
            </a:pPr>
            <a:endParaRPr sz="1100" dirty="0">
              <a:solidFill>
                <a:schemeClr val="dk1"/>
              </a:solidFill>
            </a:endParaRPr>
          </a:p>
          <a:p>
            <a:pPr marL="0" lvl="0" indent="0" algn="l" rtl="0">
              <a:spcBef>
                <a:spcPts val="1200"/>
              </a:spcBef>
              <a:spcAft>
                <a:spcPts val="0"/>
              </a:spcAft>
              <a:buNone/>
            </a:pPr>
            <a:endParaRPr sz="2000" dirty="0">
              <a:solidFill>
                <a:schemeClr val="dk1"/>
              </a:solidFill>
            </a:endParaRPr>
          </a:p>
        </p:txBody>
      </p:sp>
      <p:sp>
        <p:nvSpPr>
          <p:cNvPr id="230" name="Google Shape;230;p44"/>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Heterogeneidad</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5"/>
          <p:cNvSpPr txBox="1">
            <a:spLocks noGrp="1"/>
          </p:cNvSpPr>
          <p:nvPr>
            <p:ph type="body" idx="1"/>
          </p:nvPr>
        </p:nvSpPr>
        <p:spPr>
          <a:xfrm>
            <a:off x="0" y="383550"/>
            <a:ext cx="8918400" cy="4376400"/>
          </a:xfrm>
          <a:prstGeom prst="rect">
            <a:avLst/>
          </a:prstGeom>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s-419" sz="1700" b="1" dirty="0">
                <a:solidFill>
                  <a:schemeClr val="dk1"/>
                </a:solidFill>
              </a:rPr>
              <a:t>3. Según el grado de distribución</a:t>
            </a:r>
            <a:endParaRPr sz="1700" b="1" dirty="0">
              <a:solidFill>
                <a:schemeClr val="dk1"/>
              </a:solidFill>
            </a:endParaRPr>
          </a:p>
          <a:p>
            <a:pPr marL="0" lvl="0" indent="0" algn="l" rtl="0">
              <a:spcBef>
                <a:spcPts val="1200"/>
              </a:spcBef>
              <a:spcAft>
                <a:spcPts val="0"/>
              </a:spcAft>
              <a:buClr>
                <a:schemeClr val="dk1"/>
              </a:buClr>
              <a:buSzPts val="1100"/>
              <a:buFont typeface="Arial"/>
              <a:buNone/>
            </a:pPr>
            <a:r>
              <a:rPr lang="es-419" sz="1100" dirty="0">
                <a:solidFill>
                  <a:schemeClr val="dk1"/>
                </a:solidFill>
              </a:rPr>
              <a:t>Este criterio mide </a:t>
            </a:r>
            <a:r>
              <a:rPr lang="es-419" sz="1100" b="1" dirty="0">
                <a:solidFill>
                  <a:schemeClr val="dk1"/>
                </a:solidFill>
              </a:rPr>
              <a:t>cómo se distribuyen físicamente los datos y el procesamiento</a:t>
            </a:r>
            <a:r>
              <a:rPr lang="es-419" sz="1100" dirty="0">
                <a:solidFill>
                  <a:schemeClr val="dk1"/>
                </a:solidFill>
              </a:rPr>
              <a:t> entre los nodos.</a:t>
            </a:r>
            <a:endParaRPr sz="1100" dirty="0">
              <a:solidFill>
                <a:schemeClr val="dk1"/>
              </a:solidFill>
            </a:endParaRPr>
          </a:p>
          <a:p>
            <a:pPr marL="0" lvl="0" indent="0" algn="l" rtl="0">
              <a:spcBef>
                <a:spcPts val="1400"/>
              </a:spcBef>
              <a:spcAft>
                <a:spcPts val="0"/>
              </a:spcAft>
              <a:buClr>
                <a:schemeClr val="dk1"/>
              </a:buClr>
              <a:buSzPts val="1100"/>
              <a:buFont typeface="Arial"/>
              <a:buNone/>
            </a:pPr>
            <a:r>
              <a:rPr lang="es-419" sz="1300" b="1" dirty="0">
                <a:solidFill>
                  <a:schemeClr val="dk1"/>
                </a:solidFill>
              </a:rPr>
              <a:t>🔹 a) No distribuidas</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Todos los datos residen en un solo sitio.</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No existe fragmentación ni replicación.</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Base de datos tradicional instalada en un único servidor.</a:t>
            </a:r>
            <a:endParaRPr sz="1100" dirty="0">
              <a:solidFill>
                <a:schemeClr val="dk1"/>
              </a:solidFill>
            </a:endParaRPr>
          </a:p>
          <a:p>
            <a:pPr marL="0" lvl="0" indent="0" algn="l" rtl="0">
              <a:spcBef>
                <a:spcPts val="1400"/>
              </a:spcBef>
              <a:spcAft>
                <a:spcPts val="0"/>
              </a:spcAft>
              <a:buClr>
                <a:schemeClr val="dk1"/>
              </a:buClr>
              <a:buSzPts val="1100"/>
              <a:buFont typeface="Arial"/>
              <a:buNone/>
            </a:pPr>
            <a:r>
              <a:rPr lang="es-419" sz="1300" b="1" dirty="0">
                <a:solidFill>
                  <a:schemeClr val="dk1"/>
                </a:solidFill>
              </a:rPr>
              <a:t>🔹 b) Parcialmente distribuidas</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dirty="0">
                <a:solidFill>
                  <a:schemeClr val="dk1"/>
                </a:solidFill>
              </a:rPr>
              <a:t>Algunas partes de la base de datos se </a:t>
            </a:r>
            <a:r>
              <a:rPr lang="es-419" sz="1100" b="1" dirty="0">
                <a:solidFill>
                  <a:schemeClr val="dk1"/>
                </a:solidFill>
              </a:rPr>
              <a:t>replican o fragmentan</a:t>
            </a:r>
            <a:r>
              <a:rPr lang="es-419" sz="1100" dirty="0">
                <a:solidFill>
                  <a:schemeClr val="dk1"/>
                </a:solidFill>
              </a:rPr>
              <a:t> entre nodos, pero la coordinación se maneja centralmente.</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Un sistema con base de datos maestra y varias réplicas de solo lectura.</a:t>
            </a:r>
            <a:endParaRPr sz="1100" dirty="0">
              <a:solidFill>
                <a:schemeClr val="dk1"/>
              </a:solidFill>
            </a:endParaRPr>
          </a:p>
          <a:p>
            <a:pPr marL="0" lvl="0" indent="0" algn="l" rtl="0">
              <a:spcBef>
                <a:spcPts val="1400"/>
              </a:spcBef>
              <a:spcAft>
                <a:spcPts val="0"/>
              </a:spcAft>
              <a:buClr>
                <a:schemeClr val="dk1"/>
              </a:buClr>
              <a:buSzPts val="1100"/>
              <a:buFont typeface="Arial"/>
              <a:buNone/>
            </a:pPr>
            <a:r>
              <a:rPr lang="es-419" sz="1300" b="1" dirty="0">
                <a:solidFill>
                  <a:schemeClr val="dk1"/>
                </a:solidFill>
              </a:rPr>
              <a:t>🔹 c) Totalmente distribuidas</a:t>
            </a:r>
            <a:endParaRPr sz="1300" b="1" dirty="0">
              <a:solidFill>
                <a:schemeClr val="dk1"/>
              </a:solidFill>
            </a:endParaRPr>
          </a:p>
          <a:p>
            <a:pPr marL="457200" lvl="0" indent="-298450" algn="l" rtl="0">
              <a:spcBef>
                <a:spcPts val="1200"/>
              </a:spcBef>
              <a:spcAft>
                <a:spcPts val="0"/>
              </a:spcAft>
              <a:buClr>
                <a:schemeClr val="dk1"/>
              </a:buClr>
              <a:buSzPts val="1100"/>
              <a:buChar char="●"/>
            </a:pPr>
            <a:r>
              <a:rPr lang="es-419" sz="1100" b="1" dirty="0">
                <a:solidFill>
                  <a:schemeClr val="dk1"/>
                </a:solidFill>
              </a:rPr>
              <a:t>Todos los nodos son autónomos y contienen fragmentos de datos</a:t>
            </a:r>
            <a:r>
              <a:rPr lang="es-419" sz="1100" dirty="0">
                <a:solidFill>
                  <a:schemeClr val="dk1"/>
                </a:solidFill>
              </a:rPr>
              <a:t> (horizontal o verticalmente distribuidos).</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dirty="0">
                <a:solidFill>
                  <a:schemeClr val="dk1"/>
                </a:solidFill>
              </a:rPr>
              <a:t>No hay un nodo central; la </a:t>
            </a:r>
            <a:r>
              <a:rPr lang="es-419" sz="1100" b="1" dirty="0">
                <a:solidFill>
                  <a:schemeClr val="dk1"/>
                </a:solidFill>
              </a:rPr>
              <a:t>coordinación es colaborativa</a:t>
            </a:r>
            <a:r>
              <a:rPr lang="es-419" sz="1100" dirty="0">
                <a:solidFill>
                  <a:schemeClr val="dk1"/>
                </a:solidFill>
              </a:rPr>
              <a:t>.</a:t>
            </a:r>
            <a:endParaRPr sz="1100" dirty="0">
              <a:solidFill>
                <a:schemeClr val="dk1"/>
              </a:solidFill>
            </a:endParaRPr>
          </a:p>
          <a:p>
            <a:pPr marL="457200" lvl="0" indent="-298450" algn="l" rtl="0">
              <a:spcBef>
                <a:spcPts val="0"/>
              </a:spcBef>
              <a:spcAft>
                <a:spcPts val="0"/>
              </a:spcAft>
              <a:buClr>
                <a:schemeClr val="dk1"/>
              </a:buClr>
              <a:buSzPts val="1100"/>
              <a:buChar char="●"/>
            </a:pPr>
            <a:r>
              <a:rPr lang="es-419" sz="1100" b="1" dirty="0">
                <a:solidFill>
                  <a:schemeClr val="dk1"/>
                </a:solidFill>
              </a:rPr>
              <a:t>Ejemplo:</a:t>
            </a:r>
            <a:r>
              <a:rPr lang="es-419" sz="1100" dirty="0">
                <a:solidFill>
                  <a:schemeClr val="dk1"/>
                </a:solidFill>
              </a:rPr>
              <a:t> Sistemas como </a:t>
            </a:r>
            <a:r>
              <a:rPr lang="es-419" sz="1100" b="1" dirty="0" err="1">
                <a:solidFill>
                  <a:schemeClr val="dk1"/>
                </a:solidFill>
              </a:rPr>
              <a:t>CockroachDB</a:t>
            </a:r>
            <a:r>
              <a:rPr lang="es-419" sz="1100" dirty="0">
                <a:solidFill>
                  <a:schemeClr val="dk1"/>
                </a:solidFill>
              </a:rPr>
              <a:t> o </a:t>
            </a:r>
            <a:r>
              <a:rPr lang="es-419" sz="1100" b="1" dirty="0">
                <a:solidFill>
                  <a:schemeClr val="dk1"/>
                </a:solidFill>
              </a:rPr>
              <a:t>Google </a:t>
            </a:r>
            <a:r>
              <a:rPr lang="es-419" sz="1100" b="1" dirty="0" err="1">
                <a:solidFill>
                  <a:schemeClr val="dk1"/>
                </a:solidFill>
              </a:rPr>
              <a:t>Spanner</a:t>
            </a:r>
            <a:r>
              <a:rPr lang="es-419" sz="1100" dirty="0">
                <a:solidFill>
                  <a:schemeClr val="dk1"/>
                </a:solidFill>
              </a:rPr>
              <a:t>, donde todos los nodos actúan como iguales.</a:t>
            </a:r>
            <a:endParaRPr sz="1700" b="1" dirty="0">
              <a:solidFill>
                <a:schemeClr val="dk1"/>
              </a:solidFill>
            </a:endParaRPr>
          </a:p>
        </p:txBody>
      </p:sp>
      <p:sp>
        <p:nvSpPr>
          <p:cNvPr id="236" name="Google Shape;236;p45"/>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Distribución</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46"/>
          <p:cNvGraphicFramePr/>
          <p:nvPr/>
        </p:nvGraphicFramePr>
        <p:xfrm>
          <a:off x="0" y="0"/>
          <a:ext cx="9020175" cy="5032389"/>
        </p:xfrm>
        <a:graphic>
          <a:graphicData uri="http://schemas.openxmlformats.org/drawingml/2006/table">
            <a:tbl>
              <a:tblPr>
                <a:noFill/>
                <a:tableStyleId>{D04E7171-8CD5-40EE-8657-8693A238C7EE}</a:tableStyleId>
              </a:tblPr>
              <a:tblGrid>
                <a:gridCol w="74295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gridCol w="3829050">
                  <a:extLst>
                    <a:ext uri="{9D8B030D-6E8A-4147-A177-3AD203B41FA5}">
                      <a16:colId xmlns:a16="http://schemas.microsoft.com/office/drawing/2014/main" val="20004"/>
                    </a:ext>
                  </a:extLst>
                </a:gridCol>
              </a:tblGrid>
              <a:tr h="0">
                <a:tc>
                  <a:txBody>
                    <a:bodyPr/>
                    <a:lstStyle/>
                    <a:p>
                      <a:pPr marL="0" lvl="0" indent="0" algn="ctr" rtl="0">
                        <a:lnSpc>
                          <a:spcPct val="115000"/>
                        </a:lnSpc>
                        <a:spcBef>
                          <a:spcPts val="0"/>
                        </a:spcBef>
                        <a:spcAft>
                          <a:spcPts val="0"/>
                        </a:spcAft>
                        <a:buNone/>
                      </a:pPr>
                      <a:r>
                        <a:rPr lang="es-419" sz="1100" b="1"/>
                        <a:t>Autonomía</a:t>
                      </a:r>
                      <a:endParaRPr sz="1100" b="1"/>
                    </a:p>
                  </a:txBody>
                  <a:tcPr marL="91425" marR="91425" marT="91425" marB="91425"/>
                </a:tc>
                <a:tc>
                  <a:txBody>
                    <a:bodyPr/>
                    <a:lstStyle/>
                    <a:p>
                      <a:pPr marL="0" lvl="0" indent="0" algn="ctr" rtl="0">
                        <a:lnSpc>
                          <a:spcPct val="115000"/>
                        </a:lnSpc>
                        <a:spcBef>
                          <a:spcPts val="0"/>
                        </a:spcBef>
                        <a:spcAft>
                          <a:spcPts val="0"/>
                        </a:spcAft>
                        <a:buNone/>
                      </a:pPr>
                      <a:r>
                        <a:rPr lang="es-419" sz="1100" b="1"/>
                        <a:t>Heterogeneidad</a:t>
                      </a:r>
                      <a:endParaRPr sz="1100" b="1"/>
                    </a:p>
                  </a:txBody>
                  <a:tcPr marL="91425" marR="91425" marT="91425" marB="91425"/>
                </a:tc>
                <a:tc>
                  <a:txBody>
                    <a:bodyPr/>
                    <a:lstStyle/>
                    <a:p>
                      <a:pPr marL="0" lvl="0" indent="0" algn="ctr" rtl="0">
                        <a:lnSpc>
                          <a:spcPct val="115000"/>
                        </a:lnSpc>
                        <a:spcBef>
                          <a:spcPts val="0"/>
                        </a:spcBef>
                        <a:spcAft>
                          <a:spcPts val="0"/>
                        </a:spcAft>
                        <a:buNone/>
                      </a:pPr>
                      <a:r>
                        <a:rPr lang="es-419" sz="1100" b="1"/>
                        <a:t>Distribución</a:t>
                      </a:r>
                      <a:endParaRPr sz="1100" b="1"/>
                    </a:p>
                  </a:txBody>
                  <a:tcPr marL="91425" marR="91425" marT="91425" marB="91425"/>
                </a:tc>
                <a:tc>
                  <a:txBody>
                    <a:bodyPr/>
                    <a:lstStyle/>
                    <a:p>
                      <a:pPr marL="0" lvl="0" indent="0" algn="ctr" rtl="0">
                        <a:lnSpc>
                          <a:spcPct val="115000"/>
                        </a:lnSpc>
                        <a:spcBef>
                          <a:spcPts val="0"/>
                        </a:spcBef>
                        <a:spcAft>
                          <a:spcPts val="0"/>
                        </a:spcAft>
                        <a:buNone/>
                      </a:pPr>
                      <a:r>
                        <a:rPr lang="es-419" sz="1100" b="1"/>
                        <a:t>Modelo</a:t>
                      </a:r>
                      <a:endParaRPr sz="1100" b="1"/>
                    </a:p>
                  </a:txBody>
                  <a:tcPr marL="91425" marR="91425" marT="91425" marB="91425"/>
                </a:tc>
                <a:tc>
                  <a:txBody>
                    <a:bodyPr/>
                    <a:lstStyle/>
                    <a:p>
                      <a:pPr marL="0" lvl="0" indent="0" algn="ctr" rtl="0">
                        <a:lnSpc>
                          <a:spcPct val="115000"/>
                        </a:lnSpc>
                        <a:spcBef>
                          <a:spcPts val="0"/>
                        </a:spcBef>
                        <a:spcAft>
                          <a:spcPts val="0"/>
                        </a:spcAft>
                        <a:buNone/>
                      </a:pPr>
                      <a:r>
                        <a:rPr lang="es-419" sz="1100" b="1"/>
                        <a:t>Características</a:t>
                      </a:r>
                      <a:endParaRPr sz="1100" b="1"/>
                    </a:p>
                  </a:txBody>
                  <a:tcPr marL="91425" marR="91425" marT="91425" marB="91425"/>
                </a:tc>
                <a:extLst>
                  <a:ext uri="{0D108BD9-81ED-4DB2-BD59-A6C34878D82A}">
                    <a16:rowId xmlns:a16="http://schemas.microsoft.com/office/drawing/2014/main" val="10000"/>
                  </a:ext>
                </a:extLst>
              </a:tr>
              <a:tr h="36195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Centralizado clásico</a:t>
                      </a:r>
                      <a:endParaRPr/>
                    </a:p>
                  </a:txBody>
                  <a:tcPr marL="91425" marR="91425" marT="91425" marB="91425"/>
                </a:tc>
                <a:tc>
                  <a:txBody>
                    <a:bodyPr/>
                    <a:lstStyle/>
                    <a:p>
                      <a:pPr marL="0" lvl="0" indent="0" algn="l" rtl="0">
                        <a:spcBef>
                          <a:spcPts val="0"/>
                        </a:spcBef>
                        <a:spcAft>
                          <a:spcPts val="0"/>
                        </a:spcAft>
                        <a:buNone/>
                      </a:pPr>
                      <a:r>
                        <a:rPr lang="es-419"/>
                        <a:t>Todos los datos y control en un único nodo; homogéneo, sin distribución</a:t>
                      </a:r>
                      <a:endParaRPr/>
                    </a:p>
                  </a:txBody>
                  <a:tcPr marL="91425" marR="91425" marT="91425" marB="91425"/>
                </a:tc>
                <a:extLst>
                  <a:ext uri="{0D108BD9-81ED-4DB2-BD59-A6C34878D82A}">
                    <a16:rowId xmlns:a16="http://schemas.microsoft.com/office/drawing/2014/main" val="10001"/>
                  </a:ext>
                </a:extLst>
              </a:tr>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Autonomía local sin distribución</a:t>
                      </a:r>
                      <a:endParaRPr/>
                    </a:p>
                  </a:txBody>
                  <a:tcPr marL="91425" marR="91425" marT="91425" marB="91425"/>
                </a:tc>
                <a:tc>
                  <a:txBody>
                    <a:bodyPr/>
                    <a:lstStyle/>
                    <a:p>
                      <a:pPr marL="0" lvl="0" indent="0" algn="l" rtl="0">
                        <a:spcBef>
                          <a:spcPts val="0"/>
                        </a:spcBef>
                        <a:spcAft>
                          <a:spcPts val="0"/>
                        </a:spcAft>
                        <a:buNone/>
                      </a:pPr>
                      <a:r>
                        <a:rPr lang="es-419"/>
                        <a:t>Nodos con control local limitado, pero datos permanecen centralizados; homogéneo</a:t>
                      </a:r>
                      <a:endParaRPr/>
                    </a:p>
                  </a:txBody>
                  <a:tcPr marL="91425" marR="91425" marT="91425" marB="91425"/>
                </a:tc>
                <a:extLst>
                  <a:ext uri="{0D108BD9-81ED-4DB2-BD59-A6C34878D82A}">
                    <a16:rowId xmlns:a16="http://schemas.microsoft.com/office/drawing/2014/main" val="10002"/>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Autonomía total sin distribución</a:t>
                      </a:r>
                      <a:endParaRPr/>
                    </a:p>
                  </a:txBody>
                  <a:tcPr marL="91425" marR="91425" marT="91425" marB="91425"/>
                </a:tc>
                <a:tc>
                  <a:txBody>
                    <a:bodyPr/>
                    <a:lstStyle/>
                    <a:p>
                      <a:pPr marL="0" lvl="0" indent="0" algn="l" rtl="0">
                        <a:spcBef>
                          <a:spcPts val="0"/>
                        </a:spcBef>
                        <a:spcAft>
                          <a:spcPts val="0"/>
                        </a:spcAft>
                        <a:buNone/>
                      </a:pPr>
                      <a:r>
                        <a:rPr lang="es-419"/>
                        <a:t>Nodos completamente autónomos, datos centralizados; homogéneo</a:t>
                      </a:r>
                      <a:endParaRPr/>
                    </a:p>
                  </a:txBody>
                  <a:tcPr marL="91425" marR="91425" marT="91425" marB="91425"/>
                </a:tc>
                <a:extLst>
                  <a:ext uri="{0D108BD9-81ED-4DB2-BD59-A6C34878D82A}">
                    <a16:rowId xmlns:a16="http://schemas.microsoft.com/office/drawing/2014/main" val="10003"/>
                  </a:ext>
                </a:extLst>
              </a:tr>
              <a:tr h="36195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sin autonomía</a:t>
                      </a:r>
                      <a:endParaRPr/>
                    </a:p>
                  </a:txBody>
                  <a:tcPr marL="91425" marR="91425" marT="91425" marB="91425"/>
                </a:tc>
                <a:tc>
                  <a:txBody>
                    <a:bodyPr/>
                    <a:lstStyle/>
                    <a:p>
                      <a:pPr marL="0" lvl="0" indent="0" algn="l" rtl="0">
                        <a:spcBef>
                          <a:spcPts val="0"/>
                        </a:spcBef>
                        <a:spcAft>
                          <a:spcPts val="0"/>
                        </a:spcAft>
                        <a:buNone/>
                      </a:pPr>
                      <a:r>
                        <a:rPr lang="es-419"/>
                        <a:t>Datos parcialmente replicados o fragmentados; control centralizado; homogéneo</a:t>
                      </a:r>
                      <a:endParaRPr/>
                    </a:p>
                  </a:txBody>
                  <a:tcPr marL="91425" marR="91425" marT="91425" marB="91425"/>
                </a:tc>
                <a:extLst>
                  <a:ext uri="{0D108BD9-81ED-4DB2-BD59-A6C34878D82A}">
                    <a16:rowId xmlns:a16="http://schemas.microsoft.com/office/drawing/2014/main" val="10004"/>
                  </a:ext>
                </a:extLst>
              </a:tr>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con autonomía parcial</a:t>
                      </a:r>
                      <a:endParaRPr/>
                    </a:p>
                  </a:txBody>
                  <a:tcPr marL="91425" marR="91425" marT="91425" marB="91425"/>
                </a:tc>
                <a:tc>
                  <a:txBody>
                    <a:bodyPr/>
                    <a:lstStyle/>
                    <a:p>
                      <a:pPr marL="0" lvl="0" indent="0" algn="l" rtl="0">
                        <a:spcBef>
                          <a:spcPts val="0"/>
                        </a:spcBef>
                        <a:spcAft>
                          <a:spcPts val="0"/>
                        </a:spcAft>
                        <a:buNone/>
                      </a:pPr>
                      <a:r>
                        <a:rPr lang="es-419"/>
                        <a:t>Nodos con algo de control, datos parcialmente distribuidos; homogéneo</a:t>
                      </a:r>
                      <a:endParaRPr/>
                    </a:p>
                  </a:txBody>
                  <a:tcPr marL="91425" marR="91425" marT="91425" marB="91425"/>
                </a:tc>
                <a:extLst>
                  <a:ext uri="{0D108BD9-81ED-4DB2-BD59-A6C34878D82A}">
                    <a16:rowId xmlns:a16="http://schemas.microsoft.com/office/drawing/2014/main" val="10005"/>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con autonomía total</a:t>
                      </a:r>
                      <a:endParaRPr/>
                    </a:p>
                  </a:txBody>
                  <a:tcPr marL="91425" marR="91425" marT="91425" marB="91425"/>
                </a:tc>
                <a:tc>
                  <a:txBody>
                    <a:bodyPr/>
                    <a:lstStyle/>
                    <a:p>
                      <a:pPr marL="0" lvl="0" indent="0" algn="l" rtl="0">
                        <a:spcBef>
                          <a:spcPts val="0"/>
                        </a:spcBef>
                        <a:spcAft>
                          <a:spcPts val="0"/>
                        </a:spcAft>
                        <a:buNone/>
                      </a:pPr>
                      <a:r>
                        <a:rPr lang="es-419"/>
                        <a:t>Nodos autónomos, datos parcialmente distribuidos; homogéneo</a:t>
                      </a:r>
                      <a:endParaRPr/>
                    </a:p>
                  </a:txBody>
                  <a:tcPr marL="91425" marR="91425" marT="91425" marB="91425"/>
                </a:tc>
                <a:extLst>
                  <a:ext uri="{0D108BD9-81ED-4DB2-BD59-A6C34878D82A}">
                    <a16:rowId xmlns:a16="http://schemas.microsoft.com/office/drawing/2014/main" val="10006"/>
                  </a:ext>
                </a:extLst>
              </a:tr>
              <a:tr h="36195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sin autonomía</a:t>
                      </a:r>
                      <a:endParaRPr/>
                    </a:p>
                  </a:txBody>
                  <a:tcPr marL="91425" marR="91425" marT="91425" marB="91425"/>
                </a:tc>
                <a:tc>
                  <a:txBody>
                    <a:bodyPr/>
                    <a:lstStyle/>
                    <a:p>
                      <a:pPr marL="0" lvl="0" indent="0" algn="l" rtl="0">
                        <a:spcBef>
                          <a:spcPts val="0"/>
                        </a:spcBef>
                        <a:spcAft>
                          <a:spcPts val="0"/>
                        </a:spcAft>
                        <a:buNone/>
                      </a:pPr>
                      <a:r>
                        <a:rPr lang="es-419"/>
                        <a:t>Control central, datos totalmente fragmentados y replicados; homogéneo</a:t>
                      </a:r>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graphicFrame>
        <p:nvGraphicFramePr>
          <p:cNvPr id="246" name="Google Shape;246;p47"/>
          <p:cNvGraphicFramePr/>
          <p:nvPr/>
        </p:nvGraphicFramePr>
        <p:xfrm>
          <a:off x="0" y="0"/>
          <a:ext cx="9020175" cy="5303280"/>
        </p:xfrm>
        <a:graphic>
          <a:graphicData uri="http://schemas.openxmlformats.org/drawingml/2006/table">
            <a:tbl>
              <a:tblPr>
                <a:noFill/>
                <a:tableStyleId>{D04E7171-8CD5-40EE-8657-8693A238C7EE}</a:tableStyleId>
              </a:tblPr>
              <a:tblGrid>
                <a:gridCol w="74295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gridCol w="3829050">
                  <a:extLst>
                    <a:ext uri="{9D8B030D-6E8A-4147-A177-3AD203B41FA5}">
                      <a16:colId xmlns:a16="http://schemas.microsoft.com/office/drawing/2014/main" val="20004"/>
                    </a:ext>
                  </a:extLst>
                </a:gridCol>
              </a:tblGrid>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con autonomía parcial</a:t>
                      </a:r>
                      <a:endParaRPr/>
                    </a:p>
                  </a:txBody>
                  <a:tcPr marL="91425" marR="91425" marT="91425" marB="91425"/>
                </a:tc>
                <a:tc>
                  <a:txBody>
                    <a:bodyPr/>
                    <a:lstStyle/>
                    <a:p>
                      <a:pPr marL="0" lvl="0" indent="0" algn="l" rtl="0">
                        <a:spcBef>
                          <a:spcPts val="0"/>
                        </a:spcBef>
                        <a:spcAft>
                          <a:spcPts val="0"/>
                        </a:spcAft>
                        <a:buNone/>
                      </a:pPr>
                      <a:r>
                        <a:rPr lang="es-419"/>
                        <a:t>Nodos con autonomía parcial, datos totalmente distribuidos; homogéneo</a:t>
                      </a:r>
                      <a:endParaRPr/>
                    </a:p>
                  </a:txBody>
                  <a:tcPr marL="91425" marR="91425" marT="91425" marB="91425"/>
                </a:tc>
                <a:extLst>
                  <a:ext uri="{0D108BD9-81ED-4DB2-BD59-A6C34878D82A}">
                    <a16:rowId xmlns:a16="http://schemas.microsoft.com/office/drawing/2014/main" val="10000"/>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con autonomía total</a:t>
                      </a:r>
                      <a:endParaRPr/>
                    </a:p>
                  </a:txBody>
                  <a:tcPr marL="91425" marR="91425" marT="91425" marB="91425"/>
                </a:tc>
                <a:tc>
                  <a:txBody>
                    <a:bodyPr/>
                    <a:lstStyle/>
                    <a:p>
                      <a:pPr marL="0" lvl="0" indent="0" algn="l" rtl="0">
                        <a:spcBef>
                          <a:spcPts val="0"/>
                        </a:spcBef>
                        <a:spcAft>
                          <a:spcPts val="0"/>
                        </a:spcAft>
                        <a:buNone/>
                      </a:pPr>
                      <a:r>
                        <a:rPr lang="es-419"/>
                        <a:t>Nodos autónomos, datos fragmentados y replicados; homogéneo</a:t>
                      </a:r>
                      <a:endParaRPr/>
                    </a:p>
                  </a:txBody>
                  <a:tcPr marL="91425" marR="91425" marT="91425" marB="91425"/>
                </a:tc>
                <a:extLst>
                  <a:ext uri="{0D108BD9-81ED-4DB2-BD59-A6C34878D82A}">
                    <a16:rowId xmlns:a16="http://schemas.microsoft.com/office/drawing/2014/main" val="10001"/>
                  </a:ext>
                </a:extLst>
              </a:tr>
              <a:tr h="36195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Sistema centralizado heterogéneo</a:t>
                      </a:r>
                      <a:endParaRPr/>
                    </a:p>
                  </a:txBody>
                  <a:tcPr marL="91425" marR="91425" marT="91425" marB="91425"/>
                </a:tc>
                <a:tc>
                  <a:txBody>
                    <a:bodyPr/>
                    <a:lstStyle/>
                    <a:p>
                      <a:pPr marL="0" lvl="0" indent="0" algn="l" rtl="0">
                        <a:spcBef>
                          <a:spcPts val="0"/>
                        </a:spcBef>
                        <a:spcAft>
                          <a:spcPts val="0"/>
                        </a:spcAft>
                        <a:buNone/>
                      </a:pPr>
                      <a:r>
                        <a:rPr lang="es-419"/>
                        <a:t>Datos centralizados pero con distintos SGBD o modelos de datos; sin autonomía</a:t>
                      </a:r>
                      <a:endParaRPr/>
                    </a:p>
                  </a:txBody>
                  <a:tcPr marL="91425" marR="91425" marT="91425" marB="91425"/>
                </a:tc>
                <a:extLst>
                  <a:ext uri="{0D108BD9-81ED-4DB2-BD59-A6C34878D82A}">
                    <a16:rowId xmlns:a16="http://schemas.microsoft.com/office/drawing/2014/main" val="10002"/>
                  </a:ext>
                </a:extLst>
              </a:tr>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Autonomía parcial heterogénea</a:t>
                      </a:r>
                      <a:endParaRPr/>
                    </a:p>
                  </a:txBody>
                  <a:tcPr marL="91425" marR="91425" marT="91425" marB="91425"/>
                </a:tc>
                <a:tc>
                  <a:txBody>
                    <a:bodyPr/>
                    <a:lstStyle/>
                    <a:p>
                      <a:pPr marL="0" lvl="0" indent="0" algn="l" rtl="0">
                        <a:spcBef>
                          <a:spcPts val="0"/>
                        </a:spcBef>
                        <a:spcAft>
                          <a:spcPts val="0"/>
                        </a:spcAft>
                        <a:buNone/>
                      </a:pPr>
                      <a:r>
                        <a:rPr lang="es-419"/>
                        <a:t>Nodos parcialmente autónomos, datos centralizados, heterogéneo</a:t>
                      </a:r>
                      <a:endParaRPr/>
                    </a:p>
                  </a:txBody>
                  <a:tcPr marL="91425" marR="91425" marT="91425" marB="91425"/>
                </a:tc>
                <a:extLst>
                  <a:ext uri="{0D108BD9-81ED-4DB2-BD59-A6C34878D82A}">
                    <a16:rowId xmlns:a16="http://schemas.microsoft.com/office/drawing/2014/main" val="10003"/>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Autonomía total heterogénea</a:t>
                      </a:r>
                      <a:endParaRPr/>
                    </a:p>
                  </a:txBody>
                  <a:tcPr marL="91425" marR="91425" marT="91425" marB="91425"/>
                </a:tc>
                <a:tc>
                  <a:txBody>
                    <a:bodyPr/>
                    <a:lstStyle/>
                    <a:p>
                      <a:pPr marL="0" lvl="0" indent="0" algn="l" rtl="0">
                        <a:spcBef>
                          <a:spcPts val="0"/>
                        </a:spcBef>
                        <a:spcAft>
                          <a:spcPts val="0"/>
                        </a:spcAft>
                        <a:buNone/>
                      </a:pPr>
                      <a:r>
                        <a:rPr lang="es-419"/>
                        <a:t>Nodos completamente autónomos, datos centralizados, heterogéneo</a:t>
                      </a:r>
                      <a:endParaRPr/>
                    </a:p>
                  </a:txBody>
                  <a:tcPr marL="91425" marR="91425" marT="91425" marB="91425"/>
                </a:tc>
                <a:extLst>
                  <a:ext uri="{0D108BD9-81ED-4DB2-BD59-A6C34878D82A}">
                    <a16:rowId xmlns:a16="http://schemas.microsoft.com/office/drawing/2014/main" val="10004"/>
                  </a:ext>
                </a:extLst>
              </a:tr>
              <a:tr h="36195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heterogénea</a:t>
                      </a:r>
                      <a:endParaRPr/>
                    </a:p>
                  </a:txBody>
                  <a:tcPr marL="91425" marR="91425" marT="91425" marB="91425"/>
                </a:tc>
                <a:tc>
                  <a:txBody>
                    <a:bodyPr/>
                    <a:lstStyle/>
                    <a:p>
                      <a:pPr marL="0" lvl="0" indent="0" algn="l" rtl="0">
                        <a:spcBef>
                          <a:spcPts val="0"/>
                        </a:spcBef>
                        <a:spcAft>
                          <a:spcPts val="0"/>
                        </a:spcAft>
                        <a:buNone/>
                      </a:pPr>
                      <a:r>
                        <a:rPr lang="es-419"/>
                        <a:t>Datos parcialmente distribuidos, control centralizado, heterogéneo</a:t>
                      </a:r>
                      <a:endParaRPr/>
                    </a:p>
                  </a:txBody>
                  <a:tcPr marL="91425" marR="91425" marT="91425" marB="91425"/>
                </a:tc>
                <a:extLst>
                  <a:ext uri="{0D108BD9-81ED-4DB2-BD59-A6C34878D82A}">
                    <a16:rowId xmlns:a16="http://schemas.microsoft.com/office/drawing/2014/main" val="10005"/>
                  </a:ext>
                </a:extLst>
              </a:tr>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heterogénea con autonomía parcial</a:t>
                      </a:r>
                      <a:endParaRPr/>
                    </a:p>
                  </a:txBody>
                  <a:tcPr marL="91425" marR="91425" marT="91425" marB="91425"/>
                </a:tc>
                <a:tc>
                  <a:txBody>
                    <a:bodyPr/>
                    <a:lstStyle/>
                    <a:p>
                      <a:pPr marL="0" lvl="0" indent="0" algn="l" rtl="0">
                        <a:spcBef>
                          <a:spcPts val="0"/>
                        </a:spcBef>
                        <a:spcAft>
                          <a:spcPts val="0"/>
                        </a:spcAft>
                        <a:buNone/>
                      </a:pPr>
                      <a:r>
                        <a:rPr lang="es-419"/>
                        <a:t>Nodos parcialmente autónomos, datos parcialmente distribuidos, heterogéneo</a:t>
                      </a:r>
                      <a:endParaRPr/>
                    </a:p>
                  </a:txBody>
                  <a:tcPr marL="91425" marR="91425" marT="91425" marB="91425"/>
                </a:tc>
                <a:extLst>
                  <a:ext uri="{0D108BD9-81ED-4DB2-BD59-A6C34878D82A}">
                    <a16:rowId xmlns:a16="http://schemas.microsoft.com/office/drawing/2014/main" val="10006"/>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Distribución parcial heterogénea con autonomía total</a:t>
                      </a:r>
                      <a:endParaRPr/>
                    </a:p>
                  </a:txBody>
                  <a:tcPr marL="91425" marR="91425" marT="91425" marB="91425"/>
                </a:tc>
                <a:tc>
                  <a:txBody>
                    <a:bodyPr/>
                    <a:lstStyle/>
                    <a:p>
                      <a:pPr marL="0" lvl="0" indent="0" algn="l" rtl="0">
                        <a:spcBef>
                          <a:spcPts val="0"/>
                        </a:spcBef>
                        <a:spcAft>
                          <a:spcPts val="0"/>
                        </a:spcAft>
                        <a:buNone/>
                      </a:pPr>
                      <a:r>
                        <a:rPr lang="es-419"/>
                        <a:t>Nodos autónomos, datos parcialmente distribuidos, heterogéneo</a:t>
                      </a:r>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aphicFrame>
        <p:nvGraphicFramePr>
          <p:cNvPr id="251" name="Google Shape;251;p48"/>
          <p:cNvGraphicFramePr/>
          <p:nvPr/>
        </p:nvGraphicFramePr>
        <p:xfrm>
          <a:off x="0" y="0"/>
          <a:ext cx="9020175" cy="1828710"/>
        </p:xfrm>
        <a:graphic>
          <a:graphicData uri="http://schemas.openxmlformats.org/drawingml/2006/table">
            <a:tbl>
              <a:tblPr>
                <a:noFill/>
                <a:tableStyleId>{D04E7171-8CD5-40EE-8657-8693A238C7EE}</a:tableStyleId>
              </a:tblPr>
              <a:tblGrid>
                <a:gridCol w="74295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gridCol w="3829050">
                  <a:extLst>
                    <a:ext uri="{9D8B030D-6E8A-4147-A177-3AD203B41FA5}">
                      <a16:colId xmlns:a16="http://schemas.microsoft.com/office/drawing/2014/main" val="20004"/>
                    </a:ext>
                  </a:extLst>
                </a:gridCol>
              </a:tblGrid>
              <a:tr h="0">
                <a:tc>
                  <a:txBody>
                    <a:bodyPr/>
                    <a:lstStyle/>
                    <a:p>
                      <a:pPr marL="0" lvl="0" indent="0" algn="l" rtl="0">
                        <a:spcBef>
                          <a:spcPts val="0"/>
                        </a:spcBef>
                        <a:spcAft>
                          <a:spcPts val="0"/>
                        </a:spcAft>
                        <a:buNone/>
                      </a:pPr>
                      <a:r>
                        <a:rPr lang="es-419"/>
                        <a:t>0</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heterogénea</a:t>
                      </a:r>
                      <a:endParaRPr/>
                    </a:p>
                  </a:txBody>
                  <a:tcPr marL="91425" marR="91425" marT="91425" marB="91425"/>
                </a:tc>
                <a:tc>
                  <a:txBody>
                    <a:bodyPr/>
                    <a:lstStyle/>
                    <a:p>
                      <a:pPr marL="0" lvl="0" indent="0" algn="l" rtl="0">
                        <a:spcBef>
                          <a:spcPts val="0"/>
                        </a:spcBef>
                        <a:spcAft>
                          <a:spcPts val="0"/>
                        </a:spcAft>
                        <a:buNone/>
                      </a:pPr>
                      <a:r>
                        <a:rPr lang="es-419"/>
                        <a:t>Control central, datos totalmente distribuidos, heterogéneo</a:t>
                      </a:r>
                      <a:endParaRPr/>
                    </a:p>
                  </a:txBody>
                  <a:tcPr marL="91425" marR="91425" marT="91425" marB="91425"/>
                </a:tc>
                <a:extLst>
                  <a:ext uri="{0D108BD9-81ED-4DB2-BD59-A6C34878D82A}">
                    <a16:rowId xmlns:a16="http://schemas.microsoft.com/office/drawing/2014/main" val="10000"/>
                  </a:ext>
                </a:extLst>
              </a:tr>
              <a:tr h="361950">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heterogénea con autonomía parcial</a:t>
                      </a:r>
                      <a:endParaRPr/>
                    </a:p>
                  </a:txBody>
                  <a:tcPr marL="91425" marR="91425" marT="91425" marB="91425"/>
                </a:tc>
                <a:tc>
                  <a:txBody>
                    <a:bodyPr/>
                    <a:lstStyle/>
                    <a:p>
                      <a:pPr marL="0" lvl="0" indent="0" algn="l" rtl="0">
                        <a:spcBef>
                          <a:spcPts val="0"/>
                        </a:spcBef>
                        <a:spcAft>
                          <a:spcPts val="0"/>
                        </a:spcAft>
                        <a:buNone/>
                      </a:pPr>
                      <a:r>
                        <a:rPr lang="es-419"/>
                        <a:t>Nodos parcialmente autónomos, datos totalmente distribuidos, heterogéneo</a:t>
                      </a:r>
                      <a:endParaRPr/>
                    </a:p>
                  </a:txBody>
                  <a:tcPr marL="91425" marR="91425" marT="91425" marB="91425"/>
                </a:tc>
                <a:extLst>
                  <a:ext uri="{0D108BD9-81ED-4DB2-BD59-A6C34878D82A}">
                    <a16:rowId xmlns:a16="http://schemas.microsoft.com/office/drawing/2014/main" val="10001"/>
                  </a:ext>
                </a:extLst>
              </a:tr>
              <a:tr h="361950">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1</a:t>
                      </a:r>
                      <a:endParaRPr/>
                    </a:p>
                  </a:txBody>
                  <a:tcPr marL="91425" marR="91425" marT="91425" marB="91425"/>
                </a:tc>
                <a:tc>
                  <a:txBody>
                    <a:bodyPr/>
                    <a:lstStyle/>
                    <a:p>
                      <a:pPr marL="0" lvl="0" indent="0" algn="l" rtl="0">
                        <a:spcBef>
                          <a:spcPts val="0"/>
                        </a:spcBef>
                        <a:spcAft>
                          <a:spcPts val="0"/>
                        </a:spcAft>
                        <a:buNone/>
                      </a:pPr>
                      <a:r>
                        <a:rPr lang="es-419"/>
                        <a:t>2</a:t>
                      </a:r>
                      <a:endParaRPr/>
                    </a:p>
                  </a:txBody>
                  <a:tcPr marL="91425" marR="91425" marT="91425" marB="91425"/>
                </a:tc>
                <a:tc>
                  <a:txBody>
                    <a:bodyPr/>
                    <a:lstStyle/>
                    <a:p>
                      <a:pPr marL="0" lvl="0" indent="0" algn="l" rtl="0">
                        <a:spcBef>
                          <a:spcPts val="0"/>
                        </a:spcBef>
                        <a:spcAft>
                          <a:spcPts val="0"/>
                        </a:spcAft>
                        <a:buNone/>
                      </a:pPr>
                      <a:r>
                        <a:rPr lang="es-419"/>
                        <a:t>Distribución total heterogénea con autonomía total</a:t>
                      </a:r>
                      <a:endParaRPr/>
                    </a:p>
                  </a:txBody>
                  <a:tcPr marL="91425" marR="91425" marT="91425" marB="91425"/>
                </a:tc>
                <a:tc>
                  <a:txBody>
                    <a:bodyPr/>
                    <a:lstStyle/>
                    <a:p>
                      <a:pPr marL="0" lvl="0" indent="0" algn="l" rtl="0">
                        <a:spcBef>
                          <a:spcPts val="0"/>
                        </a:spcBef>
                        <a:spcAft>
                          <a:spcPts val="0"/>
                        </a:spcAft>
                        <a:buNone/>
                      </a:pPr>
                      <a:r>
                        <a:rPr lang="es-419"/>
                        <a:t>Nodos totalmente autónomos, datos totalmente distribuidos, heterogéneo</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9"/>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2000">
                <a:solidFill>
                  <a:schemeClr val="dk1"/>
                </a:solidFill>
              </a:rPr>
              <a:t>Arquitectura Cliente-Servidor para DDBMS</a:t>
            </a:r>
            <a:br>
              <a:rPr lang="es-419" sz="2000">
                <a:solidFill>
                  <a:schemeClr val="dk1"/>
                </a:solidFill>
              </a:rPr>
            </a:br>
            <a:endParaRPr sz="2000">
              <a:solidFill>
                <a:schemeClr val="dk1"/>
              </a:solidFill>
            </a:endParaRPr>
          </a:p>
          <a:p>
            <a:pPr marL="0" lvl="0" indent="0" algn="l" rtl="0">
              <a:spcBef>
                <a:spcPts val="0"/>
              </a:spcBef>
              <a:spcAft>
                <a:spcPts val="0"/>
              </a:spcAft>
              <a:buNone/>
            </a:pPr>
            <a:r>
              <a:rPr lang="es-419" sz="2000">
                <a:solidFill>
                  <a:schemeClr val="dk1"/>
                </a:solidFill>
              </a:rPr>
              <a:t>Arquitectura Peer-to-Peer (P2P) para DDBMS</a:t>
            </a:r>
            <a:br>
              <a:rPr lang="es-419" sz="2000">
                <a:solidFill>
                  <a:schemeClr val="dk1"/>
                </a:solidFill>
              </a:rPr>
            </a:br>
            <a:endParaRPr sz="2000">
              <a:solidFill>
                <a:schemeClr val="dk1"/>
              </a:solidFill>
            </a:endParaRPr>
          </a:p>
          <a:p>
            <a:pPr marL="0" lvl="0" indent="0" algn="l" rtl="0">
              <a:spcBef>
                <a:spcPts val="0"/>
              </a:spcBef>
              <a:spcAft>
                <a:spcPts val="0"/>
              </a:spcAft>
              <a:buNone/>
            </a:pPr>
            <a:r>
              <a:rPr lang="es-419" sz="2000">
                <a:solidFill>
                  <a:schemeClr val="dk1"/>
                </a:solidFill>
              </a:rPr>
              <a:t>Arquitectura Multi-DBMS</a:t>
            </a:r>
            <a:endParaRPr sz="2000">
              <a:solidFill>
                <a:schemeClr val="dk1"/>
              </a:solidFill>
            </a:endParaRPr>
          </a:p>
          <a:p>
            <a:pPr marL="0" lvl="0" indent="0" algn="l" rtl="0">
              <a:spcBef>
                <a:spcPts val="0"/>
              </a:spcBef>
              <a:spcAft>
                <a:spcPts val="0"/>
              </a:spcAft>
              <a:buNone/>
            </a:pPr>
            <a:endParaRPr sz="2000">
              <a:solidFill>
                <a:schemeClr val="dk1"/>
              </a:solidFill>
            </a:endParaRPr>
          </a:p>
        </p:txBody>
      </p:sp>
      <p:sp>
        <p:nvSpPr>
          <p:cNvPr id="257" name="Google Shape;257;p49"/>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Modelos Arquitectónicos Comunes</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50"/>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Clr>
                <a:schemeClr val="dk1"/>
              </a:buClr>
              <a:buSzPts val="1100"/>
              <a:buChar char="●"/>
            </a:pPr>
            <a:r>
              <a:rPr lang="es-419" sz="1100">
                <a:solidFill>
                  <a:schemeClr val="dk1"/>
                </a:solidFill>
              </a:rPr>
              <a:t>Es una arquitectura de </a:t>
            </a:r>
            <a:r>
              <a:rPr lang="es-419" sz="1100" b="1">
                <a:solidFill>
                  <a:schemeClr val="dk1"/>
                </a:solidFill>
              </a:rPr>
              <a:t>dos niveles</a:t>
            </a:r>
            <a:r>
              <a:rPr lang="es-419" sz="1100">
                <a:solidFill>
                  <a:schemeClr val="dk1"/>
                </a:solidFill>
              </a:rPr>
              <a:t> que divide las funciones entre </a:t>
            </a:r>
            <a:r>
              <a:rPr lang="es-419" sz="1100" b="1">
                <a:solidFill>
                  <a:schemeClr val="dk1"/>
                </a:solidFill>
              </a:rPr>
              <a:t>servidores</a:t>
            </a:r>
            <a:r>
              <a:rPr lang="es-419" sz="1100">
                <a:solidFill>
                  <a:schemeClr val="dk1"/>
                </a:solidFill>
              </a:rPr>
              <a:t> y </a:t>
            </a:r>
            <a:r>
              <a:rPr lang="es-419" sz="1100" b="1">
                <a:solidFill>
                  <a:schemeClr val="dk1"/>
                </a:solidFill>
              </a:rPr>
              <a:t>clientes.</a:t>
            </a:r>
            <a:br>
              <a:rPr lang="es-419" sz="1100" b="1">
                <a:solidFill>
                  <a:schemeClr val="dk1"/>
                </a:solidFill>
              </a:rPr>
            </a:br>
            <a:endParaRPr sz="1100" b="1">
              <a:solidFill>
                <a:schemeClr val="dk1"/>
              </a:solidFill>
            </a:endParaRPr>
          </a:p>
          <a:p>
            <a:pPr marL="457200" lvl="0" indent="-298450" algn="l" rtl="0">
              <a:spcBef>
                <a:spcPts val="0"/>
              </a:spcBef>
              <a:spcAft>
                <a:spcPts val="0"/>
              </a:spcAft>
              <a:buClr>
                <a:schemeClr val="dk1"/>
              </a:buClr>
              <a:buSzPts val="1100"/>
              <a:buChar char="●"/>
            </a:pPr>
            <a:r>
              <a:rPr lang="es-419" sz="1100" b="1">
                <a:solidFill>
                  <a:schemeClr val="dk1"/>
                </a:solidFill>
              </a:rPr>
              <a:t>Funciones del servidor:</a:t>
            </a:r>
            <a:r>
              <a:rPr lang="es-419" sz="1100">
                <a:solidFill>
                  <a:schemeClr val="dk1"/>
                </a:solidFill>
              </a:rPr>
              <a:t> gestión de datos, procesamiento de consultas, optimización y administración de transacciones.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s-419" sz="1100" b="1">
                <a:solidFill>
                  <a:schemeClr val="dk1"/>
                </a:solidFill>
              </a:rPr>
              <a:t>Funciones del cliente:</a:t>
            </a:r>
            <a:r>
              <a:rPr lang="es-419" sz="1100">
                <a:solidFill>
                  <a:schemeClr val="dk1"/>
                </a:solidFill>
              </a:rPr>
              <a:t> interfaz de usuario, verificación de consistencia y gestión parcial de transacciones.</a:t>
            </a:r>
            <a:br>
              <a:rPr lang="es-419" sz="1100">
                <a:solidFill>
                  <a:schemeClr val="dk1"/>
                </a:solidFill>
              </a:rPr>
            </a:br>
            <a:endParaRPr sz="1100">
              <a:solidFill>
                <a:schemeClr val="dk1"/>
              </a:solidFill>
            </a:endParaRPr>
          </a:p>
          <a:p>
            <a:pPr marL="0" lvl="0" indent="0" algn="l" rtl="0">
              <a:spcBef>
                <a:spcPts val="1200"/>
              </a:spcBef>
              <a:spcAft>
                <a:spcPts val="0"/>
              </a:spcAft>
              <a:buNone/>
            </a:pPr>
            <a:r>
              <a:rPr lang="es-419" sz="1100" b="1">
                <a:solidFill>
                  <a:schemeClr val="dk1"/>
                </a:solidFill>
              </a:rPr>
              <a:t>Subtipos:</a:t>
            </a:r>
            <a:endParaRPr sz="1100" b="1">
              <a:solidFill>
                <a:schemeClr val="dk1"/>
              </a:solidFill>
            </a:endParaRPr>
          </a:p>
          <a:p>
            <a:pPr marL="457200" lvl="0" indent="-298450" algn="l" rtl="0">
              <a:spcBef>
                <a:spcPts val="1200"/>
              </a:spcBef>
              <a:spcAft>
                <a:spcPts val="0"/>
              </a:spcAft>
              <a:buClr>
                <a:schemeClr val="dk1"/>
              </a:buClr>
              <a:buSzPts val="1100"/>
              <a:buChar char="●"/>
            </a:pPr>
            <a:r>
              <a:rPr lang="es-419" sz="1100">
                <a:solidFill>
                  <a:schemeClr val="dk1"/>
                </a:solidFill>
              </a:rPr>
              <a:t>Un Servidor – Múltiples Clientes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s-419" sz="1100">
                <a:solidFill>
                  <a:schemeClr val="dk1"/>
                </a:solidFill>
              </a:rPr>
              <a:t>Múltiples Servidores – Múltiples Clientes</a:t>
            </a:r>
            <a:endParaRPr sz="1100">
              <a:solidFill>
                <a:schemeClr val="dk1"/>
              </a:solidFill>
            </a:endParaRPr>
          </a:p>
          <a:p>
            <a:pPr marL="0" lvl="0" indent="0" algn="l" rtl="0">
              <a:spcBef>
                <a:spcPts val="120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p:txBody>
      </p:sp>
      <p:sp>
        <p:nvSpPr>
          <p:cNvPr id="263" name="Google Shape;263;p50"/>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Arquitectura Cliente-Servidor</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1"/>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Clr>
                <a:schemeClr val="dk1"/>
              </a:buClr>
              <a:buSzPts val="1100"/>
              <a:buChar char="●"/>
            </a:pPr>
            <a:r>
              <a:rPr lang="es-419" sz="1100">
                <a:solidFill>
                  <a:schemeClr val="dk1"/>
                </a:solidFill>
              </a:rPr>
              <a:t>Cada nodo o “peer” actúa </a:t>
            </a:r>
            <a:r>
              <a:rPr lang="es-419" sz="1100" b="1">
                <a:solidFill>
                  <a:schemeClr val="dk1"/>
                </a:solidFill>
              </a:rPr>
              <a:t>tanto como cliente como servidor</a:t>
            </a:r>
            <a:r>
              <a:rPr lang="es-419" sz="1100">
                <a:solidFill>
                  <a:schemeClr val="dk1"/>
                </a:solidFill>
              </a:rPr>
              <a:t>, compartiendo y coordinando servicios de bases de datos.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s-419" sz="1100">
                <a:solidFill>
                  <a:schemeClr val="dk1"/>
                </a:solidFill>
              </a:rPr>
              <a:t>Promueve la cooperación y el uso compartido de recursos entre los nodos.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s-419" sz="1100">
                <a:solidFill>
                  <a:schemeClr val="dk1"/>
                </a:solidFill>
              </a:rPr>
              <a:t>Se organiza en </a:t>
            </a:r>
            <a:r>
              <a:rPr lang="es-419" sz="1100" b="1">
                <a:solidFill>
                  <a:schemeClr val="dk1"/>
                </a:solidFill>
              </a:rPr>
              <a:t>cuatro niveles de esquemas:</a:t>
            </a:r>
            <a:br>
              <a:rPr lang="es-419" sz="1100" b="1">
                <a:solidFill>
                  <a:schemeClr val="dk1"/>
                </a:solidFill>
              </a:rPr>
            </a:br>
            <a:endParaRPr sz="1100" b="1">
              <a:solidFill>
                <a:schemeClr val="dk1"/>
              </a:solidFill>
            </a:endParaRPr>
          </a:p>
          <a:p>
            <a:pPr marL="914400" lvl="1" indent="-298450" algn="l" rtl="0">
              <a:spcBef>
                <a:spcPts val="0"/>
              </a:spcBef>
              <a:spcAft>
                <a:spcPts val="0"/>
              </a:spcAft>
              <a:buClr>
                <a:schemeClr val="dk1"/>
              </a:buClr>
              <a:buSzPts val="1100"/>
              <a:buAutoNum type="alphaLcPeriod"/>
            </a:pPr>
            <a:r>
              <a:rPr lang="es-419" sz="1100">
                <a:solidFill>
                  <a:schemeClr val="dk1"/>
                </a:solidFill>
              </a:rPr>
              <a:t>Esquema Conceptual Global</a:t>
            </a:r>
            <a:br>
              <a:rPr lang="es-419" sz="1100">
                <a:solidFill>
                  <a:schemeClr val="dk1"/>
                </a:solidFill>
              </a:rPr>
            </a:br>
            <a:endParaRPr sz="1100">
              <a:solidFill>
                <a:schemeClr val="dk1"/>
              </a:solidFill>
            </a:endParaRPr>
          </a:p>
          <a:p>
            <a:pPr marL="914400" lvl="1" indent="-298450" algn="l" rtl="0">
              <a:spcBef>
                <a:spcPts val="0"/>
              </a:spcBef>
              <a:spcAft>
                <a:spcPts val="0"/>
              </a:spcAft>
              <a:buClr>
                <a:schemeClr val="dk1"/>
              </a:buClr>
              <a:buSzPts val="1100"/>
              <a:buAutoNum type="alphaLcPeriod"/>
            </a:pPr>
            <a:r>
              <a:rPr lang="es-419" sz="1100">
                <a:solidFill>
                  <a:schemeClr val="dk1"/>
                </a:solidFill>
              </a:rPr>
              <a:t>Esquema Conceptual Local</a:t>
            </a:r>
            <a:br>
              <a:rPr lang="es-419" sz="1100">
                <a:solidFill>
                  <a:schemeClr val="dk1"/>
                </a:solidFill>
              </a:rPr>
            </a:br>
            <a:endParaRPr sz="1100">
              <a:solidFill>
                <a:schemeClr val="dk1"/>
              </a:solidFill>
            </a:endParaRPr>
          </a:p>
          <a:p>
            <a:pPr marL="914400" lvl="1" indent="-298450" algn="l" rtl="0">
              <a:spcBef>
                <a:spcPts val="0"/>
              </a:spcBef>
              <a:spcAft>
                <a:spcPts val="0"/>
              </a:spcAft>
              <a:buClr>
                <a:schemeClr val="dk1"/>
              </a:buClr>
              <a:buSzPts val="1100"/>
              <a:buAutoNum type="alphaLcPeriod"/>
            </a:pPr>
            <a:r>
              <a:rPr lang="es-419" sz="1100">
                <a:solidFill>
                  <a:schemeClr val="dk1"/>
                </a:solidFill>
              </a:rPr>
              <a:t>Esquema Interno Local</a:t>
            </a:r>
            <a:br>
              <a:rPr lang="es-419" sz="1100">
                <a:solidFill>
                  <a:schemeClr val="dk1"/>
                </a:solidFill>
              </a:rPr>
            </a:br>
            <a:endParaRPr sz="1100">
              <a:solidFill>
                <a:schemeClr val="dk1"/>
              </a:solidFill>
            </a:endParaRPr>
          </a:p>
          <a:p>
            <a:pPr marL="914400" lvl="1" indent="-298450" algn="l" rtl="0">
              <a:spcBef>
                <a:spcPts val="0"/>
              </a:spcBef>
              <a:spcAft>
                <a:spcPts val="0"/>
              </a:spcAft>
              <a:buClr>
                <a:schemeClr val="dk1"/>
              </a:buClr>
              <a:buSzPts val="1100"/>
              <a:buAutoNum type="alphaLcPeriod"/>
            </a:pPr>
            <a:r>
              <a:rPr lang="es-419" sz="1100">
                <a:solidFill>
                  <a:schemeClr val="dk1"/>
                </a:solidFill>
              </a:rPr>
              <a:t>Esquema Externo</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endParaRPr sz="1100">
              <a:solidFill>
                <a:schemeClr val="dk1"/>
              </a:solidFill>
            </a:endParaRPr>
          </a:p>
          <a:p>
            <a:pPr marL="0" lvl="0" indent="0" algn="l" rtl="0">
              <a:spcBef>
                <a:spcPts val="120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p:txBody>
      </p:sp>
      <p:sp>
        <p:nvSpPr>
          <p:cNvPr id="269" name="Google Shape;269;p51"/>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 Arquitectura Peer-to-Peer (P2P) para DDBMS</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52"/>
          <p:cNvSpPr txBox="1">
            <a:spLocks noGrp="1"/>
          </p:cNvSpPr>
          <p:nvPr>
            <p:ph type="body" idx="1"/>
          </p:nvPr>
        </p:nvSpPr>
        <p:spPr>
          <a:xfrm>
            <a:off x="112800" y="909925"/>
            <a:ext cx="8918400" cy="4376400"/>
          </a:xfrm>
          <a:prstGeom prst="rect">
            <a:avLst/>
          </a:prstGeom>
        </p:spPr>
        <p:txBody>
          <a:bodyPr spcFirstLastPara="1" wrap="square" lIns="91425" tIns="91425" rIns="91425" bIns="91425" anchor="t" anchorCtr="0">
            <a:noAutofit/>
          </a:bodyPr>
          <a:lstStyle/>
          <a:p>
            <a:pPr marL="457200" lvl="0" indent="-228600" algn="l" rtl="0">
              <a:spcBef>
                <a:spcPts val="1200"/>
              </a:spcBef>
              <a:spcAft>
                <a:spcPts val="0"/>
              </a:spcAft>
              <a:buNone/>
            </a:pPr>
            <a:r>
              <a:rPr lang="es-419" sz="1100">
                <a:solidFill>
                  <a:schemeClr val="dk1"/>
                </a:solidFill>
              </a:rPr>
              <a:t>Es un </a:t>
            </a:r>
            <a:r>
              <a:rPr lang="es-419" sz="1100" b="1">
                <a:solidFill>
                  <a:schemeClr val="dk1"/>
                </a:solidFill>
              </a:rPr>
              <a:t>sistema integrado</a:t>
            </a:r>
            <a:r>
              <a:rPr lang="es-419" sz="1100">
                <a:solidFill>
                  <a:schemeClr val="dk1"/>
                </a:solidFill>
              </a:rPr>
              <a:t> formado por dos o más bases de datos autónomas.</a:t>
            </a:r>
            <a:br>
              <a:rPr lang="es-419" sz="1100">
                <a:solidFill>
                  <a:schemeClr val="dk1"/>
                </a:solidFill>
              </a:rPr>
            </a:br>
            <a:endParaRPr sz="1100">
              <a:solidFill>
                <a:schemeClr val="dk1"/>
              </a:solidFill>
            </a:endParaRPr>
          </a:p>
          <a:p>
            <a:pPr marL="457200" lvl="0" indent="-228600" algn="l" rtl="0">
              <a:spcBef>
                <a:spcPts val="1200"/>
              </a:spcBef>
              <a:spcAft>
                <a:spcPts val="0"/>
              </a:spcAft>
              <a:buNone/>
            </a:pPr>
            <a:r>
              <a:rPr lang="es-419" sz="1100">
                <a:solidFill>
                  <a:schemeClr val="dk1"/>
                </a:solidFill>
              </a:rPr>
              <a:t>Proporciona una vista unificada sin perder la independencia de cada base local.</a:t>
            </a:r>
            <a:br>
              <a:rPr lang="es-419" sz="1100">
                <a:solidFill>
                  <a:schemeClr val="dk1"/>
                </a:solidFill>
              </a:rPr>
            </a:br>
            <a:endParaRPr sz="1100">
              <a:solidFill>
                <a:schemeClr val="dk1"/>
              </a:solidFill>
            </a:endParaRPr>
          </a:p>
          <a:p>
            <a:pPr marL="457200" lvl="0" indent="-228600" algn="l" rtl="0">
              <a:spcBef>
                <a:spcPts val="1200"/>
              </a:spcBef>
              <a:spcAft>
                <a:spcPts val="0"/>
              </a:spcAft>
              <a:buNone/>
            </a:pPr>
            <a:r>
              <a:rPr lang="es-419" sz="1100">
                <a:solidFill>
                  <a:schemeClr val="dk1"/>
                </a:solidFill>
              </a:rPr>
              <a:t>Se define a través de </a:t>
            </a:r>
            <a:r>
              <a:rPr lang="es-419" sz="1100" b="1">
                <a:solidFill>
                  <a:schemeClr val="dk1"/>
                </a:solidFill>
              </a:rPr>
              <a:t>seis niveles de esquemas:</a:t>
            </a:r>
            <a:br>
              <a:rPr lang="es-419" sz="1100" b="1">
                <a:solidFill>
                  <a:schemeClr val="dk1"/>
                </a:solidFill>
              </a:rPr>
            </a:b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s-419" sz="1100">
                <a:solidFill>
                  <a:schemeClr val="dk1"/>
                </a:solidFill>
              </a:rPr>
              <a:t>Nivel de Vista Multibase de Datos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s-419" sz="1100">
                <a:solidFill>
                  <a:schemeClr val="dk1"/>
                </a:solidFill>
              </a:rPr>
              <a:t>Nivel Conceptual Multibase de Datos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s-419" sz="1100">
                <a:solidFill>
                  <a:schemeClr val="dk1"/>
                </a:solidFill>
              </a:rPr>
              <a:t>Nivel Interno Multibase de Datos</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s-419" sz="1100">
                <a:solidFill>
                  <a:schemeClr val="dk1"/>
                </a:solidFill>
              </a:rPr>
              <a:t>Nivel de Vista de Base de Datos Local</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s-419" sz="1100">
                <a:solidFill>
                  <a:schemeClr val="dk1"/>
                </a:solidFill>
              </a:rPr>
              <a:t>Nivel Conceptual de Base de Datos Local</a:t>
            </a: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AutoNum type="arabicPeriod"/>
            </a:pPr>
            <a:r>
              <a:rPr lang="es-419" sz="1100">
                <a:solidFill>
                  <a:schemeClr val="dk1"/>
                </a:solidFill>
              </a:rPr>
              <a:t>Nivel Interno de Base de Datos Local</a:t>
            </a:r>
            <a:endParaRPr sz="1100">
              <a:solidFill>
                <a:schemeClr val="dk1"/>
              </a:solidFill>
            </a:endParaRPr>
          </a:p>
          <a:p>
            <a:pPr marL="457200" lvl="0" indent="-298450" algn="l" rtl="0">
              <a:spcBef>
                <a:spcPts val="0"/>
              </a:spcBef>
              <a:spcAft>
                <a:spcPts val="0"/>
              </a:spcAft>
              <a:buClr>
                <a:schemeClr val="dk1"/>
              </a:buClr>
              <a:buSzPts val="1100"/>
              <a:buChar char="●"/>
            </a:pPr>
            <a:br>
              <a:rPr lang="es-419"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endParaRPr sz="1100">
              <a:solidFill>
                <a:schemeClr val="dk1"/>
              </a:solidFill>
            </a:endParaRPr>
          </a:p>
          <a:p>
            <a:pPr marL="0" lvl="0" indent="0" algn="l" rtl="0">
              <a:spcBef>
                <a:spcPts val="1200"/>
              </a:spcBef>
              <a:spcAft>
                <a:spcPts val="0"/>
              </a:spcAft>
              <a:buNone/>
            </a:pPr>
            <a:endParaRPr sz="2000">
              <a:solidFill>
                <a:schemeClr val="dk1"/>
              </a:solidFill>
            </a:endParaRPr>
          </a:p>
          <a:p>
            <a:pPr marL="0" lvl="0" indent="0" algn="l" rtl="0">
              <a:spcBef>
                <a:spcPts val="0"/>
              </a:spcBef>
              <a:spcAft>
                <a:spcPts val="0"/>
              </a:spcAft>
              <a:buNone/>
            </a:pPr>
            <a:endParaRPr sz="2000">
              <a:solidFill>
                <a:schemeClr val="dk1"/>
              </a:solidFill>
            </a:endParaRPr>
          </a:p>
        </p:txBody>
      </p:sp>
      <p:sp>
        <p:nvSpPr>
          <p:cNvPr id="275" name="Google Shape;275;p52"/>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Arquitectura Multi-DBMS</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3"/>
          <p:cNvSpPr txBox="1">
            <a:spLocks noGrp="1"/>
          </p:cNvSpPr>
          <p:nvPr>
            <p:ph type="body" idx="1"/>
          </p:nvPr>
        </p:nvSpPr>
        <p:spPr>
          <a:xfrm>
            <a:off x="311700" y="646700"/>
            <a:ext cx="8520600" cy="4376400"/>
          </a:xfrm>
          <a:prstGeom prst="rect">
            <a:avLst/>
          </a:prstGeom>
        </p:spPr>
        <p:txBody>
          <a:bodyPr spcFirstLastPara="1" wrap="square" lIns="91425" tIns="91425" rIns="91425" bIns="91425" anchor="t" anchorCtr="0">
            <a:noAutofit/>
          </a:bodyPr>
          <a:lstStyle/>
          <a:p>
            <a:pPr marL="0" lvl="0" indent="0" algn="l" rtl="0">
              <a:lnSpc>
                <a:spcPct val="140000"/>
              </a:lnSpc>
              <a:spcBef>
                <a:spcPts val="0"/>
              </a:spcBef>
              <a:spcAft>
                <a:spcPts val="0"/>
              </a:spcAft>
              <a:buClr>
                <a:schemeClr val="dk1"/>
              </a:buClr>
              <a:buSzPts val="1100"/>
              <a:buFont typeface="Arial"/>
              <a:buNone/>
            </a:pPr>
            <a:r>
              <a:rPr lang="es-419" sz="1600">
                <a:solidFill>
                  <a:srgbClr val="161513"/>
                </a:solidFill>
                <a:highlight>
                  <a:srgbClr val="FFFFFF"/>
                </a:highlight>
              </a:rPr>
              <a:t> Un</a:t>
            </a:r>
            <a:r>
              <a:rPr lang="es-419" sz="1600">
                <a:solidFill>
                  <a:schemeClr val="dk1"/>
                </a:solidFill>
                <a:highlight>
                  <a:srgbClr val="FCFBFB"/>
                </a:highlight>
              </a:rPr>
              <a:t>a base de datos distribuida puede tomar muchas formas diferentes. La mejor opción para una organización dependerá de su caso de uso principal. Las formas que puede adoptar una base de datos distribuida incluyen las siguientes:</a:t>
            </a:r>
            <a:endParaRPr sz="1600">
              <a:solidFill>
                <a:schemeClr val="dk1"/>
              </a:solidFill>
              <a:highlight>
                <a:srgbClr val="FCFBFB"/>
              </a:highlight>
            </a:endParaRPr>
          </a:p>
          <a:p>
            <a:pPr marL="0" lvl="0" indent="0" algn="l" rtl="0">
              <a:spcBef>
                <a:spcPts val="1200"/>
              </a:spcBef>
              <a:spcAft>
                <a:spcPts val="0"/>
              </a:spcAft>
              <a:buClr>
                <a:schemeClr val="dk1"/>
              </a:buClr>
              <a:buSzPts val="1100"/>
              <a:buFont typeface="Arial"/>
              <a:buNone/>
            </a:pPr>
            <a:r>
              <a:rPr lang="es-419" sz="1600" b="1">
                <a:solidFill>
                  <a:schemeClr val="dk1"/>
                </a:solidFill>
                <a:highlight>
                  <a:srgbClr val="FCFBFB"/>
                </a:highlight>
              </a:rPr>
              <a:t>Homogénea</a:t>
            </a:r>
            <a:r>
              <a:rPr lang="es-419" sz="1600">
                <a:solidFill>
                  <a:schemeClr val="dk1"/>
                </a:solidFill>
                <a:highlight>
                  <a:srgbClr val="FCFBFB"/>
                </a:highlight>
              </a:rPr>
              <a:t>. Se refiere a una base de datos distribuida en la que todos los nodos de la red utilizan la misma base de datos y sistema de gestión de bases de datos (DBMS), y comparten la misma estructura de datos.</a:t>
            </a:r>
            <a:endParaRPr sz="1600">
              <a:solidFill>
                <a:schemeClr val="dk1"/>
              </a:solidFill>
              <a:highlight>
                <a:srgbClr val="FCFBFB"/>
              </a:highlight>
            </a:endParaRPr>
          </a:p>
          <a:p>
            <a:pPr marL="0" lvl="0" indent="0" algn="l" rtl="0">
              <a:spcBef>
                <a:spcPts val="900"/>
              </a:spcBef>
              <a:spcAft>
                <a:spcPts val="0"/>
              </a:spcAft>
              <a:buClr>
                <a:schemeClr val="dk1"/>
              </a:buClr>
              <a:buSzPts val="1100"/>
              <a:buFont typeface="Arial"/>
              <a:buNone/>
            </a:pPr>
            <a:r>
              <a:rPr lang="es-419" sz="1600" b="1">
                <a:solidFill>
                  <a:schemeClr val="dk1"/>
                </a:solidFill>
                <a:highlight>
                  <a:srgbClr val="FCFBFB"/>
                </a:highlight>
              </a:rPr>
              <a:t>Heterogénea</a:t>
            </a:r>
            <a:r>
              <a:rPr lang="es-419" sz="1600">
                <a:solidFill>
                  <a:schemeClr val="dk1"/>
                </a:solidFill>
                <a:highlight>
                  <a:srgbClr val="FCFBFB"/>
                </a:highlight>
              </a:rPr>
              <a:t>. Aquí, los nodos en la red podrían usar diferentes sistemas de gestión de bases de datos y tener distintas estructuras de datos, lo que requiere una aplicación para traducir e integrar los datos de varios sistemas. Un sistema de base de datos heterogéneo puede resultar de agregar nuevas funcionalidades a una base de datos heredada o de integrar rápidamente diferentes sistemas, como cuando una organización adquiere a otra.</a:t>
            </a:r>
            <a:endParaRPr sz="1600">
              <a:solidFill>
                <a:schemeClr val="dk1"/>
              </a:solidFill>
              <a:highlight>
                <a:srgbClr val="FCFBFB"/>
              </a:highlight>
            </a:endParaRPr>
          </a:p>
          <a:p>
            <a:pPr marL="0" lvl="0" indent="0" algn="l" rtl="0">
              <a:lnSpc>
                <a:spcPct val="140000"/>
              </a:lnSpc>
              <a:spcBef>
                <a:spcPts val="0"/>
              </a:spcBef>
              <a:spcAft>
                <a:spcPts val="1200"/>
              </a:spcAft>
              <a:buClr>
                <a:schemeClr val="dk1"/>
              </a:buClr>
              <a:buSzPts val="1100"/>
              <a:buFont typeface="Arial"/>
              <a:buNone/>
            </a:pPr>
            <a:endParaRPr sz="1700">
              <a:solidFill>
                <a:srgbClr val="161513"/>
              </a:solidFill>
              <a:highlight>
                <a:srgbClr val="FFFFFF"/>
              </a:highlight>
            </a:endParaRPr>
          </a:p>
        </p:txBody>
      </p:sp>
      <p:sp>
        <p:nvSpPr>
          <p:cNvPr id="281" name="Google Shape;281;p53"/>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rgbClr val="FFFFFF"/>
                </a:highlight>
              </a:rPr>
              <a:t>Tipos de Bases de datos distribuidas</a:t>
            </a:r>
            <a:endParaRPr sz="1700" b="1">
              <a:solidFill>
                <a:srgbClr val="161513"/>
              </a:solidFill>
              <a:highlight>
                <a:srgbClr val="FFFFFF"/>
              </a:high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54"/>
          <p:cNvSpPr txBox="1">
            <a:spLocks noGrp="1"/>
          </p:cNvSpPr>
          <p:nvPr>
            <p:ph type="body" idx="1"/>
          </p:nvPr>
        </p:nvSpPr>
        <p:spPr>
          <a:xfrm>
            <a:off x="311700" y="646700"/>
            <a:ext cx="8520600" cy="4376400"/>
          </a:xfrm>
          <a:prstGeom prst="rect">
            <a:avLst/>
          </a:prstGeom>
        </p:spPr>
        <p:txBody>
          <a:bodyPr spcFirstLastPara="1" wrap="square" lIns="91425" tIns="91425" rIns="91425" bIns="91425" anchor="t" anchorCtr="0">
            <a:noAutofit/>
          </a:bodyPr>
          <a:lstStyle/>
          <a:p>
            <a:pPr marL="457200" lvl="0" indent="-228600" algn="l" rtl="0">
              <a:spcBef>
                <a:spcPts val="0"/>
              </a:spcBef>
              <a:spcAft>
                <a:spcPts val="0"/>
              </a:spcAft>
              <a:buClr>
                <a:srgbClr val="161513"/>
              </a:buClr>
              <a:buSzPts val="1700"/>
              <a:buNone/>
            </a:pPr>
            <a:r>
              <a:rPr lang="es-419" sz="1700" b="1">
                <a:solidFill>
                  <a:schemeClr val="dk1"/>
                </a:solidFill>
                <a:highlight>
                  <a:srgbClr val="FCFBFB"/>
                </a:highlight>
              </a:rPr>
              <a:t>Base de datos federada.</a:t>
            </a:r>
            <a:r>
              <a:rPr lang="es-419" sz="1700">
                <a:solidFill>
                  <a:schemeClr val="dk1"/>
                </a:solidFill>
                <a:highlight>
                  <a:srgbClr val="FCFBFB"/>
                </a:highlight>
              </a:rPr>
              <a:t> Una base de datos federada permite que múltiples bases de datos trabajen juntas como si fueran una sola. Cada base de datos mantiene su autonomía, pero puede compartir datos y colaborar con todas las bases en el sistema federado.</a:t>
            </a:r>
            <a:endParaRPr sz="1700">
              <a:solidFill>
                <a:schemeClr val="dk1"/>
              </a:solidFill>
              <a:highlight>
                <a:srgbClr val="FCFBFB"/>
              </a:highlight>
            </a:endParaRPr>
          </a:p>
          <a:p>
            <a:pPr marL="457200" lvl="0" indent="-228600" algn="l" rtl="0">
              <a:spcBef>
                <a:spcPts val="0"/>
              </a:spcBef>
              <a:spcAft>
                <a:spcPts val="0"/>
              </a:spcAft>
              <a:buClr>
                <a:schemeClr val="dk1"/>
              </a:buClr>
              <a:buSzPts val="1700"/>
              <a:buNone/>
            </a:pPr>
            <a:endParaRPr sz="1700">
              <a:solidFill>
                <a:schemeClr val="dk1"/>
              </a:solidFill>
              <a:highlight>
                <a:srgbClr val="FCFBFB"/>
              </a:highlight>
            </a:endParaRPr>
          </a:p>
          <a:p>
            <a:pPr marL="457200" lvl="0" indent="-228600" algn="l" rtl="0">
              <a:spcBef>
                <a:spcPts val="0"/>
              </a:spcBef>
              <a:spcAft>
                <a:spcPts val="0"/>
              </a:spcAft>
              <a:buClr>
                <a:srgbClr val="161513"/>
              </a:buClr>
              <a:buSzPts val="1700"/>
              <a:buNone/>
            </a:pPr>
            <a:r>
              <a:rPr lang="es-419" sz="1700" b="1">
                <a:solidFill>
                  <a:schemeClr val="dk1"/>
                </a:solidFill>
                <a:highlight>
                  <a:srgbClr val="FCFBFB"/>
                </a:highlight>
              </a:rPr>
              <a:t>Base de datos particionada</a:t>
            </a:r>
            <a:r>
              <a:rPr lang="es-419" sz="1700">
                <a:solidFill>
                  <a:schemeClr val="dk1"/>
                </a:solidFill>
                <a:highlight>
                  <a:srgbClr val="FCFBFB"/>
                </a:highlight>
              </a:rPr>
              <a:t>. En una base de datos particionada, los datos se dividen en partes más pequeñas y manejables llamadas particiones, y cada partición se almacena en un nodo diferente de la red.</a:t>
            </a:r>
            <a:endParaRPr sz="1700">
              <a:solidFill>
                <a:schemeClr val="dk1"/>
              </a:solidFill>
              <a:highlight>
                <a:srgbClr val="FCFBFB"/>
              </a:highlight>
            </a:endParaRPr>
          </a:p>
          <a:p>
            <a:pPr marL="457200" marR="317500" lvl="0" indent="-228600" algn="l" rtl="0">
              <a:spcBef>
                <a:spcPts val="0"/>
              </a:spcBef>
              <a:spcAft>
                <a:spcPts val="0"/>
              </a:spcAft>
              <a:buClr>
                <a:srgbClr val="161513"/>
              </a:buClr>
              <a:buSzPts val="1600"/>
              <a:buNone/>
            </a:pPr>
            <a:endParaRPr sz="1600">
              <a:solidFill>
                <a:srgbClr val="161513"/>
              </a:solidFill>
              <a:highlight>
                <a:srgbClr val="FFFFFF"/>
              </a:highlight>
            </a:endParaRPr>
          </a:p>
          <a:p>
            <a:pPr marL="0" lvl="0" indent="0" algn="l" rtl="0">
              <a:lnSpc>
                <a:spcPct val="140000"/>
              </a:lnSpc>
              <a:spcBef>
                <a:spcPts val="1900"/>
              </a:spcBef>
              <a:spcAft>
                <a:spcPts val="1200"/>
              </a:spcAft>
              <a:buNone/>
            </a:pPr>
            <a:endParaRPr sz="2100">
              <a:solidFill>
                <a:srgbClr val="161513"/>
              </a:solidFill>
              <a:highlight>
                <a:srgbClr val="FFFFFF"/>
              </a:highlight>
            </a:endParaRPr>
          </a:p>
        </p:txBody>
      </p:sp>
      <p:sp>
        <p:nvSpPr>
          <p:cNvPr id="287" name="Google Shape;287;p54"/>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chemeClr val="lt1"/>
                </a:highlight>
              </a:rPr>
              <a:t>Tipos de Bases de datos distribuidas</a:t>
            </a:r>
            <a:endParaRPr sz="1700" b="1">
              <a:solidFill>
                <a:srgbClr val="161513"/>
              </a:solidFill>
              <a:highlight>
                <a:srgbClr val="FFFFFF"/>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311700" y="646700"/>
            <a:ext cx="8520600" cy="4376400"/>
          </a:xfrm>
          <a:prstGeom prst="rect">
            <a:avLst/>
          </a:prstGeom>
        </p:spPr>
        <p:txBody>
          <a:bodyPr spcFirstLastPara="1" wrap="square" lIns="91425" tIns="91425" rIns="91425" bIns="91425" anchor="t" anchorCtr="0">
            <a:noAutofit/>
          </a:bodyPr>
          <a:lstStyle/>
          <a:p>
            <a:pPr marL="0" lvl="0" indent="0" algn="l" rtl="0">
              <a:lnSpc>
                <a:spcPct val="140000"/>
              </a:lnSpc>
              <a:spcBef>
                <a:spcPts val="0"/>
              </a:spcBef>
              <a:spcAft>
                <a:spcPts val="0"/>
              </a:spcAft>
              <a:buNone/>
            </a:pPr>
            <a:endParaRPr sz="1600">
              <a:solidFill>
                <a:srgbClr val="161513"/>
              </a:solidFill>
              <a:highlight>
                <a:srgbClr val="FFFFFF"/>
              </a:highlight>
            </a:endParaRPr>
          </a:p>
          <a:p>
            <a:pPr marL="457200" marR="317500" lvl="0" indent="-228600" algn="l" rtl="0">
              <a:spcBef>
                <a:spcPts val="1200"/>
              </a:spcBef>
              <a:spcAft>
                <a:spcPts val="0"/>
              </a:spcAft>
              <a:buClr>
                <a:srgbClr val="161513"/>
              </a:buClr>
              <a:buSzPts val="1600"/>
              <a:buNone/>
            </a:pPr>
            <a:endParaRPr sz="1600">
              <a:solidFill>
                <a:srgbClr val="161513"/>
              </a:solidFill>
              <a:highlight>
                <a:srgbClr val="FFFFFF"/>
              </a:highlight>
            </a:endParaRPr>
          </a:p>
          <a:p>
            <a:pPr marL="457200" lvl="0" indent="-228600" algn="l" rtl="0">
              <a:spcBef>
                <a:spcPts val="0"/>
              </a:spcBef>
              <a:spcAft>
                <a:spcPts val="0"/>
              </a:spcAft>
              <a:buClr>
                <a:srgbClr val="161513"/>
              </a:buClr>
              <a:buSzPts val="1700"/>
              <a:buNone/>
            </a:pPr>
            <a:r>
              <a:rPr lang="es-419" sz="1700" b="1">
                <a:solidFill>
                  <a:schemeClr val="dk1"/>
                </a:solidFill>
                <a:highlight>
                  <a:srgbClr val="FCFBFB"/>
                </a:highlight>
              </a:rPr>
              <a:t>Híbrida</a:t>
            </a:r>
            <a:r>
              <a:rPr lang="es-419" sz="1700">
                <a:solidFill>
                  <a:schemeClr val="dk1"/>
                </a:solidFill>
                <a:highlight>
                  <a:srgbClr val="FCFBFB"/>
                </a:highlight>
              </a:rPr>
              <a:t>. Una base de datos distribuida híbrida combina elementos de bases de datos federadas y particionadas. Puede incluir bases de datos autónomas que cooperan y datos particionados que están distribuidos en diferentes nodos.</a:t>
            </a:r>
            <a:endParaRPr sz="1700">
              <a:solidFill>
                <a:schemeClr val="dk1"/>
              </a:solidFill>
              <a:highlight>
                <a:srgbClr val="FCFBFB"/>
              </a:highlight>
            </a:endParaRPr>
          </a:p>
          <a:p>
            <a:pPr marL="457200" lvl="0" indent="-228600" algn="l" rtl="0">
              <a:spcBef>
                <a:spcPts val="0"/>
              </a:spcBef>
              <a:spcAft>
                <a:spcPts val="0"/>
              </a:spcAft>
              <a:buClr>
                <a:srgbClr val="161513"/>
              </a:buClr>
              <a:buSzPts val="1700"/>
              <a:buNone/>
            </a:pPr>
            <a:endParaRPr sz="1700">
              <a:solidFill>
                <a:schemeClr val="dk1"/>
              </a:solidFill>
              <a:highlight>
                <a:srgbClr val="FCFBFB"/>
              </a:highlight>
            </a:endParaRPr>
          </a:p>
          <a:p>
            <a:pPr marL="457200" lvl="0" indent="-228600" algn="l" rtl="0">
              <a:spcBef>
                <a:spcPts val="0"/>
              </a:spcBef>
              <a:spcAft>
                <a:spcPts val="0"/>
              </a:spcAft>
              <a:buClr>
                <a:srgbClr val="161513"/>
              </a:buClr>
              <a:buSzPts val="1700"/>
              <a:buNone/>
            </a:pPr>
            <a:r>
              <a:rPr lang="es-419" sz="1700" b="1">
                <a:solidFill>
                  <a:schemeClr val="dk1"/>
                </a:solidFill>
                <a:highlight>
                  <a:srgbClr val="FCFBFB"/>
                </a:highlight>
              </a:rPr>
              <a:t>Replicada</a:t>
            </a:r>
            <a:r>
              <a:rPr lang="es-419" sz="1700">
                <a:solidFill>
                  <a:schemeClr val="dk1"/>
                </a:solidFill>
                <a:highlight>
                  <a:srgbClr val="FCFBFB"/>
                </a:highlight>
              </a:rPr>
              <a:t>. En una base de datos replicada, las copias de los datos se almacenan en múltiples nodos para permitir alta disponibilidad y tolerancia a fallos. Para mantener la coherencia, los cambios en los datos se propagan de manera inmediata a las réplicas de respaldo.</a:t>
            </a:r>
            <a:endParaRPr sz="1700">
              <a:solidFill>
                <a:schemeClr val="dk1"/>
              </a:solidFill>
              <a:highlight>
                <a:srgbClr val="FCFBFB"/>
              </a:highlight>
            </a:endParaRPr>
          </a:p>
          <a:p>
            <a:pPr marL="457200" marR="317500" lvl="0" indent="-228600" algn="l" rtl="0">
              <a:spcBef>
                <a:spcPts val="0"/>
              </a:spcBef>
              <a:spcAft>
                <a:spcPts val="0"/>
              </a:spcAft>
              <a:buClr>
                <a:srgbClr val="161513"/>
              </a:buClr>
              <a:buSzPts val="1700"/>
              <a:buNone/>
            </a:pPr>
            <a:endParaRPr sz="1700" b="1">
              <a:solidFill>
                <a:srgbClr val="161513"/>
              </a:solidFill>
              <a:highlight>
                <a:srgbClr val="FFFFFF"/>
              </a:highlight>
            </a:endParaRPr>
          </a:p>
          <a:p>
            <a:pPr marL="0" lvl="0" indent="0" algn="l" rtl="0">
              <a:lnSpc>
                <a:spcPct val="140000"/>
              </a:lnSpc>
              <a:spcBef>
                <a:spcPts val="1200"/>
              </a:spcBef>
              <a:spcAft>
                <a:spcPts val="1200"/>
              </a:spcAft>
              <a:buNone/>
            </a:pPr>
            <a:endParaRPr sz="2100">
              <a:solidFill>
                <a:srgbClr val="161513"/>
              </a:solidFill>
              <a:highlight>
                <a:srgbClr val="FFFFFF"/>
              </a:highlight>
            </a:endParaRPr>
          </a:p>
        </p:txBody>
      </p:sp>
      <p:sp>
        <p:nvSpPr>
          <p:cNvPr id="293" name="Google Shape;293;p55"/>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chemeClr val="lt1"/>
                </a:highlight>
              </a:rPr>
              <a:t>Tipos de Bases de datos distribuidas</a:t>
            </a:r>
            <a:endParaRPr sz="1700" b="1">
              <a:solidFill>
                <a:srgbClr val="161513"/>
              </a:solidFill>
              <a:highlight>
                <a:srgbClr val="FFFFFF"/>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6"/>
          <p:cNvSpPr txBox="1">
            <a:spLocks noGrp="1"/>
          </p:cNvSpPr>
          <p:nvPr>
            <p:ph type="body" idx="1"/>
          </p:nvPr>
        </p:nvSpPr>
        <p:spPr>
          <a:xfrm>
            <a:off x="311700" y="646700"/>
            <a:ext cx="8520600" cy="4376400"/>
          </a:xfrm>
          <a:prstGeom prst="rect">
            <a:avLst/>
          </a:prstGeom>
        </p:spPr>
        <p:txBody>
          <a:bodyPr spcFirstLastPara="1" wrap="square" lIns="91425" tIns="91425" rIns="91425" bIns="91425" anchor="t" anchorCtr="0">
            <a:noAutofit/>
          </a:bodyPr>
          <a:lstStyle/>
          <a:p>
            <a:pPr marL="0" lvl="0" indent="0" algn="l" rtl="0">
              <a:lnSpc>
                <a:spcPct val="140000"/>
              </a:lnSpc>
              <a:spcBef>
                <a:spcPts val="0"/>
              </a:spcBef>
              <a:spcAft>
                <a:spcPts val="1200"/>
              </a:spcAft>
              <a:buNone/>
            </a:pPr>
            <a:r>
              <a:rPr lang="es-419">
                <a:solidFill>
                  <a:schemeClr val="dk1"/>
                </a:solidFill>
                <a:highlight>
                  <a:srgbClr val="FCFBFB"/>
                </a:highlight>
              </a:rPr>
              <a:t>Las organizaciones optan por ejecutar bases de datos distribuidas por muchas razones. El beneficio principal es el balanceo de carga, que permite que el sistema divida automáticamente la demanda elevada, ya sea de transacciones o análisis, a través de múltiples instancias para evitar que un solo servidor se convierta en un cuello de botella.</a:t>
            </a:r>
            <a:endParaRPr>
              <a:solidFill>
                <a:srgbClr val="161513"/>
              </a:solidFill>
              <a:highlight>
                <a:srgbClr val="FFFFFF"/>
              </a:highlight>
            </a:endParaRPr>
          </a:p>
        </p:txBody>
      </p:sp>
      <p:sp>
        <p:nvSpPr>
          <p:cNvPr id="299" name="Google Shape;299;p56"/>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rgbClr val="FFFFFF"/>
                </a:highlight>
              </a:rPr>
              <a:t>Aplicaciones de las BD Distribuidas</a:t>
            </a:r>
            <a:endParaRPr sz="1700" b="1">
              <a:solidFill>
                <a:srgbClr val="161513"/>
              </a:solidFill>
              <a:highlight>
                <a:srgbClr val="FFFFFF"/>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7"/>
          <p:cNvSpPr txBox="1">
            <a:spLocks noGrp="1"/>
          </p:cNvSpPr>
          <p:nvPr>
            <p:ph type="body" idx="1"/>
          </p:nvPr>
        </p:nvSpPr>
        <p:spPr>
          <a:xfrm>
            <a:off x="311700" y="646700"/>
            <a:ext cx="8520600" cy="43764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s-419" sz="1600">
                <a:solidFill>
                  <a:schemeClr val="dk1"/>
                </a:solidFill>
                <a:highlight>
                  <a:srgbClr val="FCFBFB"/>
                </a:highlight>
              </a:rPr>
              <a:t>Estas son otras formas en las que estos sistemas pueden ayudar a abordar los muchos desafíos y requisitos que enfrentan las organizaciones hoy en día.</a:t>
            </a:r>
            <a:endParaRPr sz="1600">
              <a:solidFill>
                <a:schemeClr val="dk1"/>
              </a:solidFill>
              <a:highlight>
                <a:srgbClr val="FCFBFB"/>
              </a:highlight>
            </a:endParaRPr>
          </a:p>
          <a:p>
            <a:pPr marL="457200" lvl="0" indent="-330200" algn="l" rtl="0">
              <a:spcBef>
                <a:spcPts val="900"/>
              </a:spcBef>
              <a:spcAft>
                <a:spcPts val="0"/>
              </a:spcAft>
              <a:buSzPts val="1600"/>
              <a:buChar char="●"/>
            </a:pPr>
            <a:r>
              <a:rPr lang="es-419" sz="1600" b="1">
                <a:solidFill>
                  <a:schemeClr val="dk1"/>
                </a:solidFill>
                <a:highlight>
                  <a:srgbClr val="FCFBFB"/>
                </a:highlight>
              </a:rPr>
              <a:t>Distribución global de datos.</a:t>
            </a:r>
            <a:r>
              <a:rPr lang="es-419" sz="1600">
                <a:solidFill>
                  <a:schemeClr val="dk1"/>
                </a:solidFill>
                <a:highlight>
                  <a:srgbClr val="FCFBFB"/>
                </a:highlight>
              </a:rPr>
              <a:t> Para aplicaciones con alcance global, una base de datos distribuida es esencial. En primer lugar, permite que el sistema almacene los datos más cerca de los usuarios, reduciendo la latencia tanto en lecturas como en escrituras. Esto mejora la experiencia del usuario, especialmente para aplicaciones diseñadas para ofrecer rendimiento en tiempo real. La resiliencia también es una consideración importante. Si un centro de datos o servidor en una región sufre una interrupción, los usuarios en otras regiones aún pueden acceder a los datos y a la aplicación desde nodos operativos locales.</a:t>
            </a:r>
            <a:endParaRPr sz="1600">
              <a:solidFill>
                <a:schemeClr val="dk1"/>
              </a:solidFill>
              <a:highlight>
                <a:srgbClr val="FCFBFB"/>
              </a:highlight>
            </a:endParaRPr>
          </a:p>
          <a:p>
            <a:pPr marL="457200" lvl="0" indent="-330200" algn="l" rtl="0">
              <a:spcBef>
                <a:spcPts val="0"/>
              </a:spcBef>
              <a:spcAft>
                <a:spcPts val="0"/>
              </a:spcAft>
              <a:buSzPts val="1600"/>
              <a:buChar char="●"/>
            </a:pPr>
            <a:r>
              <a:rPr lang="es-419" sz="1600" b="1">
                <a:solidFill>
                  <a:schemeClr val="dk1"/>
                </a:solidFill>
                <a:highlight>
                  <a:srgbClr val="FCFBFB"/>
                </a:highlight>
              </a:rPr>
              <a:t>Escalabilidad eficiente.</a:t>
            </a:r>
            <a:r>
              <a:rPr lang="es-419" sz="1600">
                <a:solidFill>
                  <a:schemeClr val="dk1"/>
                </a:solidFill>
                <a:highlight>
                  <a:srgbClr val="FCFBFB"/>
                </a:highlight>
              </a:rPr>
              <a:t> Las bases de datos distribuidas permiten una escalabilidad horizontal rápida, ya que los administradores pueden añadir más nodos al sistema en respuesta a un aumento en el volumen de datos, solicitudes más complejas y más usuarios concurrentes. Además, esta escalabilidad puede configurarse para que ocurra de manera autónoma.</a:t>
            </a:r>
            <a:endParaRPr sz="1600">
              <a:solidFill>
                <a:srgbClr val="161513"/>
              </a:solidFill>
              <a:highlight>
                <a:srgbClr val="FFFFFF"/>
              </a:highlight>
            </a:endParaRPr>
          </a:p>
          <a:p>
            <a:pPr marL="0" lvl="0" indent="0" algn="l" rtl="0">
              <a:lnSpc>
                <a:spcPct val="140000"/>
              </a:lnSpc>
              <a:spcBef>
                <a:spcPts val="0"/>
              </a:spcBef>
              <a:spcAft>
                <a:spcPts val="1200"/>
              </a:spcAft>
              <a:buNone/>
            </a:pPr>
            <a:endParaRPr sz="2100">
              <a:solidFill>
                <a:srgbClr val="161513"/>
              </a:solidFill>
              <a:highlight>
                <a:srgbClr val="FFFFFF"/>
              </a:highlight>
            </a:endParaRPr>
          </a:p>
        </p:txBody>
      </p:sp>
      <p:sp>
        <p:nvSpPr>
          <p:cNvPr id="305" name="Google Shape;305;p57"/>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chemeClr val="lt1"/>
                </a:highlight>
              </a:rPr>
              <a:t>Aplicaciones de las BD Distribuidas</a:t>
            </a:r>
            <a:endParaRPr sz="1700" b="1">
              <a:solidFill>
                <a:srgbClr val="161513"/>
              </a:solidFill>
              <a:highlight>
                <a:srgbClr val="FFFFFF"/>
              </a:high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8"/>
          <p:cNvSpPr txBox="1">
            <a:spLocks noGrp="1"/>
          </p:cNvSpPr>
          <p:nvPr>
            <p:ph type="body" idx="1"/>
          </p:nvPr>
        </p:nvSpPr>
        <p:spPr>
          <a:xfrm>
            <a:off x="311700" y="646700"/>
            <a:ext cx="8712000" cy="43764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rgbClr val="161513"/>
              </a:buClr>
              <a:buSzPts val="1600"/>
              <a:buChar char="●"/>
            </a:pPr>
            <a:r>
              <a:rPr lang="es-419" sz="1600" b="1">
                <a:solidFill>
                  <a:schemeClr val="dk1"/>
                </a:solidFill>
                <a:highlight>
                  <a:srgbClr val="FCFBFB"/>
                </a:highlight>
              </a:rPr>
              <a:t>Localidad de datos y cumplimiento.</a:t>
            </a:r>
            <a:r>
              <a:rPr lang="es-419" sz="1600">
                <a:solidFill>
                  <a:schemeClr val="dk1"/>
                </a:solidFill>
                <a:highlight>
                  <a:srgbClr val="FCFBFB"/>
                </a:highlight>
              </a:rPr>
              <a:t> Para las organizaciones con estrictas reglas de gobernanza de datos o requisitos regionales de residencia de datos, las bases de datos distribuidas permiten a los administradores almacenar los datos en la ubicación geográfica donde se generan, posibilitando que estas empresas cumplan con las normativas locales.</a:t>
            </a:r>
            <a:endParaRPr sz="1600">
              <a:solidFill>
                <a:schemeClr val="dk1"/>
              </a:solidFill>
              <a:highlight>
                <a:srgbClr val="FCFBFB"/>
              </a:highlight>
            </a:endParaRPr>
          </a:p>
          <a:p>
            <a:pPr marL="457200" lvl="0" indent="-330200" algn="l" rtl="0">
              <a:spcBef>
                <a:spcPts val="0"/>
              </a:spcBef>
              <a:spcAft>
                <a:spcPts val="0"/>
              </a:spcAft>
              <a:buClr>
                <a:srgbClr val="161513"/>
              </a:buClr>
              <a:buSzPts val="1600"/>
              <a:buChar char="●"/>
            </a:pPr>
            <a:r>
              <a:rPr lang="es-419" sz="1600" b="1">
                <a:solidFill>
                  <a:schemeClr val="dk1"/>
                </a:solidFill>
                <a:highlight>
                  <a:srgbClr val="FCFBFB"/>
                </a:highlight>
              </a:rPr>
              <a:t>Alta disponibilidad y tolerancia a fallos.</a:t>
            </a:r>
            <a:r>
              <a:rPr lang="es-419" sz="1600">
                <a:solidFill>
                  <a:schemeClr val="dk1"/>
                </a:solidFill>
                <a:highlight>
                  <a:srgbClr val="FCFBFB"/>
                </a:highlight>
              </a:rPr>
              <a:t> Una base de datos distribuida es fundamental para cargas de trabajo críticas, ya que al replicar los datos en múltiples nodos, estos permanecen disponibles incluso si fallan ciertos nodos. La mayoría de las arquitecturas de recuperación ante desastres se basan en un modelo de base de datos distribuida: tras un evento catastrófico, los datos pueden recuperarse rápidamente desde un nodo o una región remota.</a:t>
            </a:r>
            <a:endParaRPr sz="1600">
              <a:solidFill>
                <a:schemeClr val="dk1"/>
              </a:solidFill>
              <a:highlight>
                <a:srgbClr val="FCFBFB"/>
              </a:highlight>
            </a:endParaRPr>
          </a:p>
          <a:p>
            <a:pPr marL="457200" lvl="0" indent="-330200" algn="l" rtl="0">
              <a:spcBef>
                <a:spcPts val="0"/>
              </a:spcBef>
              <a:spcAft>
                <a:spcPts val="0"/>
              </a:spcAft>
              <a:buClr>
                <a:srgbClr val="161513"/>
              </a:buClr>
              <a:buSzPts val="1600"/>
              <a:buChar char="●"/>
            </a:pPr>
            <a:r>
              <a:rPr lang="es-419" sz="1600" b="1">
                <a:solidFill>
                  <a:schemeClr val="dk1"/>
                </a:solidFill>
                <a:highlight>
                  <a:srgbClr val="FCFBFB"/>
                </a:highlight>
              </a:rPr>
              <a:t>Rendimiento.</a:t>
            </a:r>
            <a:r>
              <a:rPr lang="es-419" sz="1600">
                <a:solidFill>
                  <a:schemeClr val="dk1"/>
                </a:solidFill>
                <a:highlight>
                  <a:srgbClr val="FCFBFB"/>
                </a:highlight>
              </a:rPr>
              <a:t> Con sus datos y cargas de trabajo distribuidos en múltiples servidores, un sistema de bases de datos puede mejorar el rendimiento reduciendo la carga en cualquier nodo individual. Esto puede conducir a respuestas más rápidas en las consultas y a un mejor rendimiento general del sistema.</a:t>
            </a:r>
            <a:endParaRPr sz="1600" b="1">
              <a:solidFill>
                <a:srgbClr val="161513"/>
              </a:solidFill>
              <a:highlight>
                <a:srgbClr val="FFFFFF"/>
              </a:highlight>
            </a:endParaRPr>
          </a:p>
          <a:p>
            <a:pPr marL="457200" marR="317500" lvl="0" indent="0" algn="l" rtl="0">
              <a:spcBef>
                <a:spcPts val="0"/>
              </a:spcBef>
              <a:spcAft>
                <a:spcPts val="0"/>
              </a:spcAft>
              <a:buNone/>
            </a:pPr>
            <a:endParaRPr sz="1600" b="1">
              <a:solidFill>
                <a:srgbClr val="161513"/>
              </a:solidFill>
              <a:highlight>
                <a:srgbClr val="FFFFFF"/>
              </a:highlight>
            </a:endParaRPr>
          </a:p>
          <a:p>
            <a:pPr marL="0" lvl="0" indent="0" algn="l" rtl="0">
              <a:lnSpc>
                <a:spcPct val="140000"/>
              </a:lnSpc>
              <a:spcBef>
                <a:spcPts val="1200"/>
              </a:spcBef>
              <a:spcAft>
                <a:spcPts val="1200"/>
              </a:spcAft>
              <a:buNone/>
            </a:pPr>
            <a:endParaRPr sz="2100">
              <a:solidFill>
                <a:srgbClr val="161513"/>
              </a:solidFill>
              <a:highlight>
                <a:srgbClr val="FFFFFF"/>
              </a:highlight>
            </a:endParaRPr>
          </a:p>
        </p:txBody>
      </p:sp>
      <p:sp>
        <p:nvSpPr>
          <p:cNvPr id="311" name="Google Shape;311;p58"/>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Aplicaciones de las BD Distribuidas</a:t>
            </a:r>
            <a:endParaRPr sz="1700" b="1">
              <a:solidFill>
                <a:srgbClr val="161513"/>
              </a:solidFill>
              <a:highlight>
                <a:schemeClr val="lt1"/>
              </a:highlight>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9"/>
          <p:cNvSpPr txBox="1">
            <a:spLocks noGrp="1"/>
          </p:cNvSpPr>
          <p:nvPr>
            <p:ph type="body" idx="1"/>
          </p:nvPr>
        </p:nvSpPr>
        <p:spPr>
          <a:xfrm>
            <a:off x="311700" y="646700"/>
            <a:ext cx="8520600" cy="39219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endParaRPr>
              <a:solidFill>
                <a:schemeClr val="dk1"/>
              </a:solidFill>
            </a:endParaRPr>
          </a:p>
          <a:p>
            <a:pPr marL="457200" lvl="0" indent="0" algn="l" rtl="0">
              <a:spcBef>
                <a:spcPts val="900"/>
              </a:spcBef>
              <a:spcAft>
                <a:spcPts val="0"/>
              </a:spcAft>
              <a:buNone/>
            </a:pPr>
            <a:r>
              <a:rPr lang="es-419">
                <a:solidFill>
                  <a:schemeClr val="dk1"/>
                </a:solidFill>
                <a:highlight>
                  <a:srgbClr val="FCFBFB"/>
                </a:highlight>
              </a:rPr>
              <a:t>El modelo de base de datos distribuida sobresale por ofrecer mayor capacidad de procesamiento a través de la escalabilidad horizontal, la localidad de datos y la tolerancia a fallos. Sin embargo, la base de datos específica que una organización elige, generalmente, dependerá de las necesidades y limitaciones de las aplicaciones de la empresa. Algunos casos de uso requieren la consistencia absoluta de una base de datos relacional compatible con ACID, mientras que otros son más adecuados para una base de datos tipo BASE que ofrece consistencia eventual. Veamos algunos ejemplos de cada una</a:t>
            </a:r>
            <a:r>
              <a:rPr lang="es-419" sz="1150">
                <a:solidFill>
                  <a:schemeClr val="dk1"/>
                </a:solidFill>
                <a:highlight>
                  <a:srgbClr val="FCFBFB"/>
                </a:highlight>
              </a:rPr>
              <a:t>.</a:t>
            </a:r>
            <a:endParaRPr sz="2500" b="1" i="1">
              <a:solidFill>
                <a:schemeClr val="dk1"/>
              </a:solidFill>
            </a:endParaRPr>
          </a:p>
          <a:p>
            <a:pPr marL="457200" lvl="0" indent="0" algn="l" rtl="0">
              <a:spcBef>
                <a:spcPts val="900"/>
              </a:spcBef>
              <a:spcAft>
                <a:spcPts val="900"/>
              </a:spcAft>
              <a:buNone/>
            </a:pPr>
            <a:endParaRPr sz="900" b="1" i="1">
              <a:solidFill>
                <a:schemeClr val="dk1"/>
              </a:solidFill>
            </a:endParaRPr>
          </a:p>
        </p:txBody>
      </p:sp>
      <p:sp>
        <p:nvSpPr>
          <p:cNvPr id="317" name="Google Shape;317;p59"/>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rgbClr val="FFFFFF"/>
                </a:highlight>
              </a:rPr>
              <a:t>Ejemplos de Bases de datos distribuidas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60"/>
          <p:cNvSpPr txBox="1">
            <a:spLocks noGrp="1"/>
          </p:cNvSpPr>
          <p:nvPr>
            <p:ph type="body" idx="1"/>
          </p:nvPr>
        </p:nvSpPr>
        <p:spPr>
          <a:xfrm>
            <a:off x="311700" y="646700"/>
            <a:ext cx="8520600" cy="3921900"/>
          </a:xfrm>
          <a:prstGeom prst="rect">
            <a:avLst/>
          </a:prstGeom>
        </p:spPr>
        <p:txBody>
          <a:bodyPr spcFirstLastPara="1" wrap="square" lIns="91425" tIns="91425" rIns="91425" bIns="91425" anchor="t" anchorCtr="0">
            <a:noAutofit/>
          </a:bodyPr>
          <a:lstStyle/>
          <a:p>
            <a:pPr marL="457200" lvl="0" indent="0" algn="l" rtl="0">
              <a:spcBef>
                <a:spcPts val="900"/>
              </a:spcBef>
              <a:spcAft>
                <a:spcPts val="0"/>
              </a:spcAft>
              <a:buNone/>
            </a:pPr>
            <a:endParaRPr sz="2200">
              <a:solidFill>
                <a:schemeClr val="dk1"/>
              </a:solidFill>
            </a:endParaRPr>
          </a:p>
          <a:p>
            <a:pPr marL="457200" lvl="0" indent="-327025" algn="l" rtl="0">
              <a:spcBef>
                <a:spcPts val="900"/>
              </a:spcBef>
              <a:spcAft>
                <a:spcPts val="0"/>
              </a:spcAft>
              <a:buClr>
                <a:schemeClr val="dk1"/>
              </a:buClr>
              <a:buSzPts val="1550"/>
              <a:buChar char="●"/>
            </a:pPr>
            <a:r>
              <a:rPr lang="es-419" sz="1550" b="1">
                <a:solidFill>
                  <a:schemeClr val="dk1"/>
                </a:solidFill>
                <a:highlight>
                  <a:srgbClr val="FCFBFB"/>
                </a:highlight>
              </a:rPr>
              <a:t>ACID</a:t>
            </a:r>
            <a:r>
              <a:rPr lang="es-419" sz="1550">
                <a:solidFill>
                  <a:schemeClr val="dk1"/>
                </a:solidFill>
                <a:highlight>
                  <a:srgbClr val="FCFBFB"/>
                </a:highlight>
              </a:rPr>
              <a:t> significa: </a:t>
            </a:r>
            <a:endParaRPr sz="1550">
              <a:solidFill>
                <a:schemeClr val="dk1"/>
              </a:solidFill>
              <a:highlight>
                <a:srgbClr val="FCFBFB"/>
              </a:highlight>
            </a:endParaRPr>
          </a:p>
          <a:p>
            <a:pPr marL="914400" lvl="1" indent="-327025" algn="l" rtl="0">
              <a:spcBef>
                <a:spcPts val="0"/>
              </a:spcBef>
              <a:spcAft>
                <a:spcPts val="0"/>
              </a:spcAft>
              <a:buClr>
                <a:schemeClr val="dk1"/>
              </a:buClr>
              <a:buSzPts val="1550"/>
              <a:buChar char="○"/>
            </a:pPr>
            <a:r>
              <a:rPr lang="es-419" sz="1550" b="1">
                <a:solidFill>
                  <a:schemeClr val="dk1"/>
                </a:solidFill>
                <a:highlight>
                  <a:srgbClr val="FCFBFB"/>
                </a:highlight>
              </a:rPr>
              <a:t>Atomicidad</a:t>
            </a:r>
            <a:r>
              <a:rPr lang="es-419" sz="1550">
                <a:solidFill>
                  <a:schemeClr val="dk1"/>
                </a:solidFill>
                <a:highlight>
                  <a:srgbClr val="FCFBFB"/>
                </a:highlight>
              </a:rPr>
              <a:t>: Las operaciones se completan por completo o no se hacen.</a:t>
            </a:r>
            <a:endParaRPr sz="1550">
              <a:solidFill>
                <a:schemeClr val="dk1"/>
              </a:solidFill>
              <a:highlight>
                <a:srgbClr val="FCFBFB"/>
              </a:highlight>
            </a:endParaRPr>
          </a:p>
          <a:p>
            <a:pPr marL="914400" lvl="1" indent="-327025" algn="l" rtl="0">
              <a:spcBef>
                <a:spcPts val="0"/>
              </a:spcBef>
              <a:spcAft>
                <a:spcPts val="0"/>
              </a:spcAft>
              <a:buClr>
                <a:schemeClr val="dk1"/>
              </a:buClr>
              <a:buSzPts val="1550"/>
              <a:buChar char="○"/>
            </a:pPr>
            <a:r>
              <a:rPr lang="es-419" sz="1550" b="1">
                <a:solidFill>
                  <a:schemeClr val="dk1"/>
                </a:solidFill>
                <a:highlight>
                  <a:srgbClr val="FCFBFB"/>
                </a:highlight>
              </a:rPr>
              <a:t>Consistencia</a:t>
            </a:r>
            <a:r>
              <a:rPr lang="es-419" sz="1550">
                <a:solidFill>
                  <a:schemeClr val="dk1"/>
                </a:solidFill>
                <a:highlight>
                  <a:srgbClr val="FCFBFB"/>
                </a:highlight>
              </a:rPr>
              <a:t>: La base de datos permanece en un estado válido antes y después de la transacción.</a:t>
            </a:r>
            <a:endParaRPr sz="1550">
              <a:solidFill>
                <a:schemeClr val="dk1"/>
              </a:solidFill>
              <a:highlight>
                <a:srgbClr val="FCFBFB"/>
              </a:highlight>
            </a:endParaRPr>
          </a:p>
          <a:p>
            <a:pPr marL="914400" lvl="1" indent="-327025" algn="l" rtl="0">
              <a:spcBef>
                <a:spcPts val="0"/>
              </a:spcBef>
              <a:spcAft>
                <a:spcPts val="0"/>
              </a:spcAft>
              <a:buClr>
                <a:schemeClr val="dk1"/>
              </a:buClr>
              <a:buSzPts val="1550"/>
              <a:buChar char="○"/>
            </a:pPr>
            <a:r>
              <a:rPr lang="es-419" sz="1550" b="1">
                <a:solidFill>
                  <a:schemeClr val="dk1"/>
                </a:solidFill>
                <a:highlight>
                  <a:srgbClr val="FCFBFB"/>
                </a:highlight>
              </a:rPr>
              <a:t>Aislamiento</a:t>
            </a:r>
            <a:r>
              <a:rPr lang="es-419" sz="1550">
                <a:solidFill>
                  <a:schemeClr val="dk1"/>
                </a:solidFill>
                <a:highlight>
                  <a:srgbClr val="FCFBFB"/>
                </a:highlight>
              </a:rPr>
              <a:t>: Las transacciones se ejecutan de manera independiente.</a:t>
            </a:r>
            <a:endParaRPr sz="1550">
              <a:solidFill>
                <a:schemeClr val="dk1"/>
              </a:solidFill>
              <a:highlight>
                <a:srgbClr val="FCFBFB"/>
              </a:highlight>
            </a:endParaRPr>
          </a:p>
          <a:p>
            <a:pPr marL="914400" lvl="1" indent="-327025" algn="l" rtl="0">
              <a:spcBef>
                <a:spcPts val="0"/>
              </a:spcBef>
              <a:spcAft>
                <a:spcPts val="0"/>
              </a:spcAft>
              <a:buClr>
                <a:schemeClr val="dk1"/>
              </a:buClr>
              <a:buSzPts val="1550"/>
              <a:buChar char="○"/>
            </a:pPr>
            <a:r>
              <a:rPr lang="es-419" sz="1550" b="1">
                <a:solidFill>
                  <a:schemeClr val="dk1"/>
                </a:solidFill>
                <a:highlight>
                  <a:srgbClr val="FCFBFB"/>
                </a:highlight>
              </a:rPr>
              <a:t>Durabilidad</a:t>
            </a:r>
            <a:r>
              <a:rPr lang="es-419" sz="1550">
                <a:solidFill>
                  <a:schemeClr val="dk1"/>
                </a:solidFill>
                <a:highlight>
                  <a:srgbClr val="FCFBFB"/>
                </a:highlight>
              </a:rPr>
              <a:t>: Los cambios realizados en la base de datos son permanentes, incluso en caso de fallos.</a:t>
            </a:r>
            <a:endParaRPr sz="1550">
              <a:solidFill>
                <a:schemeClr val="dk1"/>
              </a:solidFill>
              <a:highlight>
                <a:srgbClr val="FCFBFB"/>
              </a:highlight>
            </a:endParaRPr>
          </a:p>
          <a:p>
            <a:pPr marL="457200" lvl="0" indent="-327025" algn="l" rtl="0">
              <a:spcBef>
                <a:spcPts val="0"/>
              </a:spcBef>
              <a:spcAft>
                <a:spcPts val="0"/>
              </a:spcAft>
              <a:buClr>
                <a:schemeClr val="dk1"/>
              </a:buClr>
              <a:buSzPts val="1550"/>
              <a:buChar char="●"/>
            </a:pPr>
            <a:r>
              <a:rPr lang="es-419" sz="1550" b="1">
                <a:solidFill>
                  <a:schemeClr val="dk1"/>
                </a:solidFill>
                <a:highlight>
                  <a:srgbClr val="FCFBFB"/>
                </a:highlight>
              </a:rPr>
              <a:t>Ideal para</a:t>
            </a:r>
            <a:r>
              <a:rPr lang="es-419" sz="1550">
                <a:solidFill>
                  <a:schemeClr val="dk1"/>
                </a:solidFill>
                <a:highlight>
                  <a:srgbClr val="FCFBFB"/>
                </a:highlight>
              </a:rPr>
              <a:t>: </a:t>
            </a:r>
            <a:endParaRPr sz="1550">
              <a:solidFill>
                <a:schemeClr val="dk1"/>
              </a:solidFill>
              <a:highlight>
                <a:srgbClr val="FCFBFB"/>
              </a:highlight>
            </a:endParaRPr>
          </a:p>
          <a:p>
            <a:pPr marL="914400" lvl="1" indent="-327025" algn="l" rtl="0">
              <a:spcBef>
                <a:spcPts val="0"/>
              </a:spcBef>
              <a:spcAft>
                <a:spcPts val="0"/>
              </a:spcAft>
              <a:buClr>
                <a:schemeClr val="dk1"/>
              </a:buClr>
              <a:buSzPts val="1550"/>
              <a:buChar char="○"/>
            </a:pPr>
            <a:r>
              <a:rPr lang="es-419" sz="1550">
                <a:solidFill>
                  <a:schemeClr val="dk1"/>
                </a:solidFill>
                <a:highlight>
                  <a:srgbClr val="FCFBFB"/>
                </a:highlight>
              </a:rPr>
              <a:t>Aplicaciones que requieren una alta precisión y consistencia, como sistemas bancarios, comercio electrónico, sistemas de inventarios.</a:t>
            </a:r>
            <a:endParaRPr sz="1550">
              <a:solidFill>
                <a:schemeClr val="dk1"/>
              </a:solidFill>
              <a:highlight>
                <a:srgbClr val="FCFBFB"/>
              </a:highlight>
            </a:endParaRPr>
          </a:p>
          <a:p>
            <a:pPr marL="457200" lvl="0" indent="0" algn="l" rtl="0">
              <a:spcBef>
                <a:spcPts val="1800"/>
              </a:spcBef>
              <a:spcAft>
                <a:spcPts val="900"/>
              </a:spcAft>
              <a:buNone/>
            </a:pPr>
            <a:endParaRPr sz="1300" b="1" i="1">
              <a:solidFill>
                <a:schemeClr val="dk1"/>
              </a:solidFill>
            </a:endParaRPr>
          </a:p>
        </p:txBody>
      </p:sp>
      <p:sp>
        <p:nvSpPr>
          <p:cNvPr id="323" name="Google Shape;323;p60"/>
          <p:cNvSpPr txBox="1"/>
          <p:nvPr/>
        </p:nvSpPr>
        <p:spPr>
          <a:xfrm>
            <a:off x="0" y="0"/>
            <a:ext cx="9144000" cy="438600"/>
          </a:xfrm>
          <a:prstGeom prst="rect">
            <a:avLst/>
          </a:prstGeom>
          <a:noFill/>
          <a:ln>
            <a:noFill/>
          </a:ln>
        </p:spPr>
        <p:txBody>
          <a:bodyPr spcFirstLastPara="1" wrap="square" lIns="91425" tIns="91425" rIns="91425" bIns="91425" anchor="t" anchorCtr="0">
            <a:spAutoFit/>
          </a:bodyPr>
          <a:lstStyle/>
          <a:p>
            <a:pPr marL="0" lvl="0" indent="0" algn="l" rtl="0">
              <a:lnSpc>
                <a:spcPct val="118181"/>
              </a:lnSpc>
              <a:spcBef>
                <a:spcPts val="0"/>
              </a:spcBef>
              <a:spcAft>
                <a:spcPts val="900"/>
              </a:spcAft>
              <a:buNone/>
            </a:pPr>
            <a:r>
              <a:rPr lang="es-419" sz="1650" b="1">
                <a:solidFill>
                  <a:schemeClr val="dk1"/>
                </a:solidFill>
                <a:highlight>
                  <a:srgbClr val="FCFBFB"/>
                </a:highlight>
              </a:rPr>
              <a:t>¿Qué es una base de datos ACID?</a:t>
            </a:r>
            <a:endParaRPr sz="1900" b="1">
              <a:solidFill>
                <a:srgbClr val="161513"/>
              </a:solidFill>
              <a:highlight>
                <a:srgbClr val="FFFFFF"/>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61"/>
          <p:cNvSpPr txBox="1">
            <a:spLocks noGrp="1"/>
          </p:cNvSpPr>
          <p:nvPr>
            <p:ph type="body" idx="1"/>
          </p:nvPr>
        </p:nvSpPr>
        <p:spPr>
          <a:xfrm>
            <a:off x="311700" y="646700"/>
            <a:ext cx="8520600" cy="3921900"/>
          </a:xfrm>
          <a:prstGeom prst="rect">
            <a:avLst/>
          </a:prstGeom>
        </p:spPr>
        <p:txBody>
          <a:bodyPr spcFirstLastPara="1" wrap="square" lIns="91425" tIns="91425" rIns="91425" bIns="91425" anchor="t" anchorCtr="0">
            <a:noAutofit/>
          </a:bodyPr>
          <a:lstStyle/>
          <a:p>
            <a:pPr marL="457200" lvl="0" indent="-333375" algn="l" rtl="0">
              <a:spcBef>
                <a:spcPts val="0"/>
              </a:spcBef>
              <a:spcAft>
                <a:spcPts val="0"/>
              </a:spcAft>
              <a:buClr>
                <a:schemeClr val="dk1"/>
              </a:buClr>
              <a:buSzPts val="1650"/>
              <a:buChar char="●"/>
            </a:pPr>
            <a:r>
              <a:rPr lang="es-419" sz="1650" b="1">
                <a:solidFill>
                  <a:schemeClr val="dk1"/>
                </a:solidFill>
                <a:highlight>
                  <a:srgbClr val="FCFBFB"/>
                </a:highlight>
              </a:rPr>
              <a:t>BASE</a:t>
            </a:r>
            <a:r>
              <a:rPr lang="es-419" sz="1650">
                <a:solidFill>
                  <a:schemeClr val="dk1"/>
                </a:solidFill>
                <a:highlight>
                  <a:srgbClr val="FCFBFB"/>
                </a:highlight>
              </a:rPr>
              <a:t> significa: </a:t>
            </a:r>
            <a:endParaRPr sz="1650">
              <a:solidFill>
                <a:schemeClr val="dk1"/>
              </a:solidFill>
              <a:highlight>
                <a:srgbClr val="FCFBFB"/>
              </a:highlight>
            </a:endParaRPr>
          </a:p>
          <a:p>
            <a:pPr marL="914400" lvl="1" indent="-333375" algn="l" rtl="0">
              <a:spcBef>
                <a:spcPts val="0"/>
              </a:spcBef>
              <a:spcAft>
                <a:spcPts val="0"/>
              </a:spcAft>
              <a:buClr>
                <a:schemeClr val="dk1"/>
              </a:buClr>
              <a:buSzPts val="1650"/>
              <a:buChar char="○"/>
            </a:pPr>
            <a:r>
              <a:rPr lang="es-419" sz="1650" b="1">
                <a:solidFill>
                  <a:schemeClr val="dk1"/>
                </a:solidFill>
                <a:highlight>
                  <a:srgbClr val="FCFBFB"/>
                </a:highlight>
              </a:rPr>
              <a:t>Basically Available</a:t>
            </a:r>
            <a:r>
              <a:rPr lang="es-419" sz="1650">
                <a:solidFill>
                  <a:schemeClr val="dk1"/>
                </a:solidFill>
                <a:highlight>
                  <a:srgbClr val="FCFBFB"/>
                </a:highlight>
              </a:rPr>
              <a:t>: La base de datos está disponible la mayoría del tiempo.</a:t>
            </a:r>
            <a:endParaRPr sz="1650">
              <a:solidFill>
                <a:schemeClr val="dk1"/>
              </a:solidFill>
              <a:highlight>
                <a:srgbClr val="FCFBFB"/>
              </a:highlight>
            </a:endParaRPr>
          </a:p>
          <a:p>
            <a:pPr marL="914400" lvl="1" indent="-333375" algn="l" rtl="0">
              <a:spcBef>
                <a:spcPts val="0"/>
              </a:spcBef>
              <a:spcAft>
                <a:spcPts val="0"/>
              </a:spcAft>
              <a:buClr>
                <a:schemeClr val="dk1"/>
              </a:buClr>
              <a:buSzPts val="1650"/>
              <a:buChar char="○"/>
            </a:pPr>
            <a:r>
              <a:rPr lang="es-419" sz="1650" b="1">
                <a:solidFill>
                  <a:schemeClr val="dk1"/>
                </a:solidFill>
                <a:highlight>
                  <a:srgbClr val="FCFBFB"/>
                </a:highlight>
              </a:rPr>
              <a:t>Soft state</a:t>
            </a:r>
            <a:r>
              <a:rPr lang="es-419" sz="1650">
                <a:solidFill>
                  <a:schemeClr val="dk1"/>
                </a:solidFill>
                <a:highlight>
                  <a:srgbClr val="FCFBFB"/>
                </a:highlight>
              </a:rPr>
              <a:t>: El estado puede cambiar con el tiempo, incluso sin nuevas entradas.</a:t>
            </a:r>
            <a:endParaRPr sz="1650">
              <a:solidFill>
                <a:schemeClr val="dk1"/>
              </a:solidFill>
              <a:highlight>
                <a:srgbClr val="FCFBFB"/>
              </a:highlight>
            </a:endParaRPr>
          </a:p>
          <a:p>
            <a:pPr marL="914400" lvl="1" indent="-333375" algn="l" rtl="0">
              <a:spcBef>
                <a:spcPts val="0"/>
              </a:spcBef>
              <a:spcAft>
                <a:spcPts val="0"/>
              </a:spcAft>
              <a:buClr>
                <a:schemeClr val="dk1"/>
              </a:buClr>
              <a:buSzPts val="1650"/>
              <a:buChar char="○"/>
            </a:pPr>
            <a:r>
              <a:rPr lang="es-419" sz="1650" b="1">
                <a:solidFill>
                  <a:schemeClr val="dk1"/>
                </a:solidFill>
                <a:highlight>
                  <a:srgbClr val="FCFBFB"/>
                </a:highlight>
              </a:rPr>
              <a:t>Eventual consistency</a:t>
            </a:r>
            <a:r>
              <a:rPr lang="es-419" sz="1650">
                <a:solidFill>
                  <a:schemeClr val="dk1"/>
                </a:solidFill>
                <a:highlight>
                  <a:srgbClr val="FCFBFB"/>
                </a:highlight>
              </a:rPr>
              <a:t>: La consistencia se alcanza en el tiempo, no inmediatamente.</a:t>
            </a:r>
            <a:endParaRPr sz="1650">
              <a:solidFill>
                <a:schemeClr val="dk1"/>
              </a:solidFill>
              <a:highlight>
                <a:srgbClr val="FCFBFB"/>
              </a:highlight>
            </a:endParaRPr>
          </a:p>
          <a:p>
            <a:pPr marL="914400" lvl="0" indent="0" algn="l" rtl="0">
              <a:spcBef>
                <a:spcPts val="1800"/>
              </a:spcBef>
              <a:spcAft>
                <a:spcPts val="0"/>
              </a:spcAft>
              <a:buNone/>
            </a:pPr>
            <a:endParaRPr sz="1650">
              <a:solidFill>
                <a:schemeClr val="dk1"/>
              </a:solidFill>
              <a:highlight>
                <a:srgbClr val="FCFBFB"/>
              </a:highlight>
            </a:endParaRPr>
          </a:p>
          <a:p>
            <a:pPr marL="457200" lvl="0" indent="-333375" algn="l" rtl="0">
              <a:spcBef>
                <a:spcPts val="1800"/>
              </a:spcBef>
              <a:spcAft>
                <a:spcPts val="0"/>
              </a:spcAft>
              <a:buClr>
                <a:schemeClr val="dk1"/>
              </a:buClr>
              <a:buSzPts val="1650"/>
              <a:buChar char="●"/>
            </a:pPr>
            <a:r>
              <a:rPr lang="es-419" sz="1650" b="1">
                <a:solidFill>
                  <a:schemeClr val="dk1"/>
                </a:solidFill>
                <a:highlight>
                  <a:srgbClr val="FCFBFB"/>
                </a:highlight>
              </a:rPr>
              <a:t>Ideal para</a:t>
            </a:r>
            <a:r>
              <a:rPr lang="es-419" sz="1650">
                <a:solidFill>
                  <a:schemeClr val="dk1"/>
                </a:solidFill>
                <a:highlight>
                  <a:srgbClr val="FCFBFB"/>
                </a:highlight>
              </a:rPr>
              <a:t>: </a:t>
            </a:r>
            <a:endParaRPr sz="1650">
              <a:solidFill>
                <a:schemeClr val="dk1"/>
              </a:solidFill>
              <a:highlight>
                <a:srgbClr val="FCFBFB"/>
              </a:highlight>
            </a:endParaRPr>
          </a:p>
          <a:p>
            <a:pPr marL="914400" lvl="1" indent="-333375" algn="l" rtl="0">
              <a:spcBef>
                <a:spcPts val="0"/>
              </a:spcBef>
              <a:spcAft>
                <a:spcPts val="0"/>
              </a:spcAft>
              <a:buClr>
                <a:schemeClr val="dk1"/>
              </a:buClr>
              <a:buSzPts val="1650"/>
              <a:buChar char="○"/>
            </a:pPr>
            <a:r>
              <a:rPr lang="es-419" sz="1650">
                <a:solidFill>
                  <a:schemeClr val="dk1"/>
                </a:solidFill>
                <a:highlight>
                  <a:srgbClr val="FCFBFB"/>
                </a:highlight>
              </a:rPr>
              <a:t>Aplicaciones distribuidas y escalables que toleran cierta inconsistencia temporal, como redes sociales, sistemas de análisis, big data.</a:t>
            </a:r>
            <a:endParaRPr sz="1650">
              <a:solidFill>
                <a:schemeClr val="dk1"/>
              </a:solidFill>
              <a:highlight>
                <a:srgbClr val="FCFBFB"/>
              </a:highlight>
            </a:endParaRPr>
          </a:p>
          <a:p>
            <a:pPr marL="0" lvl="0" indent="0" algn="l" rtl="0">
              <a:spcBef>
                <a:spcPts val="1800"/>
              </a:spcBef>
              <a:spcAft>
                <a:spcPts val="900"/>
              </a:spcAft>
              <a:buNone/>
            </a:pPr>
            <a:endParaRPr sz="1400" b="1" i="1">
              <a:solidFill>
                <a:schemeClr val="dk1"/>
              </a:solidFill>
            </a:endParaRPr>
          </a:p>
        </p:txBody>
      </p:sp>
      <p:sp>
        <p:nvSpPr>
          <p:cNvPr id="329" name="Google Shape;329;p61"/>
          <p:cNvSpPr txBox="1"/>
          <p:nvPr/>
        </p:nvSpPr>
        <p:spPr>
          <a:xfrm>
            <a:off x="0" y="0"/>
            <a:ext cx="9144000" cy="438600"/>
          </a:xfrm>
          <a:prstGeom prst="rect">
            <a:avLst/>
          </a:prstGeom>
          <a:noFill/>
          <a:ln>
            <a:noFill/>
          </a:ln>
        </p:spPr>
        <p:txBody>
          <a:bodyPr spcFirstLastPara="1" wrap="square" lIns="91425" tIns="91425" rIns="91425" bIns="91425" anchor="t" anchorCtr="0">
            <a:spAutoFit/>
          </a:bodyPr>
          <a:lstStyle/>
          <a:p>
            <a:pPr marL="0" lvl="0" indent="0" algn="l" rtl="0">
              <a:lnSpc>
                <a:spcPct val="118181"/>
              </a:lnSpc>
              <a:spcBef>
                <a:spcPts val="0"/>
              </a:spcBef>
              <a:spcAft>
                <a:spcPts val="900"/>
              </a:spcAft>
              <a:buNone/>
            </a:pPr>
            <a:r>
              <a:rPr lang="es-419" sz="1650" b="1">
                <a:solidFill>
                  <a:schemeClr val="dk1"/>
                </a:solidFill>
                <a:highlight>
                  <a:srgbClr val="FCFBFB"/>
                </a:highlight>
              </a:rPr>
              <a:t>¿Qué es una base de datos BASE?</a:t>
            </a:r>
            <a:endParaRPr sz="1700" b="1">
              <a:solidFill>
                <a:srgbClr val="161513"/>
              </a:solidFill>
              <a:highlight>
                <a:srgbClr val="FFFFFF"/>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62"/>
          <p:cNvSpPr txBox="1">
            <a:spLocks noGrp="1"/>
          </p:cNvSpPr>
          <p:nvPr>
            <p:ph type="body" idx="1"/>
          </p:nvPr>
        </p:nvSpPr>
        <p:spPr>
          <a:xfrm>
            <a:off x="311700" y="646700"/>
            <a:ext cx="8520600" cy="3921900"/>
          </a:xfrm>
          <a:prstGeom prst="rect">
            <a:avLst/>
          </a:prstGeom>
        </p:spPr>
        <p:txBody>
          <a:bodyPr spcFirstLastPara="1" wrap="square" lIns="91425" tIns="91425" rIns="91425" bIns="91425" anchor="t" anchorCtr="0">
            <a:noAutofit/>
          </a:bodyPr>
          <a:lstStyle/>
          <a:p>
            <a:pPr marL="0" lvl="0" indent="0" algn="l" rtl="0">
              <a:lnSpc>
                <a:spcPct val="118181"/>
              </a:lnSpc>
              <a:spcBef>
                <a:spcPts val="0"/>
              </a:spcBef>
              <a:spcAft>
                <a:spcPts val="0"/>
              </a:spcAft>
              <a:buNone/>
            </a:pPr>
            <a:r>
              <a:rPr lang="es-419" sz="1950" b="1">
                <a:solidFill>
                  <a:schemeClr val="dk1"/>
                </a:solidFill>
                <a:highlight>
                  <a:srgbClr val="FCFBFB"/>
                </a:highlight>
              </a:rPr>
              <a:t>¿Por qué elegir ACID?</a:t>
            </a:r>
            <a:endParaRPr sz="1950" b="1">
              <a:solidFill>
                <a:schemeClr val="dk1"/>
              </a:solidFill>
              <a:highlight>
                <a:srgbClr val="FCFBFB"/>
              </a:highlight>
            </a:endParaRPr>
          </a:p>
          <a:p>
            <a:pPr marL="457200" lvl="0" indent="-320675" algn="l" rtl="0">
              <a:spcBef>
                <a:spcPts val="900"/>
              </a:spcBef>
              <a:spcAft>
                <a:spcPts val="0"/>
              </a:spcAft>
              <a:buClr>
                <a:schemeClr val="dk1"/>
              </a:buClr>
              <a:buSzPts val="1450"/>
              <a:buChar char="●"/>
            </a:pPr>
            <a:r>
              <a:rPr lang="es-419" sz="1450">
                <a:solidFill>
                  <a:schemeClr val="dk1"/>
                </a:solidFill>
                <a:highlight>
                  <a:srgbClr val="FCFBFB"/>
                </a:highlight>
              </a:rPr>
              <a:t>Necesidad de </a:t>
            </a:r>
            <a:r>
              <a:rPr lang="es-419" sz="1450" b="1">
                <a:solidFill>
                  <a:schemeClr val="dk1"/>
                </a:solidFill>
                <a:highlight>
                  <a:srgbClr val="FCFBFB"/>
                </a:highlight>
              </a:rPr>
              <a:t>transacciones confiables y precisas</a:t>
            </a:r>
            <a:r>
              <a:rPr lang="es-419" sz="1450">
                <a:solidFill>
                  <a:schemeClr val="dk1"/>
                </a:solidFill>
                <a:highlight>
                  <a:srgbClr val="FCFBFB"/>
                </a:highlight>
              </a:rPr>
              <a:t>.</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Datos críticos donde los errores son inaceptables.</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Requisitos de </a:t>
            </a:r>
            <a:r>
              <a:rPr lang="es-419" sz="1450" b="1">
                <a:solidFill>
                  <a:schemeClr val="dk1"/>
                </a:solidFill>
                <a:highlight>
                  <a:srgbClr val="FCFBFB"/>
                </a:highlight>
              </a:rPr>
              <a:t>consistencia fuerte</a:t>
            </a:r>
            <a:r>
              <a:rPr lang="es-419" sz="1450">
                <a:solidFill>
                  <a:schemeClr val="dk1"/>
                </a:solidFill>
                <a:highlight>
                  <a:srgbClr val="FCFBFB"/>
                </a:highlight>
              </a:rPr>
              <a:t> y reglas estrictas.</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Ejemplos: sistemas bancarios, comercio electrónico, registros médicos.</a:t>
            </a:r>
            <a:endParaRPr sz="1450">
              <a:solidFill>
                <a:schemeClr val="dk1"/>
              </a:solidFill>
              <a:highlight>
                <a:srgbClr val="FCFBFB"/>
              </a:highlight>
            </a:endParaRPr>
          </a:p>
          <a:p>
            <a:pPr marL="0" lvl="0" indent="0" algn="l" rtl="0">
              <a:spcBef>
                <a:spcPts val="900"/>
              </a:spcBef>
              <a:spcAft>
                <a:spcPts val="0"/>
              </a:spcAft>
              <a:buNone/>
            </a:pPr>
            <a:endParaRPr sz="1450">
              <a:solidFill>
                <a:schemeClr val="dk1"/>
              </a:solidFill>
              <a:highlight>
                <a:srgbClr val="FCFBFB"/>
              </a:highlight>
            </a:endParaRPr>
          </a:p>
          <a:p>
            <a:pPr marL="0" lvl="0" indent="0" algn="l" rtl="0">
              <a:lnSpc>
                <a:spcPct val="118181"/>
              </a:lnSpc>
              <a:spcBef>
                <a:spcPts val="0"/>
              </a:spcBef>
              <a:spcAft>
                <a:spcPts val="0"/>
              </a:spcAft>
              <a:buNone/>
            </a:pPr>
            <a:r>
              <a:rPr lang="es-419" sz="1950" b="1">
                <a:solidFill>
                  <a:schemeClr val="dk1"/>
                </a:solidFill>
                <a:highlight>
                  <a:srgbClr val="FCFBFB"/>
                </a:highlight>
              </a:rPr>
              <a:t> ¿Por qué elegir BASE?</a:t>
            </a:r>
            <a:endParaRPr sz="1950" b="1">
              <a:solidFill>
                <a:schemeClr val="dk1"/>
              </a:solidFill>
              <a:highlight>
                <a:srgbClr val="FCFBFB"/>
              </a:highlight>
            </a:endParaRPr>
          </a:p>
          <a:p>
            <a:pPr marL="457200" lvl="0" indent="-320675" algn="l" rtl="0">
              <a:spcBef>
                <a:spcPts val="900"/>
              </a:spcBef>
              <a:spcAft>
                <a:spcPts val="0"/>
              </a:spcAft>
              <a:buClr>
                <a:schemeClr val="dk1"/>
              </a:buClr>
              <a:buSzPts val="1450"/>
              <a:buChar char="●"/>
            </a:pPr>
            <a:r>
              <a:rPr lang="es-419" sz="1450">
                <a:solidFill>
                  <a:schemeClr val="dk1"/>
                </a:solidFill>
                <a:highlight>
                  <a:srgbClr val="FCFBFB"/>
                </a:highlight>
              </a:rPr>
              <a:t>Sistemas que necesitan </a:t>
            </a:r>
            <a:r>
              <a:rPr lang="es-419" sz="1450" b="1">
                <a:solidFill>
                  <a:schemeClr val="dk1"/>
                </a:solidFill>
                <a:highlight>
                  <a:srgbClr val="FCFBFB"/>
                </a:highlight>
              </a:rPr>
              <a:t>gran escalabilidad y disponibilidad</a:t>
            </a:r>
            <a:r>
              <a:rPr lang="es-419" sz="1450">
                <a:solidFill>
                  <a:schemeClr val="dk1"/>
                </a:solidFill>
                <a:highlight>
                  <a:srgbClr val="FCFBFB"/>
                </a:highlight>
              </a:rPr>
              <a:t>.</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Toleran cierta </a:t>
            </a:r>
            <a:r>
              <a:rPr lang="es-419" sz="1450" b="1">
                <a:solidFill>
                  <a:schemeClr val="dk1"/>
                </a:solidFill>
                <a:highlight>
                  <a:srgbClr val="FCFBFB"/>
                </a:highlight>
              </a:rPr>
              <a:t>inconsistencia temporal</a:t>
            </a:r>
            <a:r>
              <a:rPr lang="es-419" sz="1450">
                <a:solidFill>
                  <a:schemeClr val="dk1"/>
                </a:solidFill>
                <a:highlight>
                  <a:srgbClr val="FCFBFB"/>
                </a:highlight>
              </a:rPr>
              <a:t>.</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Ideal para </a:t>
            </a:r>
            <a:r>
              <a:rPr lang="es-419" sz="1450" b="1">
                <a:solidFill>
                  <a:schemeClr val="dk1"/>
                </a:solidFill>
                <a:highlight>
                  <a:srgbClr val="FCFBFB"/>
                </a:highlight>
              </a:rPr>
              <a:t>big data</a:t>
            </a:r>
            <a:r>
              <a:rPr lang="es-419" sz="1450">
                <a:solidFill>
                  <a:schemeClr val="dk1"/>
                </a:solidFill>
                <a:highlight>
                  <a:srgbClr val="FCFBFB"/>
                </a:highlight>
              </a:rPr>
              <a:t>, redes sociales y aplicaciones distribuidas.</a:t>
            </a:r>
            <a:endParaRPr sz="1450">
              <a:solidFill>
                <a:schemeClr val="dk1"/>
              </a:solidFill>
              <a:highlight>
                <a:srgbClr val="FCFBFB"/>
              </a:highlight>
            </a:endParaRPr>
          </a:p>
          <a:p>
            <a:pPr marL="457200" lvl="0" indent="-320675" algn="l" rtl="0">
              <a:spcBef>
                <a:spcPts val="0"/>
              </a:spcBef>
              <a:spcAft>
                <a:spcPts val="0"/>
              </a:spcAft>
              <a:buClr>
                <a:schemeClr val="dk1"/>
              </a:buClr>
              <a:buSzPts val="1450"/>
              <a:buChar char="●"/>
            </a:pPr>
            <a:r>
              <a:rPr lang="es-419" sz="1450">
                <a:solidFill>
                  <a:schemeClr val="dk1"/>
                </a:solidFill>
                <a:highlight>
                  <a:srgbClr val="FCFBFB"/>
                </a:highlight>
              </a:rPr>
              <a:t>Ejemplos: plataformas en la nube, sistemas de análisis en tiempo real.</a:t>
            </a:r>
            <a:endParaRPr sz="1450">
              <a:solidFill>
                <a:schemeClr val="dk1"/>
              </a:solidFill>
              <a:highlight>
                <a:srgbClr val="FCFBFB"/>
              </a:highlight>
            </a:endParaRPr>
          </a:p>
          <a:p>
            <a:pPr marL="457200" lvl="0" indent="0" algn="l" rtl="0">
              <a:spcBef>
                <a:spcPts val="900"/>
              </a:spcBef>
              <a:spcAft>
                <a:spcPts val="0"/>
              </a:spcAft>
              <a:buNone/>
            </a:pPr>
            <a:endParaRPr sz="1450" b="1">
              <a:solidFill>
                <a:schemeClr val="dk1"/>
              </a:solidFill>
              <a:highlight>
                <a:srgbClr val="FCFBFB"/>
              </a:highlight>
            </a:endParaRPr>
          </a:p>
          <a:p>
            <a:pPr marL="0" lvl="0" indent="0" algn="l" rtl="0">
              <a:spcBef>
                <a:spcPts val="1800"/>
              </a:spcBef>
              <a:spcAft>
                <a:spcPts val="900"/>
              </a:spcAft>
              <a:buNone/>
            </a:pPr>
            <a:endParaRPr sz="1200" b="1" i="1">
              <a:solidFill>
                <a:schemeClr val="dk1"/>
              </a:solidFill>
            </a:endParaRPr>
          </a:p>
        </p:txBody>
      </p:sp>
      <p:sp>
        <p:nvSpPr>
          <p:cNvPr id="335" name="Google Shape;335;p62"/>
          <p:cNvSpPr txBox="1"/>
          <p:nvPr/>
        </p:nvSpPr>
        <p:spPr>
          <a:xfrm>
            <a:off x="0" y="0"/>
            <a:ext cx="9144000" cy="438600"/>
          </a:xfrm>
          <a:prstGeom prst="rect">
            <a:avLst/>
          </a:prstGeom>
          <a:noFill/>
          <a:ln>
            <a:noFill/>
          </a:ln>
        </p:spPr>
        <p:txBody>
          <a:bodyPr spcFirstLastPara="1" wrap="square" lIns="91425" tIns="91425" rIns="91425" bIns="91425" anchor="t" anchorCtr="0">
            <a:spAutoFit/>
          </a:bodyPr>
          <a:lstStyle/>
          <a:p>
            <a:pPr marL="0" lvl="0" indent="0" algn="l" rtl="0">
              <a:lnSpc>
                <a:spcPct val="118181"/>
              </a:lnSpc>
              <a:spcBef>
                <a:spcPts val="0"/>
              </a:spcBef>
              <a:spcAft>
                <a:spcPts val="900"/>
              </a:spcAft>
              <a:buNone/>
            </a:pPr>
            <a:r>
              <a:rPr lang="es-419" sz="1650" b="1">
                <a:solidFill>
                  <a:schemeClr val="dk1"/>
                </a:solidFill>
                <a:highlight>
                  <a:srgbClr val="FCFBFB"/>
                </a:highlight>
              </a:rPr>
              <a:t>Como elegir</a:t>
            </a:r>
            <a:endParaRPr sz="1700" b="1">
              <a:solidFill>
                <a:srgbClr val="161513"/>
              </a:solidFill>
              <a:highlight>
                <a:srgbClr val="FFFFFF"/>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3"/>
          <p:cNvSpPr txBox="1">
            <a:spLocks noGrp="1"/>
          </p:cNvSpPr>
          <p:nvPr>
            <p:ph type="body" idx="1"/>
          </p:nvPr>
        </p:nvSpPr>
        <p:spPr>
          <a:xfrm>
            <a:off x="311700" y="646700"/>
            <a:ext cx="8520600" cy="3921900"/>
          </a:xfrm>
          <a:prstGeom prst="rect">
            <a:avLst/>
          </a:prstGeom>
        </p:spPr>
        <p:txBody>
          <a:bodyPr spcFirstLastPara="1" wrap="square" lIns="91425" tIns="91425" rIns="91425" bIns="91425" anchor="t" anchorCtr="0">
            <a:noAutofit/>
          </a:bodyPr>
          <a:lstStyle/>
          <a:p>
            <a:pPr marL="0" lvl="0" indent="0" algn="l" rtl="0">
              <a:spcBef>
                <a:spcPts val="1800"/>
              </a:spcBef>
              <a:spcAft>
                <a:spcPts val="900"/>
              </a:spcAft>
              <a:buNone/>
            </a:pPr>
            <a:endParaRPr sz="900" b="1" i="1">
              <a:solidFill>
                <a:schemeClr val="dk1"/>
              </a:solidFill>
            </a:endParaRPr>
          </a:p>
        </p:txBody>
      </p:sp>
      <p:sp>
        <p:nvSpPr>
          <p:cNvPr id="341" name="Google Shape;341;p63"/>
          <p:cNvSpPr txBox="1"/>
          <p:nvPr/>
        </p:nvSpPr>
        <p:spPr>
          <a:xfrm>
            <a:off x="0" y="0"/>
            <a:ext cx="9144000" cy="438600"/>
          </a:xfrm>
          <a:prstGeom prst="rect">
            <a:avLst/>
          </a:prstGeom>
          <a:noFill/>
          <a:ln>
            <a:noFill/>
          </a:ln>
        </p:spPr>
        <p:txBody>
          <a:bodyPr spcFirstLastPara="1" wrap="square" lIns="91425" tIns="91425" rIns="91425" bIns="91425" anchor="t" anchorCtr="0">
            <a:spAutoFit/>
          </a:bodyPr>
          <a:lstStyle/>
          <a:p>
            <a:pPr marL="0" lvl="0" indent="0" algn="l" rtl="0">
              <a:lnSpc>
                <a:spcPct val="118181"/>
              </a:lnSpc>
              <a:spcBef>
                <a:spcPts val="0"/>
              </a:spcBef>
              <a:spcAft>
                <a:spcPts val="900"/>
              </a:spcAft>
              <a:buNone/>
            </a:pPr>
            <a:r>
              <a:rPr lang="es-419" sz="1650" b="1">
                <a:solidFill>
                  <a:schemeClr val="dk1"/>
                </a:solidFill>
                <a:highlight>
                  <a:srgbClr val="FCFBFB"/>
                </a:highlight>
              </a:rPr>
              <a:t>Diferencias clave entre ACID y BASE</a:t>
            </a:r>
            <a:endParaRPr sz="1650" b="1">
              <a:solidFill>
                <a:schemeClr val="dk1"/>
              </a:solidFill>
              <a:highlight>
                <a:srgbClr val="FCFBFB"/>
              </a:highlight>
            </a:endParaRPr>
          </a:p>
        </p:txBody>
      </p:sp>
      <p:graphicFrame>
        <p:nvGraphicFramePr>
          <p:cNvPr id="342" name="Google Shape;342;p63"/>
          <p:cNvGraphicFramePr/>
          <p:nvPr/>
        </p:nvGraphicFramePr>
        <p:xfrm>
          <a:off x="311700" y="762000"/>
          <a:ext cx="8520600" cy="4114165"/>
        </p:xfrm>
        <a:graphic>
          <a:graphicData uri="http://schemas.openxmlformats.org/drawingml/2006/table">
            <a:tbl>
              <a:tblPr>
                <a:noFill/>
                <a:tableStyleId>{D04E7171-8CD5-40EE-8657-8693A238C7EE}</a:tableStyleId>
              </a:tblPr>
              <a:tblGrid>
                <a:gridCol w="1926450">
                  <a:extLst>
                    <a:ext uri="{9D8B030D-6E8A-4147-A177-3AD203B41FA5}">
                      <a16:colId xmlns:a16="http://schemas.microsoft.com/office/drawing/2014/main" val="20000"/>
                    </a:ext>
                  </a:extLst>
                </a:gridCol>
                <a:gridCol w="3225250">
                  <a:extLst>
                    <a:ext uri="{9D8B030D-6E8A-4147-A177-3AD203B41FA5}">
                      <a16:colId xmlns:a16="http://schemas.microsoft.com/office/drawing/2014/main" val="20001"/>
                    </a:ext>
                  </a:extLst>
                </a:gridCol>
                <a:gridCol w="3368900">
                  <a:extLst>
                    <a:ext uri="{9D8B030D-6E8A-4147-A177-3AD203B41FA5}">
                      <a16:colId xmlns:a16="http://schemas.microsoft.com/office/drawing/2014/main" val="20002"/>
                    </a:ext>
                  </a:extLst>
                </a:gridCol>
              </a:tblGrid>
              <a:tr h="502325">
                <a:tc>
                  <a:txBody>
                    <a:bodyPr/>
                    <a:lstStyle/>
                    <a:p>
                      <a:pPr marL="0" lvl="0" indent="0" algn="ctr" rtl="0">
                        <a:lnSpc>
                          <a:spcPct val="150000"/>
                        </a:lnSpc>
                        <a:spcBef>
                          <a:spcPts val="0"/>
                        </a:spcBef>
                        <a:spcAft>
                          <a:spcPts val="0"/>
                        </a:spcAft>
                        <a:buNone/>
                      </a:pPr>
                      <a:r>
                        <a:rPr lang="es-419" sz="1650" b="1">
                          <a:highlight>
                            <a:srgbClr val="FCFBFB"/>
                          </a:highlight>
                        </a:rPr>
                        <a:t>Característica</a:t>
                      </a:r>
                      <a:endParaRPr sz="1650" b="1">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ctr" rtl="0">
                        <a:lnSpc>
                          <a:spcPct val="150000"/>
                        </a:lnSpc>
                        <a:spcBef>
                          <a:spcPts val="0"/>
                        </a:spcBef>
                        <a:spcAft>
                          <a:spcPts val="0"/>
                        </a:spcAft>
                        <a:buNone/>
                      </a:pPr>
                      <a:r>
                        <a:rPr lang="es-419" sz="1650" b="1">
                          <a:highlight>
                            <a:srgbClr val="FCFBFB"/>
                          </a:highlight>
                        </a:rPr>
                        <a:t>ACID</a:t>
                      </a:r>
                      <a:endParaRPr sz="1650" b="1">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ctr" rtl="0">
                        <a:lnSpc>
                          <a:spcPct val="150000"/>
                        </a:lnSpc>
                        <a:spcBef>
                          <a:spcPts val="0"/>
                        </a:spcBef>
                        <a:spcAft>
                          <a:spcPts val="0"/>
                        </a:spcAft>
                        <a:buNone/>
                      </a:pPr>
                      <a:r>
                        <a:rPr lang="es-419" sz="1650" b="1">
                          <a:highlight>
                            <a:srgbClr val="FCFBFB"/>
                          </a:highlight>
                        </a:rPr>
                        <a:t>BASE</a:t>
                      </a:r>
                      <a:endParaRPr sz="1650" b="1">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extLst>
                  <a:ext uri="{0D108BD9-81ED-4DB2-BD59-A6C34878D82A}">
                    <a16:rowId xmlns:a16="http://schemas.microsoft.com/office/drawing/2014/main" val="10000"/>
                  </a:ext>
                </a:extLst>
              </a:tr>
              <a:tr h="795350">
                <a:tc>
                  <a:txBody>
                    <a:bodyPr/>
                    <a:lstStyle/>
                    <a:p>
                      <a:pPr marL="0" lvl="0" indent="0" algn="l" rtl="0">
                        <a:lnSpc>
                          <a:spcPct val="150000"/>
                        </a:lnSpc>
                        <a:spcBef>
                          <a:spcPts val="0"/>
                        </a:spcBef>
                        <a:spcAft>
                          <a:spcPts val="0"/>
                        </a:spcAft>
                        <a:buNone/>
                      </a:pPr>
                      <a:r>
                        <a:rPr lang="es-419" sz="1650">
                          <a:highlight>
                            <a:srgbClr val="FCFBFB"/>
                          </a:highlight>
                        </a:rPr>
                        <a:t>Consistencia</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Garantizada en cada transacción</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Eventual, puede variar temporalmente</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extLst>
                  <a:ext uri="{0D108BD9-81ED-4DB2-BD59-A6C34878D82A}">
                    <a16:rowId xmlns:a16="http://schemas.microsoft.com/office/drawing/2014/main" val="10001"/>
                  </a:ext>
                </a:extLst>
              </a:tr>
              <a:tr h="795350">
                <a:tc>
                  <a:txBody>
                    <a:bodyPr/>
                    <a:lstStyle/>
                    <a:p>
                      <a:pPr marL="0" lvl="0" indent="0" algn="l" rtl="0">
                        <a:lnSpc>
                          <a:spcPct val="150000"/>
                        </a:lnSpc>
                        <a:spcBef>
                          <a:spcPts val="0"/>
                        </a:spcBef>
                        <a:spcAft>
                          <a:spcPts val="0"/>
                        </a:spcAft>
                        <a:buNone/>
                      </a:pPr>
                      <a:r>
                        <a:rPr lang="es-419" sz="1650">
                          <a:highlight>
                            <a:srgbClr val="FCFBFB"/>
                          </a:highlight>
                        </a:rPr>
                        <a:t>Escalabilidad</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Vertical (aumenta la potencia del servidor)</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Horizontal (añadir más nodos)</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extLst>
                  <a:ext uri="{0D108BD9-81ED-4DB2-BD59-A6C34878D82A}">
                    <a16:rowId xmlns:a16="http://schemas.microsoft.com/office/drawing/2014/main" val="10002"/>
                  </a:ext>
                </a:extLst>
              </a:tr>
              <a:tr h="795350">
                <a:tc>
                  <a:txBody>
                    <a:bodyPr/>
                    <a:lstStyle/>
                    <a:p>
                      <a:pPr marL="0" lvl="0" indent="0" algn="l" rtl="0">
                        <a:lnSpc>
                          <a:spcPct val="150000"/>
                        </a:lnSpc>
                        <a:spcBef>
                          <a:spcPts val="0"/>
                        </a:spcBef>
                        <a:spcAft>
                          <a:spcPts val="0"/>
                        </a:spcAft>
                        <a:buNone/>
                      </a:pPr>
                      <a:r>
                        <a:rPr lang="es-419" sz="1650">
                          <a:highlight>
                            <a:srgbClr val="FCFBFB"/>
                          </a:highlight>
                        </a:rPr>
                        <a:t>Rendimiento</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Menor, por la garantía de coherencia</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Mayor, por la flexibilidad y escalabilidad</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extLst>
                  <a:ext uri="{0D108BD9-81ED-4DB2-BD59-A6C34878D82A}">
                    <a16:rowId xmlns:a16="http://schemas.microsoft.com/office/drawing/2014/main" val="10003"/>
                  </a:ext>
                </a:extLst>
              </a:tr>
              <a:tr h="795350">
                <a:tc>
                  <a:txBody>
                    <a:bodyPr/>
                    <a:lstStyle/>
                    <a:p>
                      <a:pPr marL="0" lvl="0" indent="0" algn="l" rtl="0">
                        <a:lnSpc>
                          <a:spcPct val="150000"/>
                        </a:lnSpc>
                        <a:spcBef>
                          <a:spcPts val="0"/>
                        </a:spcBef>
                        <a:spcAft>
                          <a:spcPts val="0"/>
                        </a:spcAft>
                        <a:buNone/>
                      </a:pPr>
                      <a:r>
                        <a:rPr lang="es-419" sz="1650">
                          <a:highlight>
                            <a:srgbClr val="FCFBFB"/>
                          </a:highlight>
                        </a:rPr>
                        <a:t>Uso típico</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Sistemas críticos, empresariales</a:t>
                      </a: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tc>
                  <a:txBody>
                    <a:bodyPr/>
                    <a:lstStyle/>
                    <a:p>
                      <a:pPr marL="0" lvl="0" indent="0" algn="l" rtl="0">
                        <a:lnSpc>
                          <a:spcPct val="150000"/>
                        </a:lnSpc>
                        <a:spcBef>
                          <a:spcPts val="0"/>
                        </a:spcBef>
                        <a:spcAft>
                          <a:spcPts val="0"/>
                        </a:spcAft>
                        <a:buNone/>
                      </a:pPr>
                      <a:r>
                        <a:rPr lang="es-419" sz="1650">
                          <a:highlight>
                            <a:srgbClr val="FCFBFB"/>
                          </a:highlight>
                        </a:rPr>
                        <a:t>Sistemas distribuidos, big data</a:t>
                      </a:r>
                      <a:endParaRPr sz="1650">
                        <a:highlight>
                          <a:srgbClr val="FCFBFB"/>
                        </a:highlight>
                      </a:endParaRPr>
                    </a:p>
                    <a:p>
                      <a:pPr marL="0" lvl="0" indent="0" algn="l" rtl="0">
                        <a:lnSpc>
                          <a:spcPct val="150000"/>
                        </a:lnSpc>
                        <a:spcBef>
                          <a:spcPts val="0"/>
                        </a:spcBef>
                        <a:spcAft>
                          <a:spcPts val="0"/>
                        </a:spcAft>
                        <a:buNone/>
                      </a:pPr>
                      <a:endParaRPr sz="1650">
                        <a:highlight>
                          <a:srgbClr val="FCFBFB"/>
                        </a:highlight>
                      </a:endParaRPr>
                    </a:p>
                  </a:txBody>
                  <a:tcPr marL="152400" marR="152400" marT="95250" marB="95250">
                    <a:lnL w="9525" cap="flat" cmpd="sng">
                      <a:solidFill>
                        <a:srgbClr val="E7E7E7"/>
                      </a:solidFill>
                      <a:prstDash val="solid"/>
                      <a:round/>
                      <a:headEnd type="none" w="sm" len="sm"/>
                      <a:tailEnd type="none" w="sm" len="sm"/>
                    </a:lnL>
                    <a:lnR w="9525" cap="flat" cmpd="sng">
                      <a:solidFill>
                        <a:srgbClr val="E7E7E7"/>
                      </a:solidFill>
                      <a:prstDash val="solid"/>
                      <a:round/>
                      <a:headEnd type="none" w="sm" len="sm"/>
                      <a:tailEnd type="none" w="sm" len="sm"/>
                    </a:lnR>
                    <a:lnT w="9525" cap="flat" cmpd="sng">
                      <a:solidFill>
                        <a:srgbClr val="E7E7E7"/>
                      </a:solidFill>
                      <a:prstDash val="solid"/>
                      <a:round/>
                      <a:headEnd type="none" w="sm" len="sm"/>
                      <a:tailEnd type="none" w="sm" len="sm"/>
                    </a:lnT>
                    <a:lnB w="9525" cap="flat" cmpd="sng">
                      <a:solidFill>
                        <a:srgbClr val="E7E7E7"/>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4"/>
          <p:cNvSpPr txBox="1">
            <a:spLocks noGrp="1"/>
          </p:cNvSpPr>
          <p:nvPr>
            <p:ph type="body" idx="1"/>
          </p:nvPr>
        </p:nvSpPr>
        <p:spPr>
          <a:xfrm>
            <a:off x="311700" y="646700"/>
            <a:ext cx="8520600" cy="4587000"/>
          </a:xfrm>
          <a:prstGeom prst="rect">
            <a:avLst/>
          </a:prstGeom>
        </p:spPr>
        <p:txBody>
          <a:bodyPr spcFirstLastPara="1" wrap="square" lIns="91425" tIns="91425" rIns="91425" bIns="91425" anchor="t" anchorCtr="0">
            <a:noAutofit/>
          </a:bodyPr>
          <a:lstStyle/>
          <a:p>
            <a:pPr marL="152400" marR="152400" lvl="0" indent="0" algn="l" rtl="0">
              <a:lnSpc>
                <a:spcPct val="150000"/>
              </a:lnSpc>
              <a:spcBef>
                <a:spcPts val="0"/>
              </a:spcBef>
              <a:spcAft>
                <a:spcPts val="0"/>
              </a:spcAft>
              <a:buNone/>
            </a:pPr>
            <a:r>
              <a:rPr lang="es-419" sz="1350">
                <a:solidFill>
                  <a:schemeClr val="dk1"/>
                </a:solidFill>
                <a:highlight>
                  <a:srgbClr val="FCFBFB"/>
                </a:highlight>
              </a:rPr>
              <a:t>Ejemplos de sistemas que cumplen con las propiedades ACID incluyen:</a:t>
            </a:r>
            <a:endParaRPr sz="1350">
              <a:solidFill>
                <a:schemeClr val="dk1"/>
              </a:solidFill>
              <a:highlight>
                <a:srgbClr val="FCFBFB"/>
              </a:highlight>
            </a:endParaRPr>
          </a:p>
          <a:p>
            <a:pPr marL="0" marR="152400" lvl="0" indent="0" algn="l" rtl="0">
              <a:lnSpc>
                <a:spcPct val="150000"/>
              </a:lnSpc>
              <a:spcBef>
                <a:spcPts val="1200"/>
              </a:spcBef>
              <a:spcAft>
                <a:spcPts val="0"/>
              </a:spcAft>
              <a:buNone/>
            </a:pPr>
            <a:r>
              <a:rPr lang="es-419" sz="1350" b="1">
                <a:solidFill>
                  <a:schemeClr val="dk1"/>
                </a:solidFill>
                <a:highlight>
                  <a:srgbClr val="FCFBFB"/>
                </a:highlight>
              </a:rPr>
              <a:t>Oracle Database:</a:t>
            </a:r>
            <a:r>
              <a:rPr lang="es-419" sz="1350">
                <a:solidFill>
                  <a:schemeClr val="dk1"/>
                </a:solidFill>
                <a:highlight>
                  <a:srgbClr val="FCFBFB"/>
                </a:highlight>
              </a:rPr>
              <a:t> Oracle Database facilita bases de datos multimodelo distribuidas a escala global y lineal, que soportan datos estructurados y no estructurados. A través de acuerdos multicloud exclusivos con Microsoft Azure, AWS y Google Cloud, el servicio de base de datos distribuida de Oracle opera en los centros de datos de estos hyperscalers para unificar la gestión y las operaciones, ayudando a eliminar la latencia de red y el costo de mover datos entre nubes.</a:t>
            </a:r>
            <a:endParaRPr sz="1350">
              <a:solidFill>
                <a:schemeClr val="dk1"/>
              </a:solidFill>
              <a:highlight>
                <a:srgbClr val="FCFBFB"/>
              </a:highlight>
            </a:endParaRPr>
          </a:p>
          <a:p>
            <a:pPr marL="0" marR="152400" lvl="0" indent="0" algn="l" rtl="0">
              <a:spcBef>
                <a:spcPts val="0"/>
              </a:spcBef>
              <a:spcAft>
                <a:spcPts val="0"/>
              </a:spcAft>
              <a:buNone/>
            </a:pPr>
            <a:endParaRPr sz="1350" b="1">
              <a:solidFill>
                <a:schemeClr val="dk1"/>
              </a:solidFill>
              <a:highlight>
                <a:srgbClr val="FCFBFB"/>
              </a:highlight>
            </a:endParaRPr>
          </a:p>
          <a:p>
            <a:pPr marL="0" marR="152400" lvl="0" indent="0" algn="l" rtl="0">
              <a:spcBef>
                <a:spcPts val="0"/>
              </a:spcBef>
              <a:spcAft>
                <a:spcPts val="0"/>
              </a:spcAft>
              <a:buNone/>
            </a:pPr>
            <a:r>
              <a:rPr lang="es-419" sz="1350" b="1">
                <a:solidFill>
                  <a:schemeClr val="dk1"/>
                </a:solidFill>
                <a:highlight>
                  <a:srgbClr val="FCFBFB"/>
                </a:highlight>
              </a:rPr>
              <a:t>Google Cloud Spanner:</a:t>
            </a:r>
            <a:r>
              <a:rPr lang="es-419" sz="1350">
                <a:solidFill>
                  <a:schemeClr val="dk1"/>
                </a:solidFill>
                <a:highlight>
                  <a:srgbClr val="FCFBFB"/>
                </a:highlight>
              </a:rPr>
              <a:t> Cloud Spanner es un servicio de base de datos distribuida globalmente y escalable horizontalmente que funciona en Google Cloud. El servicio proporciona distribución global, consistencia fuerte y particionado automático.</a:t>
            </a:r>
            <a:endParaRPr sz="1350">
              <a:solidFill>
                <a:schemeClr val="dk1"/>
              </a:solidFill>
              <a:highlight>
                <a:srgbClr val="FCFBFB"/>
              </a:highlight>
            </a:endParaRPr>
          </a:p>
          <a:p>
            <a:pPr marL="0" marR="152400" lvl="0" indent="0" algn="l" rtl="0">
              <a:spcBef>
                <a:spcPts val="0"/>
              </a:spcBef>
              <a:spcAft>
                <a:spcPts val="0"/>
              </a:spcAft>
              <a:buNone/>
            </a:pPr>
            <a:endParaRPr sz="1350" b="1">
              <a:solidFill>
                <a:schemeClr val="dk1"/>
              </a:solidFill>
              <a:highlight>
                <a:srgbClr val="FCFBFB"/>
              </a:highlight>
            </a:endParaRPr>
          </a:p>
          <a:p>
            <a:pPr marL="0" marR="152400" lvl="0" indent="0" algn="l" rtl="0">
              <a:spcBef>
                <a:spcPts val="0"/>
              </a:spcBef>
              <a:spcAft>
                <a:spcPts val="0"/>
              </a:spcAft>
              <a:buNone/>
            </a:pPr>
            <a:r>
              <a:rPr lang="es-419" sz="1350" b="1">
                <a:solidFill>
                  <a:schemeClr val="dk1"/>
                </a:solidFill>
                <a:highlight>
                  <a:srgbClr val="FCFBFB"/>
                </a:highlight>
              </a:rPr>
              <a:t>CockroachDB:</a:t>
            </a:r>
            <a:r>
              <a:rPr lang="es-419" sz="1350">
                <a:solidFill>
                  <a:schemeClr val="dk1"/>
                </a:solidFill>
                <a:highlight>
                  <a:srgbClr val="FCFBFB"/>
                </a:highlight>
              </a:rPr>
              <a:t> Esta base de datos SQL distribuida presenta transacciones ACID, arquitectura distribuida y despliegues en múltiples regiones.</a:t>
            </a:r>
            <a:endParaRPr sz="1350">
              <a:solidFill>
                <a:schemeClr val="dk1"/>
              </a:solidFill>
              <a:highlight>
                <a:srgbClr val="FCFBFB"/>
              </a:highlight>
            </a:endParaRPr>
          </a:p>
          <a:p>
            <a:pPr marL="0" marR="152400" lvl="0" indent="0" algn="l" rtl="0">
              <a:spcBef>
                <a:spcPts val="0"/>
              </a:spcBef>
              <a:spcAft>
                <a:spcPts val="0"/>
              </a:spcAft>
              <a:buNone/>
            </a:pPr>
            <a:endParaRPr sz="1350">
              <a:solidFill>
                <a:schemeClr val="dk1"/>
              </a:solidFill>
              <a:highlight>
                <a:srgbClr val="FCFBFB"/>
              </a:highlight>
            </a:endParaRPr>
          </a:p>
          <a:p>
            <a:pPr marL="0" marR="152400" lvl="0" indent="0" algn="l" rtl="0">
              <a:spcBef>
                <a:spcPts val="0"/>
              </a:spcBef>
              <a:spcAft>
                <a:spcPts val="0"/>
              </a:spcAft>
              <a:buNone/>
            </a:pPr>
            <a:r>
              <a:rPr lang="es-419" sz="1350" b="1">
                <a:solidFill>
                  <a:schemeClr val="dk1"/>
                </a:solidFill>
                <a:highlight>
                  <a:srgbClr val="FCFBFB"/>
                </a:highlight>
              </a:rPr>
              <a:t>YugabyteDB:</a:t>
            </a:r>
            <a:r>
              <a:rPr lang="es-419" sz="1350">
                <a:solidFill>
                  <a:schemeClr val="dk1"/>
                </a:solidFill>
                <a:highlight>
                  <a:srgbClr val="FCFBFB"/>
                </a:highlight>
              </a:rPr>
              <a:t> Una base de datos SQL distribuida de código abierto, YugabyteDB combina las características de las bases de datos relacionales con la escalabilidad y resiliencia de las bases NoSQL.</a:t>
            </a:r>
            <a:endParaRPr sz="2100">
              <a:solidFill>
                <a:srgbClr val="161513"/>
              </a:solidFill>
              <a:highlight>
                <a:srgbClr val="FFFFFF"/>
              </a:highlight>
            </a:endParaRPr>
          </a:p>
        </p:txBody>
      </p:sp>
      <p:sp>
        <p:nvSpPr>
          <p:cNvPr id="348" name="Google Shape;348;p64"/>
          <p:cNvSpPr txBox="1"/>
          <p:nvPr/>
        </p:nvSpPr>
        <p:spPr>
          <a:xfrm>
            <a:off x="0" y="0"/>
            <a:ext cx="9144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400"/>
              </a:spcAft>
              <a:buNone/>
            </a:pPr>
            <a:r>
              <a:rPr lang="es-419" sz="1700" b="1">
                <a:solidFill>
                  <a:srgbClr val="161513"/>
                </a:solidFill>
                <a:highlight>
                  <a:srgbClr val="FFFFFF"/>
                </a:highlight>
              </a:rPr>
              <a:t>Ejemplos de Bases de datos distribuidas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5"/>
          <p:cNvSpPr txBox="1">
            <a:spLocks noGrp="1"/>
          </p:cNvSpPr>
          <p:nvPr>
            <p:ph type="body" idx="1"/>
          </p:nvPr>
        </p:nvSpPr>
        <p:spPr>
          <a:xfrm>
            <a:off x="90225" y="383550"/>
            <a:ext cx="8918400" cy="4376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s-419" sz="1350">
                <a:solidFill>
                  <a:schemeClr val="dk1"/>
                </a:solidFill>
                <a:highlight>
                  <a:srgbClr val="FCFBFB"/>
                </a:highlight>
              </a:rPr>
              <a:t>Ejemplos de sistemas de tipo BASE incluyen:</a:t>
            </a:r>
            <a:endParaRPr sz="1350">
              <a:solidFill>
                <a:schemeClr val="dk1"/>
              </a:solidFill>
              <a:highlight>
                <a:srgbClr val="FCFBFB"/>
              </a:highlight>
            </a:endParaRPr>
          </a:p>
          <a:p>
            <a:pPr marL="457200" lvl="0" indent="-314325" algn="l" rtl="0">
              <a:spcBef>
                <a:spcPts val="0"/>
              </a:spcBef>
              <a:spcAft>
                <a:spcPts val="0"/>
              </a:spcAft>
              <a:buClr>
                <a:schemeClr val="dk1"/>
              </a:buClr>
              <a:buSzPts val="1350"/>
              <a:buChar char="●"/>
            </a:pPr>
            <a:r>
              <a:rPr lang="es-419" sz="1350" b="1">
                <a:solidFill>
                  <a:schemeClr val="dk1"/>
                </a:solidFill>
                <a:highlight>
                  <a:srgbClr val="FCFBFB"/>
                </a:highlight>
              </a:rPr>
              <a:t>Oracle Database:</a:t>
            </a:r>
            <a:r>
              <a:rPr lang="es-419" sz="1350">
                <a:solidFill>
                  <a:schemeClr val="dk1"/>
                </a:solidFill>
                <a:highlight>
                  <a:srgbClr val="FCFBFB"/>
                </a:highlight>
              </a:rPr>
              <a:t> La base de datos multimodal de Oracle soporta el desarrollo de aplicaciones sin esquema convencional mediante el modelo de datos JSON. Esto permite un enfoque de desarrollo híbrido, combinando las características del desarrollo de aplicaciones con bases de datos NoSQL orientadas a documentos y las funciones de una base de datos relacional de clase empresarial.</a:t>
            </a:r>
            <a:endParaRPr sz="1350">
              <a:solidFill>
                <a:schemeClr val="dk1"/>
              </a:solidFill>
              <a:highlight>
                <a:srgbClr val="FCFBFB"/>
              </a:highlight>
            </a:endParaRPr>
          </a:p>
          <a:p>
            <a:pPr marL="457200" lvl="0" indent="-314325" algn="l" rtl="0">
              <a:spcBef>
                <a:spcPts val="0"/>
              </a:spcBef>
              <a:spcAft>
                <a:spcPts val="0"/>
              </a:spcAft>
              <a:buClr>
                <a:schemeClr val="dk1"/>
              </a:buClr>
              <a:buSzPts val="1350"/>
              <a:buChar char="●"/>
            </a:pPr>
            <a:r>
              <a:rPr lang="es-419" sz="1350" b="1">
                <a:solidFill>
                  <a:schemeClr val="dk1"/>
                </a:solidFill>
                <a:highlight>
                  <a:srgbClr val="FCFBFB"/>
                </a:highlight>
              </a:rPr>
              <a:t>Apache Cassandra:</a:t>
            </a:r>
            <a:r>
              <a:rPr lang="es-419" sz="1350">
                <a:solidFill>
                  <a:schemeClr val="dk1"/>
                </a:solidFill>
                <a:highlight>
                  <a:srgbClr val="FCFBFB"/>
                </a:highlight>
              </a:rPr>
              <a:t> Cassandra es una base de datos NoSQL distribuida diseñada para manejar grandes volúmenes de datos en servidores económicos. Ofrece alta disponibilidad a un costo mínimo.</a:t>
            </a:r>
            <a:endParaRPr sz="1350">
              <a:solidFill>
                <a:schemeClr val="dk1"/>
              </a:solidFill>
              <a:highlight>
                <a:srgbClr val="FCFBFB"/>
              </a:highlight>
            </a:endParaRPr>
          </a:p>
          <a:p>
            <a:pPr marL="457200" lvl="0" indent="-314325" algn="l" rtl="0">
              <a:spcBef>
                <a:spcPts val="0"/>
              </a:spcBef>
              <a:spcAft>
                <a:spcPts val="0"/>
              </a:spcAft>
              <a:buClr>
                <a:schemeClr val="dk1"/>
              </a:buClr>
              <a:buSzPts val="1350"/>
              <a:buChar char="●"/>
            </a:pPr>
            <a:r>
              <a:rPr lang="es-419" sz="1350" b="1">
                <a:solidFill>
                  <a:schemeClr val="dk1"/>
                </a:solidFill>
                <a:highlight>
                  <a:srgbClr val="FCFBFB"/>
                </a:highlight>
              </a:rPr>
              <a:t>Couchbase:</a:t>
            </a:r>
            <a:r>
              <a:rPr lang="es-419" sz="1350">
                <a:solidFill>
                  <a:schemeClr val="dk1"/>
                </a:solidFill>
                <a:highlight>
                  <a:srgbClr val="FCFBFB"/>
                </a:highlight>
              </a:rPr>
              <a:t> Una base de datos NoSQL distribuida, Couchbase presenta almacenamiento orientado a documentos, caché en memoria y particionado automático, además de replicación entre múltiples centros de datos.</a:t>
            </a:r>
            <a:endParaRPr sz="1350">
              <a:solidFill>
                <a:schemeClr val="dk1"/>
              </a:solidFill>
              <a:highlight>
                <a:srgbClr val="FCFBFB"/>
              </a:highlight>
            </a:endParaRPr>
          </a:p>
          <a:p>
            <a:pPr marL="457200" lvl="0" indent="-314325" algn="l" rtl="0">
              <a:spcBef>
                <a:spcPts val="0"/>
              </a:spcBef>
              <a:spcAft>
                <a:spcPts val="0"/>
              </a:spcAft>
              <a:buClr>
                <a:schemeClr val="dk1"/>
              </a:buClr>
              <a:buSzPts val="1350"/>
              <a:buChar char="●"/>
            </a:pPr>
            <a:r>
              <a:rPr lang="es-419" sz="1350" b="1">
                <a:solidFill>
                  <a:schemeClr val="dk1"/>
                </a:solidFill>
                <a:highlight>
                  <a:srgbClr val="FCFBFB"/>
                </a:highlight>
              </a:rPr>
              <a:t>MongoDB:</a:t>
            </a:r>
            <a:r>
              <a:rPr lang="es-419" sz="1350">
                <a:solidFill>
                  <a:schemeClr val="dk1"/>
                </a:solidFill>
                <a:highlight>
                  <a:srgbClr val="FCFBFB"/>
                </a:highlight>
              </a:rPr>
              <a:t> MongoDB es una base de datos NoSQL muy popular que utiliza un modelo de datos orientado a documentos. Está diseñada para alto rendimiento y fácil escalabilidad, con esquemas flexibles, particionado automático y conjuntos de réplicas para alta disponibilidad.</a:t>
            </a:r>
            <a:endParaRPr sz="1350">
              <a:solidFill>
                <a:schemeClr val="dk1"/>
              </a:solidFill>
              <a:highlight>
                <a:srgbClr val="FCFBFB"/>
              </a:highlight>
            </a:endParaRPr>
          </a:p>
          <a:p>
            <a:pPr marL="457200" lvl="0" indent="-314325" algn="l" rtl="0">
              <a:spcBef>
                <a:spcPts val="0"/>
              </a:spcBef>
              <a:spcAft>
                <a:spcPts val="0"/>
              </a:spcAft>
              <a:buClr>
                <a:schemeClr val="dk1"/>
              </a:buClr>
              <a:buSzPts val="1350"/>
              <a:buChar char="●"/>
            </a:pPr>
            <a:r>
              <a:rPr lang="es-419" sz="1350" b="1">
                <a:solidFill>
                  <a:schemeClr val="dk1"/>
                </a:solidFill>
                <a:highlight>
                  <a:srgbClr val="FCFBFB"/>
                </a:highlight>
              </a:rPr>
              <a:t>Redis:</a:t>
            </a:r>
            <a:r>
              <a:rPr lang="es-419" sz="1350">
                <a:solidFill>
                  <a:schemeClr val="dk1"/>
                </a:solidFill>
                <a:highlight>
                  <a:srgbClr val="FCFBFB"/>
                </a:highlight>
              </a:rPr>
              <a:t> Este almacén de datos en memoria, NoSQL, puede usarse como base de datos, caché y/o intermediario de mensajes. Soporta una amplia variedad de estructuras de datos, incluyendo cadenas, hashes, listas y conjuntos. En su versión empresarial, Redis intenta ofrecer sistemas que cumplen tanto con BASE como con ACID.</a:t>
            </a:r>
            <a:endParaRPr sz="2500">
              <a:solidFill>
                <a:srgbClr val="161513"/>
              </a:solidFill>
              <a:highlight>
                <a:srgbClr val="FFFFFF"/>
              </a:highlight>
            </a:endParaRPr>
          </a:p>
        </p:txBody>
      </p:sp>
      <p:sp>
        <p:nvSpPr>
          <p:cNvPr id="354" name="Google Shape;354;p65"/>
          <p:cNvSpPr txBox="1"/>
          <p:nvPr/>
        </p:nvSpPr>
        <p:spPr>
          <a:xfrm>
            <a:off x="0" y="0"/>
            <a:ext cx="9144000" cy="8118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Clr>
                <a:schemeClr val="dk1"/>
              </a:buClr>
              <a:buSzPts val="1100"/>
              <a:buFont typeface="Arial"/>
              <a:buNone/>
            </a:pPr>
            <a:r>
              <a:rPr lang="es-419" sz="1700" b="1">
                <a:solidFill>
                  <a:srgbClr val="161513"/>
                </a:solidFill>
                <a:highlight>
                  <a:schemeClr val="lt1"/>
                </a:highlight>
              </a:rPr>
              <a:t>Ejemplos de Bases de datos distribuidas</a:t>
            </a:r>
            <a:endParaRPr>
              <a:solidFill>
                <a:schemeClr val="dk1"/>
              </a:solidFill>
            </a:endParaRPr>
          </a:p>
          <a:p>
            <a:pPr marL="0" lvl="0" indent="0" algn="l" rtl="0">
              <a:lnSpc>
                <a:spcPct val="120000"/>
              </a:lnSpc>
              <a:spcBef>
                <a:spcPts val="400"/>
              </a:spcBef>
              <a:spcAft>
                <a:spcPts val="400"/>
              </a:spcAft>
              <a:buNone/>
            </a:pPr>
            <a:endParaRPr sz="1700" b="1">
              <a:solidFill>
                <a:srgbClr val="161513"/>
              </a:solidFill>
              <a:highlight>
                <a:srgbClr val="FFFFFF"/>
              </a:high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5189</Words>
  <Application>Microsoft Office PowerPoint</Application>
  <PresentationFormat>Presentación en pantalla (16:9)</PresentationFormat>
  <Paragraphs>358</Paragraphs>
  <Slides>53</Slides>
  <Notes>53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53</vt:i4>
      </vt:variant>
    </vt:vector>
  </HeadingPairs>
  <TitlesOfParts>
    <vt:vector size="56" baseType="lpstr">
      <vt:lpstr>Arial</vt:lpstr>
      <vt:lpstr>Times New Roman</vt:lpstr>
      <vt:lpstr>Simple Light</vt:lpstr>
      <vt:lpstr>Bases de Datos Distribuidas</vt:lpstr>
      <vt:lpstr>¿Qué son las Bases de datos distribuidas?</vt:lpstr>
      <vt:lpstr>¿Qué son las Bases de datos distribuidas?</vt:lpstr>
      <vt:lpstr>¿Qué son las Bases de datos distribuidas?</vt:lpstr>
      <vt:lpstr>Presentación de PowerPoint</vt:lpstr>
      <vt:lpstr>Componentes de una Bases de datos distribuidas</vt:lpstr>
      <vt:lpstr>Presentación de PowerPoint</vt:lpstr>
      <vt:lpstr>Presentación de PowerPoint</vt:lpstr>
      <vt:lpstr>DDBMS</vt:lpstr>
      <vt:lpstr>Presentación de PowerPoint</vt:lpstr>
      <vt:lpstr>Presentación de PowerPoint</vt:lpstr>
      <vt:lpstr>Presentación de PowerPoint</vt:lpstr>
      <vt:lpstr>Evolución en la gestión de datos</vt:lpstr>
      <vt:lpstr>Evolución en la gestión de datos</vt:lpstr>
      <vt:lpstr>Evolución en la gestión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ELIEZER ALCAZAR SILVA</cp:lastModifiedBy>
  <cp:revision>1</cp:revision>
  <dcterms:modified xsi:type="dcterms:W3CDTF">2025-10-24T18:15:47Z</dcterms:modified>
</cp:coreProperties>
</file>