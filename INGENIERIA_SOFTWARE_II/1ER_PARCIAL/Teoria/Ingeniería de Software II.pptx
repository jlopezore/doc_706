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B6469D-B976-4FB5-97F8-F5E993ACE9E1}" type="datetimeFigureOut">
              <a:rPr lang="es-MX" smtClean="0"/>
              <a:t>01/10/2025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0313933-D290-4C09-B311-C5E00FC2E37F}" type="slidenum">
              <a:rPr lang="es-MX" smtClean="0"/>
              <a:t>‹Nº›</a:t>
            </a:fld>
            <a:endParaRPr lang="es-MX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0936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469D-B976-4FB5-97F8-F5E993ACE9E1}" type="datetimeFigureOut">
              <a:rPr lang="es-MX" smtClean="0"/>
              <a:t>01/10/2025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933-D290-4C09-B311-C5E00FC2E37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9125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469D-B976-4FB5-97F8-F5E993ACE9E1}" type="datetimeFigureOut">
              <a:rPr lang="es-MX" smtClean="0"/>
              <a:t>01/10/2025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933-D290-4C09-B311-C5E00FC2E37F}" type="slidenum">
              <a:rPr lang="es-MX" smtClean="0"/>
              <a:t>‹Nº›</a:t>
            </a:fld>
            <a:endParaRPr lang="es-MX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35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469D-B976-4FB5-97F8-F5E993ACE9E1}" type="datetimeFigureOut">
              <a:rPr lang="es-MX" smtClean="0"/>
              <a:t>01/10/2025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933-D290-4C09-B311-C5E00FC2E37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5561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469D-B976-4FB5-97F8-F5E993ACE9E1}" type="datetimeFigureOut">
              <a:rPr lang="es-MX" smtClean="0"/>
              <a:t>01/10/2025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933-D290-4C09-B311-C5E00FC2E37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0795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469D-B976-4FB5-97F8-F5E993ACE9E1}" type="datetimeFigureOut">
              <a:rPr lang="es-MX" smtClean="0"/>
              <a:t>01/10/2025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933-D290-4C09-B311-C5E00FC2E37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0801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469D-B976-4FB5-97F8-F5E993ACE9E1}" type="datetimeFigureOut">
              <a:rPr lang="es-MX" smtClean="0"/>
              <a:t>01/10/2025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933-D290-4C09-B311-C5E00FC2E37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2686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469D-B976-4FB5-97F8-F5E993ACE9E1}" type="datetimeFigureOut">
              <a:rPr lang="es-MX" smtClean="0"/>
              <a:t>01/10/2025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933-D290-4C09-B311-C5E00FC2E37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1154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469D-B976-4FB5-97F8-F5E993ACE9E1}" type="datetimeFigureOut">
              <a:rPr lang="es-MX" smtClean="0"/>
              <a:t>01/10/2025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933-D290-4C09-B311-C5E00FC2E37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894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469D-B976-4FB5-97F8-F5E993ACE9E1}" type="datetimeFigureOut">
              <a:rPr lang="es-MX" smtClean="0"/>
              <a:t>01/10/2025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933-D290-4C09-B311-C5E00FC2E37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3015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469D-B976-4FB5-97F8-F5E993ACE9E1}" type="datetimeFigureOut">
              <a:rPr lang="es-MX" smtClean="0"/>
              <a:t>01/10/2025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933-D290-4C09-B311-C5E00FC2E37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43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2B6469D-B976-4FB5-97F8-F5E993ACE9E1}" type="datetimeFigureOut">
              <a:rPr lang="es-MX" smtClean="0"/>
              <a:t>01/10/2025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70313933-D290-4C09-B311-C5E00FC2E37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3260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eb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1CDEB-60E8-7BC9-2A55-4650D93D2C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Ingeniería de Software II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66645-275D-7EB5-7CDD-37B05BE71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2070" y="3817910"/>
            <a:ext cx="8767860" cy="1388165"/>
          </a:xfrm>
        </p:spPr>
        <p:txBody>
          <a:bodyPr/>
          <a:lstStyle/>
          <a:p>
            <a:r>
              <a:rPr lang="es-MX" b="1" dirty="0"/>
              <a:t>¡Bienvenidos, 706!</a:t>
            </a:r>
          </a:p>
          <a:p>
            <a:r>
              <a:rPr lang="es-MX" b="1" dirty="0"/>
              <a:t>Dr. Eric Melecio Castro Leal</a:t>
            </a:r>
            <a:r>
              <a:rPr lang="es-MX" dirty="0"/>
              <a:t> </a:t>
            </a:r>
          </a:p>
          <a:p>
            <a:r>
              <a:rPr lang="es-MX" dirty="0"/>
              <a:t>Licenciatura en Informática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764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BD941F-2D42-3F75-820A-CB6268A24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ES" b="1" dirty="0"/>
              <a:t>Agenda de Hoy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Recordando Ingeniería de Software I:</a:t>
            </a:r>
            <a:r>
              <a:rPr lang="es-ES" dirty="0"/>
              <a:t> Un repaso de los conceptos fundamentales que forman la base de nuestro curso.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Introducción a Ingeniería de Software II:</a:t>
            </a:r>
            <a:r>
              <a:rPr lang="es-ES" dirty="0"/>
              <a:t> ¿Qué sigue ahora?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Unidad 1: Implementación:</a:t>
            </a:r>
            <a:r>
              <a:rPr lang="es-ES" dirty="0"/>
              <a:t> El primer paso para materializar el software.</a:t>
            </a:r>
          </a:p>
          <a:p>
            <a:pPr marL="4572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91762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F501D4-9741-3573-0CD3-22FE13E0F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745" y="586819"/>
            <a:ext cx="9872871" cy="4038600"/>
          </a:xfrm>
        </p:spPr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Recordando Ingeniería de Software I</a:t>
            </a:r>
          </a:p>
          <a:p>
            <a:r>
              <a:rPr lang="es-ES" dirty="0">
                <a:solidFill>
                  <a:schemeClr val="bg1"/>
                </a:solidFill>
              </a:rPr>
              <a:t>El objetivo principal fue: </a:t>
            </a:r>
            <a:r>
              <a:rPr lang="es-ES" i="1" dirty="0">
                <a:solidFill>
                  <a:schemeClr val="bg1"/>
                </a:solidFill>
              </a:rPr>
              <a:t>Aplicar los métodos y técnicas existentes para la obtención de requerimientos, análisis y diseño de un proyecto de software.</a:t>
            </a:r>
            <a:endParaRPr lang="es-ES" dirty="0">
              <a:solidFill>
                <a:schemeClr val="bg1"/>
              </a:solidFill>
            </a:endParaRPr>
          </a:p>
          <a:p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EC8C23E-2B47-92A7-90FD-6939D93815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220" y="1531310"/>
            <a:ext cx="5963920" cy="532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64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A04C9-0636-D402-F835-153065D2D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6562EA-E891-8B66-994D-12C6447D9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065" y="1216739"/>
            <a:ext cx="9872871" cy="4038600"/>
          </a:xfrm>
        </p:spPr>
        <p:txBody>
          <a:bodyPr/>
          <a:lstStyle/>
          <a:p>
            <a:pPr rtl="0">
              <a:buNone/>
            </a:pPr>
            <a:r>
              <a:rPr lang="es-ES" b="1" dirty="0"/>
              <a:t>1. Planificación/Análisis de Requisitos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Inicio:</a:t>
            </a:r>
            <a:r>
              <a:rPr lang="es-ES" dirty="0"/>
              <a:t> El diagrama comienza con la identificación de una necesidad o problema que el software debe resolver.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Análisis de Requisitos:</a:t>
            </a:r>
            <a:r>
              <a:rPr lang="es-ES" dirty="0"/>
              <a:t> Esta etapa implica la recopilación y el análisis de los requisitos del cliente y las partes interesadas. Se definen las funcionalidades, el rendimiento, la seguridad y otras características importantes del software.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Documentación de Requisitos:</a:t>
            </a:r>
            <a:r>
              <a:rPr lang="es-ES" dirty="0"/>
              <a:t> Los requisitos se documentan en un documento de especificación de requisitos de software (SRS).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Decisión:</a:t>
            </a:r>
            <a:r>
              <a:rPr lang="es-ES" dirty="0"/>
              <a:t> ¿Los requisitos son claros y completos? Si no, se regresa al análisis de requisitos. Si sí, se avanza a la siguiente etapa.</a:t>
            </a:r>
          </a:p>
          <a:p>
            <a:pPr marL="4572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32614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36C6B-7690-EDA7-C852-401000EB4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ED3592-F7D3-DD07-544A-3B21E234D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600" y="1216800"/>
            <a:ext cx="9872871" cy="4038600"/>
          </a:xfrm>
        </p:spPr>
        <p:txBody>
          <a:bodyPr>
            <a:normAutofit lnSpcReduction="10000"/>
          </a:bodyPr>
          <a:lstStyle/>
          <a:p>
            <a:pPr rtl="0">
              <a:buNone/>
            </a:pPr>
            <a:r>
              <a:rPr lang="es-ES" b="1" dirty="0"/>
              <a:t>2. Diseño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Diseño de la Arquitectura:</a:t>
            </a:r>
            <a:r>
              <a:rPr lang="es-ES" dirty="0"/>
              <a:t> Se define la arquitectura general del software, incluyendo los módulos, las interfaces y las tecnologías a utilizar.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Diseño Detallado:</a:t>
            </a:r>
            <a:r>
              <a:rPr lang="es-ES" dirty="0"/>
              <a:t> Se diseñan los componentes individuales del software, incluyendo las clases, las funciones y las bases de datos.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Documentación del Diseño:</a:t>
            </a:r>
            <a:r>
              <a:rPr lang="es-ES" dirty="0"/>
              <a:t> El diseño se documenta en un documento de diseño de software (SDD).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Revisión del Diseño:</a:t>
            </a:r>
            <a:r>
              <a:rPr lang="es-ES" dirty="0"/>
              <a:t> Se revisa el diseño para identificar posibles problemas o mejoras.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Decisión:</a:t>
            </a:r>
            <a:r>
              <a:rPr lang="es-ES" dirty="0"/>
              <a:t> ¿El diseño es adecuado y factible? Si no, se regresa al diseño de la arquitectura o al diseño detallado. Si sí, se avanza a la siguiente etapa.</a:t>
            </a:r>
          </a:p>
          <a:p>
            <a:pPr marL="4572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77432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DE7A9-CF41-8BBB-2DB7-E238A0ADA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DE4D51-F8F2-B0DD-8E9D-A7FE94DD9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600" y="1216800"/>
            <a:ext cx="9872871" cy="4038600"/>
          </a:xfrm>
        </p:spPr>
        <p:txBody>
          <a:bodyPr>
            <a:normAutofit/>
          </a:bodyPr>
          <a:lstStyle/>
          <a:p>
            <a:pPr rtl="0">
              <a:buNone/>
            </a:pPr>
            <a:r>
              <a:rPr lang="es-ES" b="1" dirty="0"/>
              <a:t>3. Implementación/Codificación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Codificación:</a:t>
            </a:r>
            <a:r>
              <a:rPr lang="es-ES" dirty="0"/>
              <a:t> Se escribe el código del software según el diseño.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Pruebas Unitarias:</a:t>
            </a:r>
            <a:r>
              <a:rPr lang="es-ES" dirty="0"/>
              <a:t> Se prueban los componentes individuales del software para verificar que funcionan correctamente.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Integración:</a:t>
            </a:r>
            <a:r>
              <a:rPr lang="es-ES" dirty="0"/>
              <a:t> Se integran los diferentes componentes del software.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Decisión:</a:t>
            </a:r>
            <a:r>
              <a:rPr lang="es-ES" dirty="0"/>
              <a:t> ¿El código cumple con los estándares y funciona correctamente? Si no, se regresa a la codificación. Si sí, se avanza a la siguiente etapa.</a:t>
            </a:r>
          </a:p>
          <a:p>
            <a:pPr marL="4572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24586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BDF08-76D5-018C-721B-C9AD7981B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814BB7-163C-4298-D6F5-9E1D9B715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852" y="1216800"/>
            <a:ext cx="10785303" cy="4411840"/>
          </a:xfrm>
        </p:spPr>
        <p:txBody>
          <a:bodyPr>
            <a:normAutofit/>
          </a:bodyPr>
          <a:lstStyle/>
          <a:p>
            <a:pPr rtl="0">
              <a:buNone/>
            </a:pPr>
            <a:r>
              <a:rPr lang="es-ES" b="1" dirty="0"/>
              <a:t>4. Pruebas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Pruebas de Integración:</a:t>
            </a:r>
            <a:r>
              <a:rPr lang="es-ES" dirty="0"/>
              <a:t> Se prueban los componentes integrados para verificar que funcionan correctamente juntos.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Pruebas del Sistema:</a:t>
            </a:r>
            <a:r>
              <a:rPr lang="es-ES" dirty="0"/>
              <a:t> Se prueba el sistema completo para verificar que cumple con los requisitos.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Pruebas de Aceptación:</a:t>
            </a:r>
            <a:r>
              <a:rPr lang="es-ES" dirty="0"/>
              <a:t> El cliente o usuario final prueba el software para verificar que cumple con sus expectativas.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Registro de Defectos:</a:t>
            </a:r>
            <a:r>
              <a:rPr lang="es-ES" dirty="0"/>
              <a:t> Se registran todos los defectos encontrados durante las pruebas.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Decisión:</a:t>
            </a:r>
            <a:r>
              <a:rPr lang="es-ES" dirty="0"/>
              <a:t> ¿El software cumple con los requisitos y las expectativas del cliente? Si no, se regresa a la implementación/codificación para corregir los defectos. Si sí, se avanza a la siguiente etapa.</a:t>
            </a:r>
          </a:p>
          <a:p>
            <a:pPr marL="4572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63351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DA2C5-538B-FAB7-2824-1F2104555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6AEB3C-2AFD-B705-4448-BC2F0B760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852" y="1216800"/>
            <a:ext cx="10785303" cy="4411840"/>
          </a:xfrm>
        </p:spPr>
        <p:txBody>
          <a:bodyPr>
            <a:normAutofit/>
          </a:bodyPr>
          <a:lstStyle/>
          <a:p>
            <a:pPr rtl="0">
              <a:buNone/>
            </a:pPr>
            <a:r>
              <a:rPr lang="es-ES" b="1" dirty="0"/>
              <a:t>5. Despliegue/Implementación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Despliegue:</a:t>
            </a:r>
            <a:r>
              <a:rPr lang="es-ES" dirty="0"/>
              <a:t> Se implementa el software en el entorno de producción.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Configuración:</a:t>
            </a:r>
            <a:r>
              <a:rPr lang="es-ES" dirty="0"/>
              <a:t> Se configura el software para que funcione correctamente en el entorno de producción.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Migración de Datos:</a:t>
            </a:r>
            <a:r>
              <a:rPr lang="es-ES" dirty="0"/>
              <a:t> Se migran los datos del sistema anterior al nuevo sistema.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Decisión:</a:t>
            </a:r>
            <a:r>
              <a:rPr lang="es-ES" dirty="0"/>
              <a:t> ¿El despliegue fue exitoso y el software funciona correctamente en el entorno de producción? Si no, se regresa a la implementación/codificación o a las pruebas para corregir los problemas. Si sí, se avanza a la siguiente etapa.</a:t>
            </a:r>
          </a:p>
          <a:p>
            <a:pPr marL="4572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82916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A386F-A082-BC2B-0A48-0F6816715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B13DC1-767C-539C-8E97-DAC54453F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852" y="1216800"/>
            <a:ext cx="10785303" cy="4411840"/>
          </a:xfrm>
        </p:spPr>
        <p:txBody>
          <a:bodyPr>
            <a:normAutofit/>
          </a:bodyPr>
          <a:lstStyle/>
          <a:p>
            <a:pPr rtl="0">
              <a:buNone/>
            </a:pPr>
            <a:r>
              <a:rPr lang="es-ES" b="1" dirty="0"/>
              <a:t>7. Obsolescencia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Fin de Soporte:</a:t>
            </a:r>
            <a:r>
              <a:rPr lang="es-ES" dirty="0"/>
              <a:t> Se anuncia el fin del soporte para el software.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Retiro:</a:t>
            </a:r>
            <a:r>
              <a:rPr lang="es-ES" dirty="0"/>
              <a:t> Se retira el software del uso.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s-ES" b="1" dirty="0"/>
              <a:t>Fin:</a:t>
            </a:r>
            <a:r>
              <a:rPr lang="es-ES" dirty="0"/>
              <a:t> El diagrama termina con la obsolescencia del software.</a:t>
            </a:r>
          </a:p>
          <a:p>
            <a:pPr marL="4572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92972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5AAB4B4-134C-64B6-58FF-ECB199B6E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E1C9499-211E-D795-31F7-B56359170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0" y="391160"/>
            <a:ext cx="2692400" cy="40386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B8357F-96C2-FECA-4009-BC0E76A05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492" y="548640"/>
            <a:ext cx="10785303" cy="6055360"/>
          </a:xfrm>
        </p:spPr>
        <p:txBody>
          <a:bodyPr>
            <a:normAutofit lnSpcReduction="10000"/>
          </a:bodyPr>
          <a:lstStyle/>
          <a:p>
            <a:r>
              <a:rPr lang="es-ES" sz="3600" b="1" dirty="0">
                <a:solidFill>
                  <a:schemeClr val="bg1"/>
                </a:solidFill>
              </a:rPr>
              <a:t>¿Qué exploramos en Ing. de Software I?</a:t>
            </a:r>
          </a:p>
          <a:p>
            <a:r>
              <a:rPr lang="es-ES" b="1" dirty="0">
                <a:solidFill>
                  <a:schemeClr val="bg1"/>
                </a:solidFill>
              </a:rPr>
              <a:t>Fundamentos de la Ingeniería de Software:</a:t>
            </a:r>
            <a:endParaRPr lang="es-ES" dirty="0">
              <a:solidFill>
                <a:schemeClr val="bg1"/>
              </a:solidFill>
            </a:endParaRPr>
          </a:p>
          <a:p>
            <a:pPr lvl="1"/>
            <a:r>
              <a:rPr lang="es-ES" dirty="0">
                <a:solidFill>
                  <a:schemeClr val="bg1"/>
                </a:solidFill>
              </a:rPr>
              <a:t>Definiciones, evolución y factores de calidad (Norma ISO 25000).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El proceso de software y sus etapas.</a:t>
            </a:r>
          </a:p>
          <a:p>
            <a:r>
              <a:rPr lang="es-ES" b="1" dirty="0">
                <a:solidFill>
                  <a:schemeClr val="bg1"/>
                </a:solidFill>
              </a:rPr>
              <a:t>Modelos de Procesos de Software:</a:t>
            </a:r>
            <a:endParaRPr lang="es-ES" dirty="0">
              <a:solidFill>
                <a:schemeClr val="bg1"/>
              </a:solidFill>
            </a:endParaRPr>
          </a:p>
          <a:p>
            <a:pPr lvl="1"/>
            <a:r>
              <a:rPr lang="es-ES" b="1" dirty="0">
                <a:solidFill>
                  <a:schemeClr val="bg1"/>
                </a:solidFill>
              </a:rPr>
              <a:t>Tradicionales:</a:t>
            </a:r>
            <a:r>
              <a:rPr lang="es-ES" dirty="0">
                <a:solidFill>
                  <a:schemeClr val="bg1"/>
                </a:solidFill>
              </a:rPr>
              <a:t> Cascada y Modelo en V.</a:t>
            </a:r>
          </a:p>
          <a:p>
            <a:pPr lvl="1"/>
            <a:r>
              <a:rPr lang="es-ES" b="1" dirty="0">
                <a:solidFill>
                  <a:schemeClr val="bg1"/>
                </a:solidFill>
              </a:rPr>
              <a:t>Incrementales:</a:t>
            </a:r>
            <a:r>
              <a:rPr lang="es-ES" dirty="0">
                <a:solidFill>
                  <a:schemeClr val="bg1"/>
                </a:solidFill>
              </a:rPr>
              <a:t> Modelo Incremental y Desarrollo Rápido de Aplicaciones (DRA).</a:t>
            </a:r>
          </a:p>
          <a:p>
            <a:pPr lvl="1"/>
            <a:r>
              <a:rPr lang="es-ES" b="1" dirty="0">
                <a:solidFill>
                  <a:schemeClr val="bg1"/>
                </a:solidFill>
              </a:rPr>
              <a:t>Evolutivos:</a:t>
            </a:r>
            <a:r>
              <a:rPr lang="es-ES" dirty="0">
                <a:solidFill>
                  <a:schemeClr val="bg1"/>
                </a:solidFill>
              </a:rPr>
              <a:t> Prototipos y Espiral.</a:t>
            </a:r>
          </a:p>
          <a:p>
            <a:pPr lvl="1"/>
            <a:r>
              <a:rPr lang="es-ES" b="1" dirty="0">
                <a:solidFill>
                  <a:schemeClr val="bg1"/>
                </a:solidFill>
              </a:rPr>
              <a:t>Ágiles:</a:t>
            </a:r>
            <a:r>
              <a:rPr lang="es-ES" dirty="0">
                <a:solidFill>
                  <a:schemeClr val="bg1"/>
                </a:solidFill>
              </a:rPr>
              <a:t> Principios, Scrum, XP.</a:t>
            </a:r>
          </a:p>
          <a:p>
            <a:r>
              <a:rPr lang="es-ES" b="1" dirty="0">
                <a:solidFill>
                  <a:schemeClr val="bg1"/>
                </a:solidFill>
              </a:rPr>
              <a:t>Ingeniería de Requerimientos:</a:t>
            </a:r>
            <a:endParaRPr lang="es-ES" dirty="0">
              <a:solidFill>
                <a:schemeClr val="bg1"/>
              </a:solidFill>
            </a:endParaRPr>
          </a:p>
          <a:p>
            <a:pPr lvl="1"/>
            <a:r>
              <a:rPr lang="es-ES" dirty="0">
                <a:solidFill>
                  <a:schemeClr val="bg1"/>
                </a:solidFill>
              </a:rPr>
              <a:t>La base de todo proyecto: ¿Qué necesita el usuario?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Obtención, análisis, especificación (Casos de Uso) y validación de requerimientos.</a:t>
            </a:r>
          </a:p>
          <a:p>
            <a:r>
              <a:rPr lang="es-ES" b="1" dirty="0">
                <a:solidFill>
                  <a:schemeClr val="bg1"/>
                </a:solidFill>
              </a:rPr>
              <a:t>Análisis y Diseño:</a:t>
            </a:r>
            <a:endParaRPr lang="es-ES" dirty="0">
              <a:solidFill>
                <a:schemeClr val="bg1"/>
              </a:solidFill>
            </a:endParaRPr>
          </a:p>
          <a:p>
            <a:pPr lvl="1"/>
            <a:r>
              <a:rPr lang="es-ES" b="1" dirty="0">
                <a:solidFill>
                  <a:schemeClr val="bg1"/>
                </a:solidFill>
              </a:rPr>
              <a:t>Análisis:</a:t>
            </a:r>
            <a:r>
              <a:rPr lang="es-ES" dirty="0">
                <a:solidFill>
                  <a:schemeClr val="bg1"/>
                </a:solidFill>
              </a:rPr>
              <a:t> Modelado del problema (Diagramas de Flujo de Datos, Diagrama de Clases del Dominio).</a:t>
            </a:r>
          </a:p>
          <a:p>
            <a:pPr lvl="1"/>
            <a:r>
              <a:rPr lang="es-ES" b="1" dirty="0">
                <a:solidFill>
                  <a:schemeClr val="bg1"/>
                </a:solidFill>
              </a:rPr>
              <a:t>Diseño:</a:t>
            </a:r>
            <a:r>
              <a:rPr lang="es-ES" dirty="0">
                <a:solidFill>
                  <a:schemeClr val="bg1"/>
                </a:solidFill>
              </a:rPr>
              <a:t> Creación de la solución (Arquitectura MVC, Diseño de Componentes, Diseño de UI).</a:t>
            </a:r>
          </a:p>
          <a:p>
            <a:pPr marL="4572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42462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7D31B-511A-CDFD-C61C-E1172CD68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15CEC6-1795-308D-8D45-E1CAEA058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852" y="548640"/>
            <a:ext cx="10785303" cy="60553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b="1" dirty="0"/>
              <a:t>Iniciando Ingeniería de Software II</a:t>
            </a:r>
          </a:p>
          <a:p>
            <a:pPr>
              <a:buNone/>
            </a:pPr>
            <a:r>
              <a:rPr lang="es-ES" dirty="0"/>
              <a:t>Dejamos atrás el "qué" y el "cómo se verá" para enfocarnos en el </a:t>
            </a:r>
            <a:r>
              <a:rPr lang="es-ES" b="1" dirty="0"/>
              <a:t>"cómo se construirá"</a:t>
            </a:r>
            <a:r>
              <a:rPr lang="es-ES" dirty="0"/>
              <a:t>.</a:t>
            </a:r>
          </a:p>
          <a:p>
            <a:pPr>
              <a:buNone/>
            </a:pPr>
            <a:r>
              <a:rPr lang="es-ES" dirty="0"/>
              <a:t>Pasamos de los planos y diagramas a la selección de herramientas y la escritura de código.</a:t>
            </a:r>
          </a:p>
          <a:p>
            <a:pPr marL="45720" indent="0">
              <a:buNone/>
            </a:pPr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2135BBD-48E5-4FC9-6F2F-5249150619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960" y="2006600"/>
            <a:ext cx="2814320" cy="422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7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18C4D-4D7E-39DA-0E09-93B360F7E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UNIDAD 1: IMPLEMENTACIÓN</a:t>
            </a:r>
            <a:endParaRPr lang="es-MX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5EF404BA-02CE-8AAD-FC55-CABEA7BC1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ES" b="1" dirty="0"/>
              <a:t>El puente entre el diseño y el producto final.</a:t>
            </a:r>
          </a:p>
          <a:p>
            <a:pPr>
              <a:buNone/>
            </a:pPr>
            <a:r>
              <a:rPr lang="es-ES" b="1" dirty="0"/>
              <a:t>1.1. Selección del Entorno de Desarrollo</a:t>
            </a:r>
          </a:p>
          <a:p>
            <a:pPr>
              <a:buNone/>
            </a:pPr>
            <a:r>
              <a:rPr lang="es-ES" dirty="0"/>
              <a:t>La primera gran decisión técnica. El entorno de desarrollo no es solo un editor de texto; es el conjunto de herramientas que nos permitirá construir, probar y desplegar el software de manera eficiente.</a:t>
            </a:r>
          </a:p>
          <a:p>
            <a:pPr>
              <a:buNone/>
            </a:pPr>
            <a:r>
              <a:rPr lang="es-ES" dirty="0"/>
              <a:t>Una mala elección en esta etapa puede generar retrabajos, problemas de rendimiento y mayores costos.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38785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2CC7E-9343-88A6-D1A1-29B25DAF2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02A4C7-B695-13CE-0D03-18CABAD9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UNIDAD 1: IMPLEMENTACIÓN</a:t>
            </a:r>
            <a:endParaRPr lang="es-MX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85A15BE2-8A64-55A2-68C7-9211A88E6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ES" b="1" dirty="0"/>
              <a:t>1.1.1. Evaluación y Selección de Plataforma, Lenguaje y Entorno</a:t>
            </a:r>
          </a:p>
          <a:p>
            <a:pPr>
              <a:buNone/>
            </a:pPr>
            <a:r>
              <a:rPr lang="es-ES" b="1" dirty="0"/>
              <a:t>A. Plataforma de Ejecución:</a:t>
            </a:r>
            <a:r>
              <a:rPr lang="es-ES" dirty="0"/>
              <a:t> ¿Dónde vivirá nuestro software?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Criterios de evaluación: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Sistema Operativo:</a:t>
            </a:r>
            <a:r>
              <a:rPr lang="es-ES" dirty="0"/>
              <a:t> ¿Windows, macOS, Linux, o será multiplataforma?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Hardware:</a:t>
            </a:r>
            <a:r>
              <a:rPr lang="es-ES" dirty="0"/>
              <a:t> ¿Se ejecutará en servidores de alto rendimiento, computadoras de escritorio, o dispositivos móviles con recursos limitados?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Arquitectura:</a:t>
            </a:r>
            <a:r>
              <a:rPr lang="es-ES" dirty="0"/>
              <a:t> ¿Será una aplicación de escritorio, una aplicación web, un servicio en la nube (Cloud-Native), o una app móvil?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Costo y Licenciamiento:</a:t>
            </a:r>
            <a:r>
              <a:rPr lang="es-ES" dirty="0"/>
              <a:t> ¿Plataformas open-</a:t>
            </a:r>
            <a:r>
              <a:rPr lang="es-ES" dirty="0" err="1"/>
              <a:t>source</a:t>
            </a:r>
            <a:r>
              <a:rPr lang="es-ES" dirty="0"/>
              <a:t> o propietarias?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27237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58E1A-FD57-E25A-2119-00E52E482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CB1AC4-D10E-0F10-88F5-4A56F8524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UNIDAD 1: IMPLEMENTACIÓN</a:t>
            </a:r>
            <a:endParaRPr lang="es-MX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7C0AF8EA-FB7C-5D35-86F6-5F9624E9E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ES" b="1" dirty="0"/>
              <a:t>C. Entorno de Programación (IDE):</a:t>
            </a:r>
            <a:r>
              <a:rPr lang="es-ES" dirty="0"/>
              <a:t> Nuestro taller de trabajo.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Criterios de evaluación: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Soporte del Lenguaje:</a:t>
            </a:r>
            <a:r>
              <a:rPr lang="es-ES" dirty="0"/>
              <a:t> Autocompletado, resaltado de sintaxis y análisis de código estático.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Herramientas de Depuración (</a:t>
            </a:r>
            <a:r>
              <a:rPr lang="es-ES" b="1" dirty="0" err="1"/>
              <a:t>Debugger</a:t>
            </a:r>
            <a:r>
              <a:rPr lang="es-ES" b="1" dirty="0"/>
              <a:t>):</a:t>
            </a:r>
            <a:r>
              <a:rPr lang="es-ES" dirty="0"/>
              <a:t> Esencial para encontrar y corregir errores.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Integración con Control de Versiones:</a:t>
            </a:r>
            <a:r>
              <a:rPr lang="es-ES" dirty="0"/>
              <a:t> Conexión nativa con Git/GitHub.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Gestión de Dependencias y Construcción:</a:t>
            </a:r>
            <a:r>
              <a:rPr lang="es-ES" dirty="0"/>
              <a:t> Facilidades para manejar librerías (</a:t>
            </a:r>
            <a:r>
              <a:rPr lang="es-ES" dirty="0" err="1"/>
              <a:t>npm</a:t>
            </a:r>
            <a:r>
              <a:rPr lang="es-ES" dirty="0"/>
              <a:t>, Maven, </a:t>
            </a:r>
            <a:r>
              <a:rPr lang="es-ES" dirty="0" err="1"/>
              <a:t>Pip</a:t>
            </a:r>
            <a:r>
              <a:rPr lang="es-ES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Extensibilidad:</a:t>
            </a:r>
            <a:r>
              <a:rPr lang="es-ES" dirty="0"/>
              <a:t> ¿Se puede personalizar con </a:t>
            </a:r>
            <a:r>
              <a:rPr lang="es-ES" dirty="0" err="1"/>
              <a:t>plugins</a:t>
            </a:r>
            <a:r>
              <a:rPr lang="es-ES" dirty="0"/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Ejemplos populares:</a:t>
            </a:r>
            <a:r>
              <a:rPr lang="es-ES" dirty="0"/>
              <a:t> Visual Studio </a:t>
            </a:r>
            <a:r>
              <a:rPr lang="es-ES" dirty="0" err="1"/>
              <a:t>Code</a:t>
            </a:r>
            <a:r>
              <a:rPr lang="es-ES" dirty="0"/>
              <a:t>, IntelliJ IDEA, Eclipse, </a:t>
            </a:r>
            <a:r>
              <a:rPr lang="es-ES" dirty="0" err="1"/>
              <a:t>PyCharm</a:t>
            </a:r>
            <a:r>
              <a:rPr lang="es-ES" dirty="0"/>
              <a:t>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21007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A503E-186A-FD48-8F25-DAECB611F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B2DD4-6180-5173-F134-8BAC9D8A1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UNIDAD 1: IMPLEMENTACIÓN</a:t>
            </a:r>
            <a:endParaRPr lang="es-MX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9ECDDB58-7453-CF66-9BD7-41B5803F5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ES" b="1" dirty="0"/>
              <a:t>B. Lenguaje de Programación:</a:t>
            </a:r>
            <a:r>
              <a:rPr lang="es-ES" dirty="0"/>
              <a:t> ¿En qué idioma hablaremos con la máquina?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Criterios de evaluación: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Naturaleza del Proyecto:</a:t>
            </a:r>
            <a:r>
              <a:rPr lang="es-ES" dirty="0"/>
              <a:t> No es lo mismo un sistema web (JavaScript, Python, Ruby) que una aplicación de análisis de datos (Python, R) o un sistema embebido (C, C++).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Rendimiento:</a:t>
            </a:r>
            <a:r>
              <a:rPr lang="es-ES" dirty="0"/>
              <a:t> ¿Se requieren operaciones de alta velocidad? (C++, </a:t>
            </a:r>
            <a:r>
              <a:rPr lang="es-ES" dirty="0" err="1"/>
              <a:t>Go</a:t>
            </a:r>
            <a:r>
              <a:rPr lang="es-ES" dirty="0"/>
              <a:t>, </a:t>
            </a:r>
            <a:r>
              <a:rPr lang="es-ES" dirty="0" err="1"/>
              <a:t>Rust</a:t>
            </a:r>
            <a:r>
              <a:rPr lang="es-ES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Ecosistema:</a:t>
            </a:r>
            <a:r>
              <a:rPr lang="es-ES" dirty="0"/>
              <a:t> ¿Existen librerías, </a:t>
            </a:r>
            <a:r>
              <a:rPr lang="es-ES" dirty="0" err="1"/>
              <a:t>frameworks</a:t>
            </a:r>
            <a:r>
              <a:rPr lang="es-ES" dirty="0"/>
              <a:t> y herramientas que faciliten el desarrollo? (Ej. Django para Python, .NET para C#).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Curva de Aprendizaje y Equipo:</a:t>
            </a:r>
            <a:r>
              <a:rPr lang="es-ES" dirty="0"/>
              <a:t> ¿El equipo ya domina el lenguaje o se requiere capacitación?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Comunidad y Soporte:</a:t>
            </a:r>
            <a:r>
              <a:rPr lang="es-ES" dirty="0"/>
              <a:t> Una comunidad activa garantiza ayuda y evolución del lenguaje.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48670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FA52A3C-3101-346F-29CA-A5D6F6343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ACE9F-FD0C-4763-057D-DFA1BC52B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UNIDAD 1: IMPLEMENTACIÓN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554B8152-D7D1-812A-6094-44EF64D74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057400"/>
            <a:ext cx="6324600" cy="4038600"/>
          </a:xfrm>
        </p:spPr>
        <p:txBody>
          <a:bodyPr/>
          <a:lstStyle/>
          <a:p>
            <a:pPr>
              <a:buNone/>
            </a:pPr>
            <a:r>
              <a:rPr lang="es-ES" b="1" dirty="0">
                <a:solidFill>
                  <a:schemeClr val="bg1"/>
                </a:solidFill>
              </a:rPr>
              <a:t>1.1.2. Evaluación y Selección del Manejador de Bases de Datos</a:t>
            </a:r>
          </a:p>
          <a:p>
            <a:pPr>
              <a:buNone/>
            </a:pPr>
            <a:r>
              <a:rPr lang="es-ES" dirty="0">
                <a:solidFill>
                  <a:schemeClr val="bg1"/>
                </a:solidFill>
              </a:rPr>
              <a:t>El corazón donde residen los datos de nuestra aplicación. La elección depende de la naturaleza y la estructura de la información que manejaremos.</a:t>
            </a:r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24DA19-1171-698D-E3E2-7C262F578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5680" y="102616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78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6275F9C-E76A-E8D5-4B9A-A8501C988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B970A7-0C98-E81D-C35D-583790C42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UNIDAD 1: IMPLEMENTACIÓN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DBFA87E-B9F1-2448-4E60-44A815ED4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ES" b="1" dirty="0">
                <a:solidFill>
                  <a:schemeClr val="bg1"/>
                </a:solidFill>
              </a:rPr>
              <a:t>1. ¿Relacional (SQL) o No Relacional (NoSQL)?</a:t>
            </a:r>
            <a:endParaRPr lang="es-E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SQL (</a:t>
            </a:r>
            <a:r>
              <a:rPr lang="es-ES" b="1" dirty="0" err="1">
                <a:solidFill>
                  <a:schemeClr val="bg1"/>
                </a:solidFill>
              </a:rPr>
              <a:t>Structured</a:t>
            </a:r>
            <a:r>
              <a:rPr lang="es-ES" b="1" dirty="0">
                <a:solidFill>
                  <a:schemeClr val="bg1"/>
                </a:solidFill>
              </a:rPr>
              <a:t> </a:t>
            </a:r>
            <a:r>
              <a:rPr lang="es-ES" b="1" dirty="0" err="1">
                <a:solidFill>
                  <a:schemeClr val="bg1"/>
                </a:solidFill>
              </a:rPr>
              <a:t>Query</a:t>
            </a:r>
            <a:r>
              <a:rPr lang="es-ES" b="1" dirty="0">
                <a:solidFill>
                  <a:schemeClr val="bg1"/>
                </a:solidFill>
              </a:rPr>
              <a:t> </a:t>
            </a:r>
            <a:r>
              <a:rPr lang="es-ES" b="1" dirty="0" err="1">
                <a:solidFill>
                  <a:schemeClr val="bg1"/>
                </a:solidFill>
              </a:rPr>
              <a:t>Language</a:t>
            </a:r>
            <a:r>
              <a:rPr lang="es-ES" b="1" dirty="0">
                <a:solidFill>
                  <a:schemeClr val="bg1"/>
                </a:solidFill>
              </a:rPr>
              <a:t>):</a:t>
            </a:r>
            <a:endParaRPr lang="es-E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Estructura:</a:t>
            </a:r>
            <a:r>
              <a:rPr lang="es-ES" dirty="0">
                <a:solidFill>
                  <a:schemeClr val="bg1"/>
                </a:solidFill>
              </a:rPr>
              <a:t> Datos tabulares, altamente estructurados y con relaciones predefinidas (Ej. </a:t>
            </a:r>
            <a:r>
              <a:rPr lang="es-ES" dirty="0">
                <a:solidFill>
                  <a:schemeClr val="bg1"/>
                </a:solidFill>
                <a:latin typeface="Courier New" panose="02070309020205020404" pitchFamily="49" charset="0"/>
              </a:rPr>
              <a:t>Usuarios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 dirty="0">
                <a:solidFill>
                  <a:schemeClr val="bg1"/>
                </a:solidFill>
                <a:latin typeface="Courier New" panose="02070309020205020404" pitchFamily="49" charset="0"/>
              </a:rPr>
              <a:t>Pedidos</a:t>
            </a:r>
            <a:r>
              <a:rPr lang="es-ES" dirty="0">
                <a:solidFill>
                  <a:schemeClr val="bg1"/>
                </a:solidFill>
              </a:rPr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Garantías:</a:t>
            </a:r>
            <a:r>
              <a:rPr lang="es-ES" dirty="0">
                <a:solidFill>
                  <a:schemeClr val="bg1"/>
                </a:solidFill>
              </a:rPr>
              <a:t> ACID (Atomicidad, Consistencia, Aislamiento, Durabilidad). Transacciones seguras.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Ideal para:</a:t>
            </a:r>
            <a:r>
              <a:rPr lang="es-ES" dirty="0">
                <a:solidFill>
                  <a:schemeClr val="bg1"/>
                </a:solidFill>
              </a:rPr>
              <a:t> Sistemas donde la consistencia de los datos es crítica (sistemas financieros, </a:t>
            </a:r>
            <a:r>
              <a:rPr lang="es-ES" dirty="0" err="1">
                <a:solidFill>
                  <a:schemeClr val="bg1"/>
                </a:solidFill>
              </a:rPr>
              <a:t>ERPs</a:t>
            </a:r>
            <a:r>
              <a:rPr lang="es-ES" dirty="0">
                <a:solidFill>
                  <a:schemeClr val="bg1"/>
                </a:solidFill>
              </a:rPr>
              <a:t>, sistemas de inventario).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Ejemplos:</a:t>
            </a:r>
            <a:r>
              <a:rPr lang="es-ES" dirty="0">
                <a:solidFill>
                  <a:schemeClr val="bg1"/>
                </a:solidFill>
              </a:rPr>
              <a:t> MySQL, PostgreSQL, SQL Server, Oracle.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34321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69EF120-DAC8-D681-660B-927477973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89A40-4FE7-0E1D-3952-47EA43252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UNIDAD 1: IMPLEMENTACIÓN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9409D159-AB5E-D79F-16B7-B373CD45D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MX" b="1" dirty="0">
                <a:solidFill>
                  <a:schemeClr val="bg1"/>
                </a:solidFill>
              </a:rPr>
              <a:t>NoSQL (</a:t>
            </a:r>
            <a:r>
              <a:rPr lang="es-MX" b="1" dirty="0" err="1">
                <a:solidFill>
                  <a:schemeClr val="bg1"/>
                </a:solidFill>
              </a:rPr>
              <a:t>Not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MX" b="1" dirty="0" err="1">
                <a:solidFill>
                  <a:schemeClr val="bg1"/>
                </a:solidFill>
              </a:rPr>
              <a:t>Only</a:t>
            </a:r>
            <a:r>
              <a:rPr lang="es-MX" b="1" dirty="0">
                <a:solidFill>
                  <a:schemeClr val="bg1"/>
                </a:solidFill>
              </a:rPr>
              <a:t> SQL):</a:t>
            </a:r>
            <a:endParaRPr lang="es-MX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chemeClr val="bg1"/>
                </a:solidFill>
              </a:rPr>
              <a:t>Estructura:</a:t>
            </a:r>
            <a:r>
              <a:rPr lang="es-MX" dirty="0">
                <a:solidFill>
                  <a:schemeClr val="bg1"/>
                </a:solidFill>
              </a:rPr>
              <a:t> Flexible. Documentos (JSON), clave-valor, grafos, columnas anchas.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chemeClr val="bg1"/>
                </a:solidFill>
              </a:rPr>
              <a:t>Garantías:</a:t>
            </a:r>
            <a:r>
              <a:rPr lang="es-MX" dirty="0">
                <a:solidFill>
                  <a:schemeClr val="bg1"/>
                </a:solidFill>
              </a:rPr>
              <a:t> BASE (</a:t>
            </a:r>
            <a:r>
              <a:rPr lang="es-MX" dirty="0" err="1">
                <a:solidFill>
                  <a:schemeClr val="bg1"/>
                </a:solidFill>
              </a:rPr>
              <a:t>Basically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Available</a:t>
            </a:r>
            <a:r>
              <a:rPr lang="es-MX" dirty="0">
                <a:solidFill>
                  <a:schemeClr val="bg1"/>
                </a:solidFill>
              </a:rPr>
              <a:t>, </a:t>
            </a:r>
            <a:r>
              <a:rPr lang="es-MX" dirty="0" err="1">
                <a:solidFill>
                  <a:schemeClr val="bg1"/>
                </a:solidFill>
              </a:rPr>
              <a:t>Soft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state</a:t>
            </a:r>
            <a:r>
              <a:rPr lang="es-MX" dirty="0">
                <a:solidFill>
                  <a:schemeClr val="bg1"/>
                </a:solidFill>
              </a:rPr>
              <a:t>, </a:t>
            </a:r>
            <a:r>
              <a:rPr lang="es-MX" dirty="0" err="1">
                <a:solidFill>
                  <a:schemeClr val="bg1"/>
                </a:solidFill>
              </a:rPr>
              <a:t>Eventually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consistent</a:t>
            </a:r>
            <a:r>
              <a:rPr lang="es-MX" dirty="0">
                <a:solidFill>
                  <a:schemeClr val="bg1"/>
                </a:solidFill>
              </a:rPr>
              <a:t>). Prioriza disponibilidad y escalabilidad.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chemeClr val="bg1"/>
                </a:solidFill>
              </a:rPr>
              <a:t>Ideal para:</a:t>
            </a:r>
            <a:r>
              <a:rPr lang="es-MX" dirty="0">
                <a:solidFill>
                  <a:schemeClr val="bg1"/>
                </a:solidFill>
              </a:rPr>
              <a:t> Grandes volúmenes de datos no estructurados, alta velocidad de escritura/lectura, escalabilidad horizontal (Big Data, redes sociales, </a:t>
            </a:r>
            <a:r>
              <a:rPr lang="es-MX" dirty="0" err="1">
                <a:solidFill>
                  <a:schemeClr val="bg1"/>
                </a:solidFill>
              </a:rPr>
              <a:t>IoT</a:t>
            </a:r>
            <a:r>
              <a:rPr lang="es-MX" dirty="0">
                <a:solidFill>
                  <a:schemeClr val="bg1"/>
                </a:solidFill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chemeClr val="bg1"/>
                </a:solidFill>
              </a:rPr>
              <a:t>Ejemplos:</a:t>
            </a:r>
            <a:r>
              <a:rPr lang="es-MX" dirty="0">
                <a:solidFill>
                  <a:schemeClr val="bg1"/>
                </a:solidFill>
              </a:rPr>
              <a:t> MongoDB, Redis, </a:t>
            </a:r>
            <a:r>
              <a:rPr lang="es-MX" dirty="0" err="1">
                <a:solidFill>
                  <a:schemeClr val="bg1"/>
                </a:solidFill>
              </a:rPr>
              <a:t>Cassandra</a:t>
            </a:r>
            <a:r>
              <a:rPr lang="es-MX" dirty="0">
                <a:solidFill>
                  <a:schemeClr val="bg1"/>
                </a:solidFill>
              </a:rPr>
              <a:t>, Neo4j.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70950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71D1401-F278-678E-CC93-F417D60E5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8A377C-1BD1-909F-DE81-CD5CB0D02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UNIDAD 1: IMPLEMENTACIÓN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96E6EEDA-25AD-88C7-0994-3E2714C60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MX" b="1" dirty="0">
                <a:solidFill>
                  <a:schemeClr val="bg1"/>
                </a:solidFill>
              </a:rPr>
              <a:t>NoSQL (</a:t>
            </a:r>
            <a:r>
              <a:rPr lang="es-MX" b="1" dirty="0" err="1">
                <a:solidFill>
                  <a:schemeClr val="bg1"/>
                </a:solidFill>
              </a:rPr>
              <a:t>Not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MX" b="1" dirty="0" err="1">
                <a:solidFill>
                  <a:schemeClr val="bg1"/>
                </a:solidFill>
              </a:rPr>
              <a:t>Only</a:t>
            </a:r>
            <a:r>
              <a:rPr lang="es-MX" b="1" dirty="0">
                <a:solidFill>
                  <a:schemeClr val="bg1"/>
                </a:solidFill>
              </a:rPr>
              <a:t> SQL):</a:t>
            </a:r>
            <a:endParaRPr lang="es-MX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chemeClr val="bg1"/>
                </a:solidFill>
              </a:rPr>
              <a:t>Estructura:</a:t>
            </a:r>
            <a:r>
              <a:rPr lang="es-MX" dirty="0">
                <a:solidFill>
                  <a:schemeClr val="bg1"/>
                </a:solidFill>
              </a:rPr>
              <a:t> Flexible. Documentos (JSON), clave-valor, grafos, columnas anchas.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chemeClr val="bg1"/>
                </a:solidFill>
              </a:rPr>
              <a:t>Garantías:</a:t>
            </a:r>
            <a:r>
              <a:rPr lang="es-MX" dirty="0">
                <a:solidFill>
                  <a:schemeClr val="bg1"/>
                </a:solidFill>
              </a:rPr>
              <a:t> BASE (</a:t>
            </a:r>
            <a:r>
              <a:rPr lang="es-MX" dirty="0" err="1">
                <a:solidFill>
                  <a:schemeClr val="bg1"/>
                </a:solidFill>
              </a:rPr>
              <a:t>Basically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Available</a:t>
            </a:r>
            <a:r>
              <a:rPr lang="es-MX" dirty="0">
                <a:solidFill>
                  <a:schemeClr val="bg1"/>
                </a:solidFill>
              </a:rPr>
              <a:t>, </a:t>
            </a:r>
            <a:r>
              <a:rPr lang="es-MX" dirty="0" err="1">
                <a:solidFill>
                  <a:schemeClr val="bg1"/>
                </a:solidFill>
              </a:rPr>
              <a:t>Soft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state</a:t>
            </a:r>
            <a:r>
              <a:rPr lang="es-MX" dirty="0">
                <a:solidFill>
                  <a:schemeClr val="bg1"/>
                </a:solidFill>
              </a:rPr>
              <a:t>, </a:t>
            </a:r>
            <a:r>
              <a:rPr lang="es-MX" dirty="0" err="1">
                <a:solidFill>
                  <a:schemeClr val="bg1"/>
                </a:solidFill>
              </a:rPr>
              <a:t>Eventually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consistent</a:t>
            </a:r>
            <a:r>
              <a:rPr lang="es-MX" dirty="0">
                <a:solidFill>
                  <a:schemeClr val="bg1"/>
                </a:solidFill>
              </a:rPr>
              <a:t>). Prioriza disponibilidad y escalabilidad.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chemeClr val="bg1"/>
                </a:solidFill>
              </a:rPr>
              <a:t>Ideal para:</a:t>
            </a:r>
            <a:r>
              <a:rPr lang="es-MX" dirty="0">
                <a:solidFill>
                  <a:schemeClr val="bg1"/>
                </a:solidFill>
              </a:rPr>
              <a:t> Grandes volúmenes de datos no estructurados, alta velocidad de escritura/lectura, escalabilidad horizontal (Big Data, redes sociales, </a:t>
            </a:r>
            <a:r>
              <a:rPr lang="es-MX" dirty="0" err="1">
                <a:solidFill>
                  <a:schemeClr val="bg1"/>
                </a:solidFill>
              </a:rPr>
              <a:t>IoT</a:t>
            </a:r>
            <a:r>
              <a:rPr lang="es-MX" dirty="0">
                <a:solidFill>
                  <a:schemeClr val="bg1"/>
                </a:solidFill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chemeClr val="bg1"/>
                </a:solidFill>
              </a:rPr>
              <a:t>Ejemplos:</a:t>
            </a:r>
            <a:r>
              <a:rPr lang="es-MX" dirty="0">
                <a:solidFill>
                  <a:schemeClr val="bg1"/>
                </a:solidFill>
              </a:rPr>
              <a:t> MongoDB, Redis, </a:t>
            </a:r>
            <a:r>
              <a:rPr lang="es-MX" dirty="0" err="1">
                <a:solidFill>
                  <a:schemeClr val="bg1"/>
                </a:solidFill>
              </a:rPr>
              <a:t>Cassandra</a:t>
            </a:r>
            <a:r>
              <a:rPr lang="es-MX" dirty="0">
                <a:solidFill>
                  <a:schemeClr val="bg1"/>
                </a:solidFill>
              </a:rPr>
              <a:t>, Neo4j.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29943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15604A1-61D2-0703-FA28-854053E6CC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¿preguntas?</a:t>
            </a:r>
          </a:p>
        </p:txBody>
      </p:sp>
    </p:spTree>
    <p:extLst>
      <p:ext uri="{BB962C8B-B14F-4D97-AF65-F5344CB8AC3E}">
        <p14:creationId xmlns:p14="http://schemas.microsoft.com/office/powerpoint/2010/main" val="911433737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TM03457444[[fn=Base]]</Template>
  <TotalTime>56</TotalTime>
  <Words>1551</Words>
  <Application>Microsoft Office PowerPoint</Application>
  <PresentationFormat>Panorámica</PresentationFormat>
  <Paragraphs>112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Corbel</vt:lpstr>
      <vt:lpstr>Courier New</vt:lpstr>
      <vt:lpstr>Base</vt:lpstr>
      <vt:lpstr>Ingeniería de Software II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UNIDAD 1: IMPLEMENTACIÓN</vt:lpstr>
      <vt:lpstr>UNIDAD 1: IMPLEMENTACIÓN</vt:lpstr>
      <vt:lpstr>UNIDAD 1: IMPLEMENTACIÓN</vt:lpstr>
      <vt:lpstr>UNIDAD 1: IMPLEMENTACIÓN</vt:lpstr>
      <vt:lpstr>UNIDAD 1: IMPLEMENTACIÓN</vt:lpstr>
      <vt:lpstr>UNIDAD 1: IMPLEMENTACIÓN</vt:lpstr>
      <vt:lpstr>UNIDAD 1: IMPLEMENTACIÓN</vt:lpstr>
      <vt:lpstr>UNIDAD 1: IMPLEMENTACIÓN</vt:lpstr>
      <vt:lpstr>¿preguntas?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Castro</dc:creator>
  <cp:lastModifiedBy>Eric Castro</cp:lastModifiedBy>
  <cp:revision>4</cp:revision>
  <dcterms:created xsi:type="dcterms:W3CDTF">2025-10-01T15:20:00Z</dcterms:created>
  <dcterms:modified xsi:type="dcterms:W3CDTF">2025-10-01T16:16:35Z</dcterms:modified>
</cp:coreProperties>
</file>