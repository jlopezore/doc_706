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682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75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389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485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9109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66587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793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8338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1029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3503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2541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4953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810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0201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7215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400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30976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EBC-017B-F7F3-D5B4-4C95137A1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0035FD-37C7-E41E-DCC1-A0DA06412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102B90-C18A-395F-99B7-8BBBDA658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D48181-5DFA-3542-05C3-094055D7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4F86C-B011-A8B1-52B8-88273D60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6539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EF9398C-A1BF-454C-BBC0-531D237CF210}" type="datetimeFigureOut">
              <a:rPr lang="es-MX" smtClean="0"/>
              <a:t>10/10/2025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421DBE-ECFF-4996-822F-063A0967055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6514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CFA92B-9D42-B673-0F32-F421900F9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2293495"/>
            <a:ext cx="10364452" cy="349770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ES" sz="44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“Delitos informáticos frente a estándares de derechos humanos y libertad de expresión en México.”</a:t>
            </a:r>
            <a:endParaRPr lang="es-MX" sz="4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70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89F5A-A849-E429-CE0E-D0F82EFA2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Dilema: Tu Libertad vs. la Ley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B8D9DA-40AC-C166-7D19-275EBAC40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457200" marR="0" lvl="1" indent="0" algn="just" rtl="0">
              <a:buNone/>
            </a:pPr>
            <a:r>
              <a:rPr lang="es-ES" sz="3600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¿Un tuit puede ser Terrorismo?</a:t>
            </a:r>
            <a:r>
              <a:rPr lang="es-ES" sz="36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(Referencia a Ley Duarte/Fayad y ambigüedad)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3583F0D-8360-F6EF-8BF9-4E13FAFAB6D1}"/>
              </a:ext>
            </a:extLst>
          </p:cNvPr>
          <p:cNvSpPr/>
          <p:nvPr/>
        </p:nvSpPr>
        <p:spPr>
          <a:xfrm>
            <a:off x="913773" y="5416445"/>
            <a:ext cx="1919368" cy="914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Century Gothic" panose="020B0502020202020204" pitchFamily="34" charset="0"/>
              </a:rPr>
              <a:t>Prohibición en Brasil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0A70336-18BB-975B-C4B8-362DAFAFB658}"/>
              </a:ext>
            </a:extLst>
          </p:cNvPr>
          <p:cNvSpPr/>
          <p:nvPr/>
        </p:nvSpPr>
        <p:spPr>
          <a:xfrm>
            <a:off x="8558756" y="5416445"/>
            <a:ext cx="1919368" cy="9144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Century Gothic" panose="020B0502020202020204" pitchFamily="34" charset="0"/>
              </a:rPr>
              <a:t>Solicitud de Bloque en Turquía</a:t>
            </a:r>
          </a:p>
        </p:txBody>
      </p:sp>
    </p:spTree>
    <p:extLst>
      <p:ext uri="{BB962C8B-B14F-4D97-AF65-F5344CB8AC3E}">
        <p14:creationId xmlns:p14="http://schemas.microsoft.com/office/powerpoint/2010/main" val="3652886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A1ED4-620E-352D-E23F-94974F53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Base de la Libertad: Art. 19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1B703C-1DDD-F4EA-70E1-52B5504FE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R="0" lvl="0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Instrumentos clave: </a:t>
            </a:r>
            <a:r>
              <a:rPr lang="es-ES" sz="2800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Declaración Universal </a:t>
            </a:r>
            <a:r>
              <a:rPr lang="es-ES" sz="280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y</a:t>
            </a:r>
            <a:r>
              <a:rPr lang="es-ES" sz="2800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Pacto Internacional de Derechos Civiles y Políticos</a:t>
            </a:r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. ambos tienen un Art. </a:t>
            </a:r>
            <a:r>
              <a:rPr lang="es-ES" sz="2800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19</a:t>
            </a:r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.</a:t>
            </a:r>
          </a:p>
          <a:p>
            <a:pPr marR="0" lvl="0" algn="ctr" rtl="0"/>
            <a:endParaRPr lang="es-ES" sz="2800" b="0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R="0" lvl="1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Pregunta a la Clase: ¿La libertad de expresión es 100% libre?</a:t>
            </a:r>
          </a:p>
        </p:txBody>
      </p:sp>
    </p:spTree>
    <p:extLst>
      <p:ext uri="{BB962C8B-B14F-4D97-AF65-F5344CB8AC3E}">
        <p14:creationId xmlns:p14="http://schemas.microsoft.com/office/powerpoint/2010/main" val="3703497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0FE84-6C8C-B6D8-6C5C-E24A3EFE2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Clave Americana: Pacto de San José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95CA6F-6ECA-8580-006F-07ADA2EF7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R="0" lvl="0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</a:t>
            </a:r>
            <a:r>
              <a:rPr lang="es-ES" sz="2800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Convención Americana</a:t>
            </a:r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(Art. 13) como instrumento vinculante en América. </a:t>
            </a:r>
            <a:r>
              <a:rPr lang="es-ES" sz="2800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Libertad de buscar, recibir, y difundir información</a:t>
            </a:r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.</a:t>
            </a:r>
          </a:p>
          <a:p>
            <a:pPr marR="0" lvl="0" algn="ctr" rtl="0"/>
            <a:endParaRPr lang="es-ES" sz="2800" b="0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R="0" lvl="1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Analogía: Es como una LICENCIA de conducir internacional para tus ideas.</a:t>
            </a:r>
          </a:p>
        </p:txBody>
      </p:sp>
    </p:spTree>
    <p:extLst>
      <p:ext uri="{BB962C8B-B14F-4D97-AF65-F5344CB8AC3E}">
        <p14:creationId xmlns:p14="http://schemas.microsoft.com/office/powerpoint/2010/main" val="936352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1118A32-C72E-A926-1074-814AA9863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518" y="1651862"/>
            <a:ext cx="3859102" cy="3554276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228B6D-613A-1AE4-BD6E-7AF045589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989351"/>
            <a:ext cx="10364452" cy="4801849"/>
          </a:xfrm>
        </p:spPr>
        <p:txBody>
          <a:bodyPr/>
          <a:lstStyle/>
          <a:p>
            <a:pPr marL="0" indent="0">
              <a:buNone/>
            </a:pPr>
            <a:endParaRPr lang="es-MX" dirty="0"/>
          </a:p>
        </p:txBody>
      </p:sp>
      <p:sp>
        <p:nvSpPr>
          <p:cNvPr id="6" name="Flecha: hacia la izquierda 5">
            <a:extLst>
              <a:ext uri="{FF2B5EF4-FFF2-40B4-BE49-F238E27FC236}">
                <a16:creationId xmlns:a16="http://schemas.microsoft.com/office/drawing/2014/main" id="{CB28C09F-2722-FC43-1E46-BDBC93E2C46A}"/>
              </a:ext>
            </a:extLst>
          </p:cNvPr>
          <p:cNvSpPr/>
          <p:nvPr/>
        </p:nvSpPr>
        <p:spPr>
          <a:xfrm>
            <a:off x="8082607" y="1097245"/>
            <a:ext cx="3033633" cy="1109234"/>
          </a:xfrm>
          <a:prstGeom prst="lef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Declaración Universal DH art. 19</a:t>
            </a:r>
            <a:endParaRPr lang="es-MX" dirty="0"/>
          </a:p>
        </p:txBody>
      </p:sp>
      <p:sp>
        <p:nvSpPr>
          <p:cNvPr id="7" name="Flecha: hacia la izquierda 6">
            <a:extLst>
              <a:ext uri="{FF2B5EF4-FFF2-40B4-BE49-F238E27FC236}">
                <a16:creationId xmlns:a16="http://schemas.microsoft.com/office/drawing/2014/main" id="{4F7EEC61-FE05-5744-5214-7E6E0A270B2F}"/>
              </a:ext>
            </a:extLst>
          </p:cNvPr>
          <p:cNvSpPr/>
          <p:nvPr/>
        </p:nvSpPr>
        <p:spPr>
          <a:xfrm>
            <a:off x="8082606" y="2314373"/>
            <a:ext cx="3033634" cy="1265728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i="0" u="none" strike="noStrike" kern="100" baseline="0" dirty="0">
                <a:solidFill>
                  <a:srgbClr val="FFFF00"/>
                </a:solidFill>
                <a:latin typeface="Century Gothic" panose="020B0502020202020204" pitchFamily="34" charset="0"/>
              </a:rPr>
              <a:t>Pacto Internacional de Derechos Civiles y Políticos art. 19</a:t>
            </a:r>
            <a:endParaRPr lang="es-MX" dirty="0">
              <a:ln>
                <a:solidFill>
                  <a:srgbClr val="0070C0"/>
                </a:solidFill>
              </a:ln>
              <a:solidFill>
                <a:srgbClr val="FFFF00"/>
              </a:solidFill>
            </a:endParaRPr>
          </a:p>
        </p:txBody>
      </p:sp>
      <p:sp>
        <p:nvSpPr>
          <p:cNvPr id="8" name="Flecha: hacia la izquierda 7">
            <a:extLst>
              <a:ext uri="{FF2B5EF4-FFF2-40B4-BE49-F238E27FC236}">
                <a16:creationId xmlns:a16="http://schemas.microsoft.com/office/drawing/2014/main" id="{B85024EF-47DF-1C29-6F24-65A1AE8D680E}"/>
              </a:ext>
            </a:extLst>
          </p:cNvPr>
          <p:cNvSpPr/>
          <p:nvPr/>
        </p:nvSpPr>
        <p:spPr>
          <a:xfrm>
            <a:off x="8082606" y="3687995"/>
            <a:ext cx="3033633" cy="1109235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Century Gothic" panose="020B0502020202020204" pitchFamily="34" charset="0"/>
              </a:rPr>
              <a:t>Convención Americana art. 13</a:t>
            </a:r>
          </a:p>
        </p:txBody>
      </p:sp>
      <p:sp>
        <p:nvSpPr>
          <p:cNvPr id="9" name="Flecha: hacia la izquierda 8">
            <a:extLst>
              <a:ext uri="{FF2B5EF4-FFF2-40B4-BE49-F238E27FC236}">
                <a16:creationId xmlns:a16="http://schemas.microsoft.com/office/drawing/2014/main" id="{689AD63D-58A7-64F8-5ED0-C2126CA09790}"/>
              </a:ext>
            </a:extLst>
          </p:cNvPr>
          <p:cNvSpPr/>
          <p:nvPr/>
        </p:nvSpPr>
        <p:spPr>
          <a:xfrm>
            <a:off x="8082606" y="4905124"/>
            <a:ext cx="3033633" cy="1109235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Century Gothic" panose="020B0502020202020204" pitchFamily="34" charset="0"/>
              </a:rPr>
              <a:t>CPEUM art. 6 y 7</a:t>
            </a:r>
          </a:p>
        </p:txBody>
      </p:sp>
      <p:sp>
        <p:nvSpPr>
          <p:cNvPr id="10" name="Rectángulo: esquinas diagonales redondeadas 9">
            <a:extLst>
              <a:ext uri="{FF2B5EF4-FFF2-40B4-BE49-F238E27FC236}">
                <a16:creationId xmlns:a16="http://schemas.microsoft.com/office/drawing/2014/main" id="{28EA741C-648E-C8B2-906E-747194E840EA}"/>
              </a:ext>
            </a:extLst>
          </p:cNvPr>
          <p:cNvSpPr/>
          <p:nvPr/>
        </p:nvSpPr>
        <p:spPr>
          <a:xfrm>
            <a:off x="913773" y="1305838"/>
            <a:ext cx="3403395" cy="4168873"/>
          </a:xfrm>
          <a:prstGeom prst="round2Diag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dirty="0">
                <a:latin typeface="Century Gothic" panose="020B0502020202020204" pitchFamily="34" charset="0"/>
              </a:rPr>
              <a:t>Ley Duarte (Veracruz): A quien, por cualquier medio, afirme falsamente la existencia </a:t>
            </a:r>
            <a:r>
              <a:rPr lang="es-MX" i="1" dirty="0">
                <a:latin typeface="Century Gothic" panose="020B0502020202020204" pitchFamily="34" charset="0"/>
              </a:rPr>
              <a:t>de objetos, sustancias que puedan</a:t>
            </a:r>
            <a:r>
              <a:rPr lang="es-MX" dirty="0">
                <a:latin typeface="Century Gothic" panose="020B0502020202020204" pitchFamily="34" charset="0"/>
              </a:rPr>
              <a:t> causar daño a la salud, ocasionando la </a:t>
            </a:r>
            <a:r>
              <a:rPr lang="es-MX" b="1" dirty="0">
                <a:latin typeface="Century Gothic" panose="020B0502020202020204" pitchFamily="34" charset="0"/>
              </a:rPr>
              <a:t>perturbación del orden público</a:t>
            </a:r>
            <a:r>
              <a:rPr lang="es-MX" dirty="0">
                <a:latin typeface="Century Gothic" panose="020B0502020202020204" pitchFamily="34" charset="0"/>
              </a:rPr>
              <a:t>, se le impondrá prisión de 1 a 4 años y multa, atendiendo a la alarma o perturbación del orden efectivamente producida.</a:t>
            </a:r>
          </a:p>
        </p:txBody>
      </p:sp>
    </p:spTree>
    <p:extLst>
      <p:ext uri="{BB962C8B-B14F-4D97-AF65-F5344CB8AC3E}">
        <p14:creationId xmlns:p14="http://schemas.microsoft.com/office/powerpoint/2010/main" val="71100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DB32E-200D-D243-10AA-C4BE284BF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Límite No-Absoluto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13A2F7-0DF5-A92A-D58C-305BA2DDD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>
            <a:normAutofit/>
          </a:bodyPr>
          <a:lstStyle/>
          <a:p>
            <a:pPr marR="0" lvl="0" algn="just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libertad de expresión </a:t>
            </a:r>
            <a:r>
              <a:rPr lang="es-ES" sz="2800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no es absoluta</a:t>
            </a:r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. Puede tener restricciones posteriores (no censura previa)</a:t>
            </a:r>
          </a:p>
          <a:p>
            <a:pPr marR="0" lvl="1" algn="just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Analogía: Tienes derecho a gritar, pero no a gritar "¡Fuego!" en un cine lleno (causar pánico).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9E35D4D-A602-AD1A-C852-2610EBF5A1F9}"/>
              </a:ext>
            </a:extLst>
          </p:cNvPr>
          <p:cNvSpPr/>
          <p:nvPr/>
        </p:nvSpPr>
        <p:spPr>
          <a:xfrm>
            <a:off x="1712784" y="5106649"/>
            <a:ext cx="4661941" cy="99684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Century Gothic" panose="020B0502020202020204" pitchFamily="34" charset="0"/>
              </a:rPr>
              <a:t>Caso controversial: Caso </a:t>
            </a:r>
            <a:r>
              <a:rPr lang="es-MX" dirty="0" err="1">
                <a:latin typeface="Century Gothic" panose="020B0502020202020204" pitchFamily="34" charset="0"/>
              </a:rPr>
              <a:t>Kimel</a:t>
            </a:r>
            <a:r>
              <a:rPr lang="es-MX" dirty="0">
                <a:latin typeface="Century Gothic" panose="020B0502020202020204" pitchFamily="34" charset="0"/>
              </a:rPr>
              <a:t> vs Argentina en la Ci, donde se sancionó a un periodista por criticar a un Juez.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9797573-4DBB-4FE4-A7CC-77789AA4257F}"/>
              </a:ext>
            </a:extLst>
          </p:cNvPr>
          <p:cNvSpPr/>
          <p:nvPr/>
        </p:nvSpPr>
        <p:spPr>
          <a:xfrm>
            <a:off x="7173733" y="4819613"/>
            <a:ext cx="4377128" cy="159617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>
                <a:latin typeface="Century Gothic" panose="020B0502020202020204" pitchFamily="34" charset="0"/>
              </a:rPr>
              <a:t>CiDH</a:t>
            </a:r>
            <a:r>
              <a:rPr lang="es-MX" dirty="0">
                <a:latin typeface="Century Gothic" panose="020B0502020202020204" pitchFamily="34" charset="0"/>
              </a:rPr>
              <a:t>: La LE no puede ser objeto de sanción, más aún cuando se trata de un juicio de valor sobre un acto oficial de un funcionario público en el desempeño de su cargo.</a:t>
            </a:r>
          </a:p>
        </p:txBody>
      </p:sp>
    </p:spTree>
    <p:extLst>
      <p:ext uri="{BB962C8B-B14F-4D97-AF65-F5344CB8AC3E}">
        <p14:creationId xmlns:p14="http://schemas.microsoft.com/office/powerpoint/2010/main" val="2098708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12204-B072-DC19-CCD9-91BCBBF6F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Las Únicas Excepciones Válidas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6DD8D3-6446-8150-ED8D-2F2A06D01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718914"/>
          </a:xfrm>
        </p:spPr>
        <p:txBody>
          <a:bodyPr anchor="ctr">
            <a:noAutofit/>
          </a:bodyPr>
          <a:lstStyle/>
          <a:p>
            <a:pPr marR="0" lvl="0" algn="just" rtl="0"/>
            <a:r>
              <a:rPr lang="es-ES" sz="2600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Restricciones legítimas (taxativas)</a:t>
            </a:r>
            <a:r>
              <a:rPr lang="es-ES" sz="26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de la Convención Americana: </a:t>
            </a:r>
            <a:r>
              <a:rPr lang="es-ES" sz="2600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Seguridad Nacional, Orden/Salud/Moral Públicas, Derechos/Reputación de otros</a:t>
            </a:r>
            <a:r>
              <a:rPr lang="es-ES" sz="26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.</a:t>
            </a:r>
          </a:p>
          <a:p>
            <a:pPr marL="0" marR="0" lvl="0" indent="0" algn="just" rtl="0">
              <a:buNone/>
            </a:pPr>
            <a:endParaRPr lang="es-ES" sz="2600" b="0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R="0" lvl="1" algn="ctr" rtl="0"/>
            <a:r>
              <a:rPr lang="es-ES" sz="26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Analogía: Los derechos son como la frontera de tu jardín: tu perro no puede morder al vecino.</a:t>
            </a:r>
          </a:p>
        </p:txBody>
      </p:sp>
    </p:spTree>
    <p:extLst>
      <p:ext uri="{BB962C8B-B14F-4D97-AF65-F5344CB8AC3E}">
        <p14:creationId xmlns:p14="http://schemas.microsoft.com/office/powerpoint/2010/main" val="1115809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9F812B-31ED-1EB2-66F1-C2D87F94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Peligro de la "Censura Indirecta"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8E3BAF-A50C-E25B-A2FB-018369AA9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2214695"/>
            <a:ext cx="10364452" cy="3576506"/>
          </a:xfrm>
        </p:spPr>
        <p:txBody>
          <a:bodyPr anchor="ctr">
            <a:noAutofit/>
          </a:bodyPr>
          <a:lstStyle/>
          <a:p>
            <a:pPr marR="0" lvl="0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Prohibición de restringir por medios indirectos (ej. controlar papel para periódicos, frecuencias, o bloquear el internet).</a:t>
            </a:r>
          </a:p>
          <a:p>
            <a:pPr marR="0" lvl="0" algn="ctr" rtl="0"/>
            <a:endParaRPr lang="es-ES" sz="2800" b="0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R="0" lvl="1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Pregunta: ¿Cómo el gobierno podría censurar A un </a:t>
            </a:r>
            <a:r>
              <a:rPr lang="es-ES" sz="2800" b="0" i="1" u="none" strike="noStrike" kern="100" baseline="0" dirty="0" err="1">
                <a:solidFill>
                  <a:srgbClr val="0F4761"/>
                </a:solidFill>
                <a:latin typeface="Century Gothic" panose="020B0502020202020204" pitchFamily="34" charset="0"/>
              </a:rPr>
              <a:t>youtuber</a:t>
            </a:r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sin decirlo? </a:t>
            </a:r>
            <a:r>
              <a:rPr lang="es-ES" sz="2800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*</a:t>
            </a:r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</a:t>
            </a:r>
            <a:r>
              <a:rPr lang="es-ES" sz="2800" b="0" i="0" u="none" strike="noStrike" kern="100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(Respuesta: Bloqueo, reducir velocidad, controles de equipo). 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0F986D6-7193-1340-6E00-FEB01CB74986}"/>
              </a:ext>
            </a:extLst>
          </p:cNvPr>
          <p:cNvSpPr/>
          <p:nvPr/>
        </p:nvSpPr>
        <p:spPr>
          <a:xfrm rot="16200000">
            <a:off x="-1678898" y="3545748"/>
            <a:ext cx="4766872" cy="9144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Century Gothic" panose="020B0502020202020204" pitchFamily="34" charset="0"/>
              </a:rPr>
              <a:t>Ley General para Regular el contenido de </a:t>
            </a:r>
            <a:r>
              <a:rPr lang="es-MX" i="1" dirty="0" err="1">
                <a:latin typeface="Century Gothic" panose="020B0502020202020204" pitchFamily="34" charset="0"/>
              </a:rPr>
              <a:t>Influencers</a:t>
            </a:r>
            <a:r>
              <a:rPr lang="es-MX" dirty="0">
                <a:latin typeface="Century Gothic" panose="020B0502020202020204" pitchFamily="34" charset="0"/>
              </a:rPr>
              <a:t> en Medios y Plataformas Digitales</a:t>
            </a:r>
          </a:p>
        </p:txBody>
      </p:sp>
    </p:spTree>
    <p:extLst>
      <p:ext uri="{BB962C8B-B14F-4D97-AF65-F5344CB8AC3E}">
        <p14:creationId xmlns:p14="http://schemas.microsoft.com/office/powerpoint/2010/main" val="3923767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F3F2D-1576-DBCE-73C1-BA44DCA37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Leyes de Desacato y Funcionarios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FCA41B-2DB6-F7E9-2F3E-D36419F1E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 fontScale="92500" lnSpcReduction="10000"/>
          </a:bodyPr>
          <a:lstStyle/>
          <a:p>
            <a:pPr marR="0" lvl="0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Los funcionarios públicos están sujetos a mayor escrutinio. Las "leyes de desacato" son contrarias a la libertad de expresión.</a:t>
            </a:r>
          </a:p>
          <a:p>
            <a:pPr marR="0" lvl="0" algn="ctr" rtl="0"/>
            <a:endParaRPr lang="es-ES" sz="2800" b="0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R="0" lvl="1" algn="ctr" rtl="0"/>
            <a:r>
              <a:rPr lang="es-ES" sz="2800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Analogía:</a:t>
            </a:r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Un político es como una figura pública en el centro de un estadio, debe aceptar más críticas que un ciudadano en su casa.</a:t>
            </a:r>
          </a:p>
        </p:txBody>
      </p:sp>
    </p:spTree>
    <p:extLst>
      <p:ext uri="{BB962C8B-B14F-4D97-AF65-F5344CB8AC3E}">
        <p14:creationId xmlns:p14="http://schemas.microsoft.com/office/powerpoint/2010/main" val="408034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65F444-00D0-0AC4-EBFF-67746FB21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Censura Prohibida: El Bloqueo Total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1C3897-1CB0-698C-DE09-346815426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Autofit/>
          </a:bodyPr>
          <a:lstStyle/>
          <a:p>
            <a:pPr marR="0" lvl="0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interrupción o cancelación total del acceso a Internet (a poblaciones enteras) no puede estar justificada en ningún caso, ni por orden público/seguridad nacional.</a:t>
            </a:r>
          </a:p>
          <a:p>
            <a:pPr marR="0" lvl="0" rtl="0"/>
            <a:endParaRPr lang="es-ES" sz="2800" b="0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R="0" lvl="1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Pregunta: ¿Qué pasa si el gobierno de México bloquea WhatsApp por una protesta?</a:t>
            </a:r>
          </a:p>
        </p:txBody>
      </p:sp>
    </p:spTree>
    <p:extLst>
      <p:ext uri="{BB962C8B-B14F-4D97-AF65-F5344CB8AC3E}">
        <p14:creationId xmlns:p14="http://schemas.microsoft.com/office/powerpoint/2010/main" val="958618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97662-67D2-35BD-612E-C3CB1ACAF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¿Guerra o Porno? La Única Excepción de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1A246B-8B13-C09B-2F78-9389900AA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Autofit/>
          </a:bodyPr>
          <a:lstStyle/>
          <a:p>
            <a:pPr marR="0" lvl="0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Contenidos no amparados por la libertad de expresión (excepciones): </a:t>
            </a:r>
            <a:r>
              <a:rPr lang="es-ES" sz="2800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Propaganda de Guerra, Apología del Odio/Violencia, Incitación al Genocidio, Pornografía Infantil.</a:t>
            </a:r>
          </a:p>
          <a:p>
            <a:pPr marR="0" lvl="1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Analogía: La libertad de expresión es un escudo, pero no cubre las armas de guerra ni el abuso infantil.</a:t>
            </a:r>
          </a:p>
        </p:txBody>
      </p:sp>
    </p:spTree>
    <p:extLst>
      <p:ext uri="{BB962C8B-B14F-4D97-AF65-F5344CB8AC3E}">
        <p14:creationId xmlns:p14="http://schemas.microsoft.com/office/powerpoint/2010/main" val="3416325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4FE92-3FDC-6D43-10E9-E809734E8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"Test Tripartito" de la CIDH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2324E3-E6AD-6D0B-C654-A02897F2C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R="0" lvl="0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Toda limitación debe pasar un test de 3 pasos: 1) Definida por Ley, 2) Necesaria e Idónea, 3) Estrictamente Proporcionada.</a:t>
            </a:r>
          </a:p>
          <a:p>
            <a:pPr marR="0" lvl="1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Dilema Legal: Si un juez te multa por "rumor", ¿se cumple el test? </a:t>
            </a:r>
            <a:r>
              <a:rPr lang="es-ES" sz="2800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*</a:t>
            </a:r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 </a:t>
            </a:r>
            <a:r>
              <a:rPr lang="es-ES" sz="2800" b="0" i="0" u="none" strike="noStrike" kern="100" baseline="0" dirty="0">
                <a:solidFill>
                  <a:srgbClr val="FF0000"/>
                </a:solidFill>
                <a:latin typeface="Century Gothic" panose="020B0502020202020204" pitchFamily="34" charset="0"/>
              </a:rPr>
              <a:t>(No, no es precisa ni proporcionada).</a:t>
            </a:r>
          </a:p>
        </p:txBody>
      </p:sp>
    </p:spTree>
    <p:extLst>
      <p:ext uri="{BB962C8B-B14F-4D97-AF65-F5344CB8AC3E}">
        <p14:creationId xmlns:p14="http://schemas.microsoft.com/office/powerpoint/2010/main" val="4026757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D0EA5-AAD0-5923-44FE-E6162129F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Contexto de la Regulación: 9/11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502575-9625-D76A-A3CD-C566EB5AF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Autofit/>
          </a:bodyPr>
          <a:lstStyle/>
          <a:p>
            <a:pPr marR="0" lvl="0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11-S (2001) cambió la agenda, mezclando la lucha antiterrorista (Ley Patriota, Convenio de Budapest) con la regulación de contenidos no relacionados (ej. propiedad intelectual, rumores).</a:t>
            </a:r>
          </a:p>
          <a:p>
            <a:pPr marR="0" lvl="1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Analogía: Usar un tanque para matar una mosca. El combate al terrorismo se volvió excusa para el espionaje masivo.</a:t>
            </a:r>
          </a:p>
        </p:txBody>
      </p:sp>
    </p:spTree>
    <p:extLst>
      <p:ext uri="{BB962C8B-B14F-4D97-AF65-F5344CB8AC3E}">
        <p14:creationId xmlns:p14="http://schemas.microsoft.com/office/powerpoint/2010/main" val="1729808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E9B3DE-2F8F-BFFC-62B1-B9E72111C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s-MX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Conclusión y Apertura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B9AD01-7B08-01D5-AE73-16811DB13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R="0" lvl="0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Resumen y visión general de la legislación en México.</a:t>
            </a:r>
          </a:p>
          <a:p>
            <a:pPr marR="0" lvl="0" algn="ctr" rtl="0"/>
            <a:endParaRPr lang="es-ES" sz="2800" b="0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R="0" lvl="1" algn="ctr" rtl="0"/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Conclusión: El reto es legislar sin ambigüedad y castigar el crimen sin censurar la libertad. (Apertura al siguiente módulo).</a:t>
            </a:r>
          </a:p>
        </p:txBody>
      </p:sp>
    </p:spTree>
    <p:extLst>
      <p:ext uri="{BB962C8B-B14F-4D97-AF65-F5344CB8AC3E}">
        <p14:creationId xmlns:p14="http://schemas.microsoft.com/office/powerpoint/2010/main" val="3774980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DA6EA-662A-00BD-A560-8FF933BA6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PREGUNTAS: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58874F-F583-1BFB-0043-2E764315B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1828801"/>
            <a:ext cx="10364452" cy="3962400"/>
          </a:xfrm>
        </p:spPr>
        <p:txBody>
          <a:bodyPr anchor="ctr"/>
          <a:lstStyle/>
          <a:p>
            <a:pPr marL="0" indent="0" algn="just">
              <a:buNone/>
            </a:pPr>
            <a:r>
              <a:rPr lang="es-ES" b="1" dirty="0"/>
              <a:t>Pregunta 1</a:t>
            </a:r>
            <a:r>
              <a:rPr lang="es-ES" dirty="0"/>
              <a:t>: Instrumentos Fundamentales de la Libertad de Expresión en América.</a:t>
            </a:r>
          </a:p>
          <a:p>
            <a:pPr marL="0" indent="0" algn="just">
              <a:buNone/>
            </a:pPr>
            <a:r>
              <a:rPr lang="es-ES" dirty="0"/>
              <a:t>¿Cuáles son los instrumentos jurídicos para exigir el respeto a los derechos humanos en América, reconociendo la libertad de expresión en su Artículo 13?</a:t>
            </a:r>
          </a:p>
          <a:p>
            <a:pPr marL="0" indent="0" algn="ctr">
              <a:buNone/>
            </a:pPr>
            <a:r>
              <a:rPr lang="es-ES" b="1" dirty="0">
                <a:solidFill>
                  <a:srgbClr val="FF0000"/>
                </a:solidFill>
              </a:rPr>
              <a:t>CONVENCIÓN AMERICANA DE DERECHOS HUMANOS</a:t>
            </a:r>
          </a:p>
          <a:p>
            <a:pPr marL="0" indent="0" algn="just">
              <a:buNone/>
            </a:pPr>
            <a:r>
              <a:rPr lang="es-ES" b="1" dirty="0"/>
              <a:t>Pregunta 2:</a:t>
            </a:r>
            <a:r>
              <a:rPr lang="es-ES" dirty="0"/>
              <a:t> El Principio del Bloqueo de Internet (Declaración Conjunta)</a:t>
            </a:r>
          </a:p>
          <a:p>
            <a:pPr marL="0" indent="0" algn="just">
              <a:buNone/>
            </a:pPr>
            <a:r>
              <a:rPr lang="es-ES" dirty="0"/>
              <a:t>¿Cuál es el planteamiento tajante de la "Declaración conjunta sobre libertad de expresión e internet" (2011) en cuanto a la interrupción del acceso a internet?</a:t>
            </a:r>
          </a:p>
          <a:p>
            <a:pPr marL="0" indent="0" algn="ctr">
              <a:buNone/>
            </a:pPr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288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DA6EA-662A-00BD-A560-8FF933BA6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PREGUNTAS: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58874F-F583-1BFB-0043-2E764315B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5" y="1828801"/>
            <a:ext cx="10364452" cy="3962400"/>
          </a:xfrm>
        </p:spPr>
        <p:txBody>
          <a:bodyPr anchor="ctr"/>
          <a:lstStyle/>
          <a:p>
            <a:pPr marL="0" indent="0" algn="just">
              <a:buNone/>
            </a:pPr>
            <a:r>
              <a:rPr lang="es-ES" b="1" dirty="0"/>
              <a:t>Pregunta 3:</a:t>
            </a:r>
            <a:r>
              <a:rPr lang="es-ES" dirty="0"/>
              <a:t> Contenidos NO amparados por la Libertad de Expresión (Estándares OEA)</a:t>
            </a:r>
          </a:p>
          <a:p>
            <a:pPr marL="0" indent="0" algn="just">
              <a:buNone/>
            </a:pPr>
            <a:r>
              <a:rPr lang="es-ES" dirty="0"/>
              <a:t>Según los "Estándares para una Internet libre, abierta e incluyente" de la OEA, ¿cuáles son los contenidos que NO se consideran amparados por la libertad de expresión y puede ser legítimamente restringido?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b="1" dirty="0"/>
              <a:t>Pregunta 4:</a:t>
            </a:r>
            <a:r>
              <a:rPr lang="es-ES" dirty="0"/>
              <a:t> Crítica a la Tipificación Ambigua del Terrorismo en México</a:t>
            </a:r>
          </a:p>
          <a:p>
            <a:pPr marL="0" indent="0" algn="just">
              <a:buNone/>
            </a:pPr>
            <a:r>
              <a:rPr lang="es-ES" dirty="0"/>
              <a:t>Un riesgo considerable a la libertad de expresión que se ha instalado en iniciativas de ley y códigos penales mexicanos, como la Ley Duarte, es:</a:t>
            </a:r>
          </a:p>
        </p:txBody>
      </p:sp>
    </p:spTree>
    <p:extLst>
      <p:ext uri="{BB962C8B-B14F-4D97-AF65-F5344CB8AC3E}">
        <p14:creationId xmlns:p14="http://schemas.microsoft.com/office/powerpoint/2010/main" val="304141621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Naranja roj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rillant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Gota</Template>
  <TotalTime>196</TotalTime>
  <Words>962</Words>
  <Application>Microsoft Office PowerPoint</Application>
  <PresentationFormat>Panorámica</PresentationFormat>
  <Paragraphs>65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Tw Cen MT</vt:lpstr>
      <vt:lpstr>Gota</vt:lpstr>
      <vt:lpstr>Presentación de PowerPoint</vt:lpstr>
      <vt:lpstr>El Dilema: Tu Libertad vs. la Ley</vt:lpstr>
      <vt:lpstr>La Base de la Libertad: Art. 19</vt:lpstr>
      <vt:lpstr>La Clave Americana: Pacto de San José</vt:lpstr>
      <vt:lpstr>Presentación de PowerPoint</vt:lpstr>
      <vt:lpstr>El Límite No-Absoluto</vt:lpstr>
      <vt:lpstr>Las Únicas Excepciones Válidas</vt:lpstr>
      <vt:lpstr>El Peligro de la "Censura Indirecta"</vt:lpstr>
      <vt:lpstr>Leyes de Desacato y Funcionarios</vt:lpstr>
      <vt:lpstr>Censura Prohibida: El Bloqueo Total</vt:lpstr>
      <vt:lpstr>¿Guerra o Porno? La Única Excepción de Contenido</vt:lpstr>
      <vt:lpstr>El "Test Tripartito" de la CIDH</vt:lpstr>
      <vt:lpstr>El Contexto de la Regulación: 9/11</vt:lpstr>
      <vt:lpstr>Conclusión y Apertura</vt:lpstr>
      <vt:lpstr>PREGUNTAS:</vt:lpstr>
      <vt:lpstr>PREGUNTAS: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“Delitos informáticos frente a estándares de derechos humanos y libertad de expresión en México.”</dc:title>
  <dc:creator>GERARDO ROBERTO ARAGÓN GONZÁLEZ</dc:creator>
  <cp:lastModifiedBy>GERARDO ROBERTO ARAGÓN GONZÁLEZ</cp:lastModifiedBy>
  <cp:revision>46</cp:revision>
  <dcterms:created xsi:type="dcterms:W3CDTF">2025-10-09T19:59:18Z</dcterms:created>
  <dcterms:modified xsi:type="dcterms:W3CDTF">2025-10-10T11:30:38Z</dcterms:modified>
</cp:coreProperties>
</file>