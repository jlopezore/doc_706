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71" r:id="rId13"/>
    <p:sldId id="269" r:id="rId14"/>
    <p:sldId id="270" r:id="rId15"/>
    <p:sldId id="272" r:id="rId16"/>
    <p:sldId id="273" r:id="rId17"/>
    <p:sldId id="268" r:id="rId18"/>
    <p:sldId id="274" r:id="rId19"/>
    <p:sldId id="275" r:id="rId20"/>
    <p:sldId id="276" r:id="rId21"/>
    <p:sldId id="277" r:id="rId22"/>
    <p:sldId id="278" r:id="rId2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1"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RDO ROBERTO ARAGÓN GONZÁLEZ" userId="08711c7df194d5de" providerId="LiveId" clId="{79A62CC3-91A6-451F-9EE1-AF046FB69F26}"/>
    <pc:docChg chg="undo custSel addSld delSld modSld sldOrd">
      <pc:chgData name="GERARDO ROBERTO ARAGÓN GONZÁLEZ" userId="08711c7df194d5de" providerId="LiveId" clId="{79A62CC3-91A6-451F-9EE1-AF046FB69F26}" dt="2025-10-27T12:00:01.962" v="286" actId="123"/>
      <pc:docMkLst>
        <pc:docMk/>
      </pc:docMkLst>
      <pc:sldChg chg="del">
        <pc:chgData name="GERARDO ROBERTO ARAGÓN GONZÁLEZ" userId="08711c7df194d5de" providerId="LiveId" clId="{79A62CC3-91A6-451F-9EE1-AF046FB69F26}" dt="2025-10-27T11:57:24.771" v="261" actId="2696"/>
        <pc:sldMkLst>
          <pc:docMk/>
          <pc:sldMk cId="4152137016" sldId="256"/>
        </pc:sldMkLst>
      </pc:sldChg>
      <pc:sldChg chg="delSp modSp mod">
        <pc:chgData name="GERARDO ROBERTO ARAGÓN GONZÁLEZ" userId="08711c7df194d5de" providerId="LiveId" clId="{79A62CC3-91A6-451F-9EE1-AF046FB69F26}" dt="2025-10-27T11:58:13.796" v="265" actId="113"/>
        <pc:sldMkLst>
          <pc:docMk/>
          <pc:sldMk cId="3423679798" sldId="257"/>
        </pc:sldMkLst>
        <pc:spChg chg="del mod">
          <ac:chgData name="GERARDO ROBERTO ARAGÓN GONZÁLEZ" userId="08711c7df194d5de" providerId="LiveId" clId="{79A62CC3-91A6-451F-9EE1-AF046FB69F26}" dt="2025-10-27T11:52:20.044" v="188" actId="21"/>
          <ac:spMkLst>
            <pc:docMk/>
            <pc:sldMk cId="3423679798" sldId="257"/>
            <ac:spMk id="2" creationId="{F79CDBDD-0FA5-D0AC-6E29-3B384CF6DFBC}"/>
          </ac:spMkLst>
        </pc:spChg>
        <pc:spChg chg="mod">
          <ac:chgData name="GERARDO ROBERTO ARAGÓN GONZÁLEZ" userId="08711c7df194d5de" providerId="LiveId" clId="{79A62CC3-91A6-451F-9EE1-AF046FB69F26}" dt="2025-10-27T11:58:13.796" v="265" actId="113"/>
          <ac:spMkLst>
            <pc:docMk/>
            <pc:sldMk cId="3423679798" sldId="257"/>
            <ac:spMk id="3" creationId="{1521FA30-A5BB-199A-1921-510E75F0BE53}"/>
          </ac:spMkLst>
        </pc:spChg>
      </pc:sldChg>
      <pc:sldChg chg="modSp mod">
        <pc:chgData name="GERARDO ROBERTO ARAGÓN GONZÁLEZ" userId="08711c7df194d5de" providerId="LiveId" clId="{79A62CC3-91A6-451F-9EE1-AF046FB69F26}" dt="2025-10-27T11:59:13.669" v="278" actId="20577"/>
        <pc:sldMkLst>
          <pc:docMk/>
          <pc:sldMk cId="1714756206" sldId="258"/>
        </pc:sldMkLst>
        <pc:spChg chg="mod">
          <ac:chgData name="GERARDO ROBERTO ARAGÓN GONZÁLEZ" userId="08711c7df194d5de" providerId="LiveId" clId="{79A62CC3-91A6-451F-9EE1-AF046FB69F26}" dt="2025-10-27T11:59:13.669" v="278" actId="20577"/>
          <ac:spMkLst>
            <pc:docMk/>
            <pc:sldMk cId="1714756206" sldId="258"/>
            <ac:spMk id="2" creationId="{F39083B5-C8B8-C3E9-A99D-EAACE6CF9BBD}"/>
          </ac:spMkLst>
        </pc:spChg>
        <pc:spChg chg="mod">
          <ac:chgData name="GERARDO ROBERTO ARAGÓN GONZÁLEZ" userId="08711c7df194d5de" providerId="LiveId" clId="{79A62CC3-91A6-451F-9EE1-AF046FB69F26}" dt="2025-10-27T11:54:27.191" v="218" actId="2711"/>
          <ac:spMkLst>
            <pc:docMk/>
            <pc:sldMk cId="1714756206" sldId="258"/>
            <ac:spMk id="3" creationId="{2FC07646-A52E-5D59-AEC3-1F170303450F}"/>
          </ac:spMkLst>
        </pc:spChg>
      </pc:sldChg>
      <pc:sldChg chg="modSp mod">
        <pc:chgData name="GERARDO ROBERTO ARAGÓN GONZÁLEZ" userId="08711c7df194d5de" providerId="LiveId" clId="{79A62CC3-91A6-451F-9EE1-AF046FB69F26}" dt="2025-10-27T11:59:18.861" v="279" actId="20577"/>
        <pc:sldMkLst>
          <pc:docMk/>
          <pc:sldMk cId="3969543027" sldId="259"/>
        </pc:sldMkLst>
        <pc:spChg chg="mod">
          <ac:chgData name="GERARDO ROBERTO ARAGÓN GONZÁLEZ" userId="08711c7df194d5de" providerId="LiveId" clId="{79A62CC3-91A6-451F-9EE1-AF046FB69F26}" dt="2025-10-27T11:59:18.861" v="279" actId="20577"/>
          <ac:spMkLst>
            <pc:docMk/>
            <pc:sldMk cId="3969543027" sldId="259"/>
            <ac:spMk id="2" creationId="{9945F188-C5F9-E829-AF59-00BA4447143A}"/>
          </ac:spMkLst>
        </pc:spChg>
        <pc:spChg chg="mod">
          <ac:chgData name="GERARDO ROBERTO ARAGÓN GONZÁLEZ" userId="08711c7df194d5de" providerId="LiveId" clId="{79A62CC3-91A6-451F-9EE1-AF046FB69F26}" dt="2025-10-27T11:54:47.628" v="223" actId="123"/>
          <ac:spMkLst>
            <pc:docMk/>
            <pc:sldMk cId="3969543027" sldId="259"/>
            <ac:spMk id="3" creationId="{C4A3BDDC-F0CB-331E-FDEC-D2D65CB322EF}"/>
          </ac:spMkLst>
        </pc:spChg>
      </pc:sldChg>
      <pc:sldChg chg="modSp mod">
        <pc:chgData name="GERARDO ROBERTO ARAGÓN GONZÁLEZ" userId="08711c7df194d5de" providerId="LiveId" clId="{79A62CC3-91A6-451F-9EE1-AF046FB69F26}" dt="2025-10-27T11:59:23.391" v="280" actId="20577"/>
        <pc:sldMkLst>
          <pc:docMk/>
          <pc:sldMk cId="2726559447" sldId="260"/>
        </pc:sldMkLst>
        <pc:spChg chg="mod">
          <ac:chgData name="GERARDO ROBERTO ARAGÓN GONZÁLEZ" userId="08711c7df194d5de" providerId="LiveId" clId="{79A62CC3-91A6-451F-9EE1-AF046FB69F26}" dt="2025-10-27T11:59:23.391" v="280" actId="20577"/>
          <ac:spMkLst>
            <pc:docMk/>
            <pc:sldMk cId="2726559447" sldId="260"/>
            <ac:spMk id="2" creationId="{30F958EC-0823-1B1B-8B49-A23B1028499D}"/>
          </ac:spMkLst>
        </pc:spChg>
        <pc:spChg chg="mod">
          <ac:chgData name="GERARDO ROBERTO ARAGÓN GONZÁLEZ" userId="08711c7df194d5de" providerId="LiveId" clId="{79A62CC3-91A6-451F-9EE1-AF046FB69F26}" dt="2025-10-27T11:55:22.739" v="232" actId="27636"/>
          <ac:spMkLst>
            <pc:docMk/>
            <pc:sldMk cId="2726559447" sldId="260"/>
            <ac:spMk id="3" creationId="{792879EA-54B2-D5BE-20EE-4C39E1941A7B}"/>
          </ac:spMkLst>
        </pc:spChg>
      </pc:sldChg>
      <pc:sldChg chg="modSp mod">
        <pc:chgData name="GERARDO ROBERTO ARAGÓN GONZÁLEZ" userId="08711c7df194d5de" providerId="LiveId" clId="{79A62CC3-91A6-451F-9EE1-AF046FB69F26}" dt="2025-10-27T11:59:28.262" v="281" actId="20577"/>
        <pc:sldMkLst>
          <pc:docMk/>
          <pc:sldMk cId="3041962619" sldId="261"/>
        </pc:sldMkLst>
        <pc:spChg chg="mod">
          <ac:chgData name="GERARDO ROBERTO ARAGÓN GONZÁLEZ" userId="08711c7df194d5de" providerId="LiveId" clId="{79A62CC3-91A6-451F-9EE1-AF046FB69F26}" dt="2025-10-27T11:59:28.262" v="281" actId="20577"/>
          <ac:spMkLst>
            <pc:docMk/>
            <pc:sldMk cId="3041962619" sldId="261"/>
            <ac:spMk id="2" creationId="{6C90FEB0-435E-872B-AC9B-B5FBDC4C5053}"/>
          </ac:spMkLst>
        </pc:spChg>
        <pc:spChg chg="mod">
          <ac:chgData name="GERARDO ROBERTO ARAGÓN GONZÁLEZ" userId="08711c7df194d5de" providerId="LiveId" clId="{79A62CC3-91A6-451F-9EE1-AF046FB69F26}" dt="2025-10-27T11:55:38.802" v="236" actId="242"/>
          <ac:spMkLst>
            <pc:docMk/>
            <pc:sldMk cId="3041962619" sldId="261"/>
            <ac:spMk id="3" creationId="{1D6AAD15-A91C-36D0-6E46-6312C78698C8}"/>
          </ac:spMkLst>
        </pc:spChg>
      </pc:sldChg>
      <pc:sldChg chg="modSp mod">
        <pc:chgData name="GERARDO ROBERTO ARAGÓN GONZÁLEZ" userId="08711c7df194d5de" providerId="LiveId" clId="{79A62CC3-91A6-451F-9EE1-AF046FB69F26}" dt="2025-10-27T11:59:32.795" v="282" actId="20577"/>
        <pc:sldMkLst>
          <pc:docMk/>
          <pc:sldMk cId="29247085" sldId="262"/>
        </pc:sldMkLst>
        <pc:spChg chg="mod">
          <ac:chgData name="GERARDO ROBERTO ARAGÓN GONZÁLEZ" userId="08711c7df194d5de" providerId="LiveId" clId="{79A62CC3-91A6-451F-9EE1-AF046FB69F26}" dt="2025-10-27T11:59:32.795" v="282" actId="20577"/>
          <ac:spMkLst>
            <pc:docMk/>
            <pc:sldMk cId="29247085" sldId="262"/>
            <ac:spMk id="2" creationId="{A1718D91-AB11-43A2-85CF-976E19BA7C7F}"/>
          </ac:spMkLst>
        </pc:spChg>
        <pc:spChg chg="mod">
          <ac:chgData name="GERARDO ROBERTO ARAGÓN GONZÁLEZ" userId="08711c7df194d5de" providerId="LiveId" clId="{79A62CC3-91A6-451F-9EE1-AF046FB69F26}" dt="2025-10-27T11:55:59.545" v="244" actId="27636"/>
          <ac:spMkLst>
            <pc:docMk/>
            <pc:sldMk cId="29247085" sldId="262"/>
            <ac:spMk id="3" creationId="{C035C544-A5C0-1A30-74AA-0553090F9507}"/>
          </ac:spMkLst>
        </pc:spChg>
      </pc:sldChg>
      <pc:sldChg chg="modSp mod">
        <pc:chgData name="GERARDO ROBERTO ARAGÓN GONZÁLEZ" userId="08711c7df194d5de" providerId="LiveId" clId="{79A62CC3-91A6-451F-9EE1-AF046FB69F26}" dt="2025-10-27T11:59:38.589" v="283" actId="20577"/>
        <pc:sldMkLst>
          <pc:docMk/>
          <pc:sldMk cId="2593488683" sldId="263"/>
        </pc:sldMkLst>
        <pc:spChg chg="mod">
          <ac:chgData name="GERARDO ROBERTO ARAGÓN GONZÁLEZ" userId="08711c7df194d5de" providerId="LiveId" clId="{79A62CC3-91A6-451F-9EE1-AF046FB69F26}" dt="2025-10-27T11:59:38.589" v="283" actId="20577"/>
          <ac:spMkLst>
            <pc:docMk/>
            <pc:sldMk cId="2593488683" sldId="263"/>
            <ac:spMk id="2" creationId="{C4FA1DF7-7D20-2232-652C-9F17C8FA9E52}"/>
          </ac:spMkLst>
        </pc:spChg>
        <pc:spChg chg="mod">
          <ac:chgData name="GERARDO ROBERTO ARAGÓN GONZÁLEZ" userId="08711c7df194d5de" providerId="LiveId" clId="{79A62CC3-91A6-451F-9EE1-AF046FB69F26}" dt="2025-10-27T11:56:33.959" v="254" actId="27636"/>
          <ac:spMkLst>
            <pc:docMk/>
            <pc:sldMk cId="2593488683" sldId="263"/>
            <ac:spMk id="3" creationId="{D76623B4-9364-58CD-AB4C-C2D46C159D0A}"/>
          </ac:spMkLst>
        </pc:spChg>
      </pc:sldChg>
      <pc:sldChg chg="modSp mod">
        <pc:chgData name="GERARDO ROBERTO ARAGÓN GONZÁLEZ" userId="08711c7df194d5de" providerId="LiveId" clId="{79A62CC3-91A6-451F-9EE1-AF046FB69F26}" dt="2025-10-27T11:59:45.385" v="284" actId="20577"/>
        <pc:sldMkLst>
          <pc:docMk/>
          <pc:sldMk cId="2800566592" sldId="264"/>
        </pc:sldMkLst>
        <pc:spChg chg="mod">
          <ac:chgData name="GERARDO ROBERTO ARAGÓN GONZÁLEZ" userId="08711c7df194d5de" providerId="LiveId" clId="{79A62CC3-91A6-451F-9EE1-AF046FB69F26}" dt="2025-10-27T11:59:45.385" v="284" actId="20577"/>
          <ac:spMkLst>
            <pc:docMk/>
            <pc:sldMk cId="2800566592" sldId="264"/>
            <ac:spMk id="2" creationId="{8B20F45B-494D-FF4F-C23A-23B938C9E1D5}"/>
          </ac:spMkLst>
        </pc:spChg>
        <pc:spChg chg="mod">
          <ac:chgData name="GERARDO ROBERTO ARAGÓN GONZÁLEZ" userId="08711c7df194d5de" providerId="LiveId" clId="{79A62CC3-91A6-451F-9EE1-AF046FB69F26}" dt="2025-10-27T11:56:45.360" v="258" actId="27636"/>
          <ac:spMkLst>
            <pc:docMk/>
            <pc:sldMk cId="2800566592" sldId="264"/>
            <ac:spMk id="3" creationId="{AE355F62-4218-4CB8-175D-64739342C8E2}"/>
          </ac:spMkLst>
        </pc:spChg>
      </pc:sldChg>
      <pc:sldChg chg="modSp mod">
        <pc:chgData name="GERARDO ROBERTO ARAGÓN GONZÁLEZ" userId="08711c7df194d5de" providerId="LiveId" clId="{79A62CC3-91A6-451F-9EE1-AF046FB69F26}" dt="2025-10-27T12:00:01.962" v="286" actId="123"/>
        <pc:sldMkLst>
          <pc:docMk/>
          <pc:sldMk cId="2930791527" sldId="265"/>
        </pc:sldMkLst>
        <pc:spChg chg="mod">
          <ac:chgData name="GERARDO ROBERTO ARAGÓN GONZÁLEZ" userId="08711c7df194d5de" providerId="LiveId" clId="{79A62CC3-91A6-451F-9EE1-AF046FB69F26}" dt="2025-10-27T11:59:49.652" v="285" actId="20577"/>
          <ac:spMkLst>
            <pc:docMk/>
            <pc:sldMk cId="2930791527" sldId="265"/>
            <ac:spMk id="2" creationId="{6C78AB59-C83C-3668-DBEB-1FFA9457C7AD}"/>
          </ac:spMkLst>
        </pc:spChg>
        <pc:spChg chg="mod">
          <ac:chgData name="GERARDO ROBERTO ARAGÓN GONZÁLEZ" userId="08711c7df194d5de" providerId="LiveId" clId="{79A62CC3-91A6-451F-9EE1-AF046FB69F26}" dt="2025-10-27T12:00:01.962" v="286" actId="123"/>
          <ac:spMkLst>
            <pc:docMk/>
            <pc:sldMk cId="2930791527" sldId="265"/>
            <ac:spMk id="3" creationId="{5DF200BF-9421-5FC1-4DA4-F9D55C9DD94B}"/>
          </ac:spMkLst>
        </pc:spChg>
      </pc:sldChg>
      <pc:sldChg chg="delSp modSp new mod">
        <pc:chgData name="GERARDO ROBERTO ARAGÓN GONZÁLEZ" userId="08711c7df194d5de" providerId="LiveId" clId="{79A62CC3-91A6-451F-9EE1-AF046FB69F26}" dt="2025-10-27T10:04:14.201" v="18" actId="255"/>
        <pc:sldMkLst>
          <pc:docMk/>
          <pc:sldMk cId="3028749559" sldId="266"/>
        </pc:sldMkLst>
        <pc:spChg chg="del">
          <ac:chgData name="GERARDO ROBERTO ARAGÓN GONZÁLEZ" userId="08711c7df194d5de" providerId="LiveId" clId="{79A62CC3-91A6-451F-9EE1-AF046FB69F26}" dt="2025-10-27T10:03:48.633" v="13" actId="21"/>
          <ac:spMkLst>
            <pc:docMk/>
            <pc:sldMk cId="3028749559" sldId="266"/>
            <ac:spMk id="2" creationId="{8BD2DA1A-93E1-8FF9-5FE9-A7FBDDF37741}"/>
          </ac:spMkLst>
        </pc:spChg>
        <pc:spChg chg="mod">
          <ac:chgData name="GERARDO ROBERTO ARAGÓN GONZÁLEZ" userId="08711c7df194d5de" providerId="LiveId" clId="{79A62CC3-91A6-451F-9EE1-AF046FB69F26}" dt="2025-10-27T10:04:14.201" v="18" actId="255"/>
          <ac:spMkLst>
            <pc:docMk/>
            <pc:sldMk cId="3028749559" sldId="266"/>
            <ac:spMk id="3" creationId="{CE5118C2-FD46-6E54-0490-C9C75A6327E4}"/>
          </ac:spMkLst>
        </pc:spChg>
      </pc:sldChg>
      <pc:sldChg chg="delSp modSp add mod">
        <pc:chgData name="GERARDO ROBERTO ARAGÓN GONZÁLEZ" userId="08711c7df194d5de" providerId="LiveId" clId="{79A62CC3-91A6-451F-9EE1-AF046FB69F26}" dt="2025-10-27T10:08:59.309" v="101" actId="27636"/>
        <pc:sldMkLst>
          <pc:docMk/>
          <pc:sldMk cId="11165759" sldId="267"/>
        </pc:sldMkLst>
        <pc:spChg chg="del">
          <ac:chgData name="GERARDO ROBERTO ARAGÓN GONZÁLEZ" userId="08711c7df194d5de" providerId="LiveId" clId="{79A62CC3-91A6-451F-9EE1-AF046FB69F26}" dt="2025-10-27T10:04:50.975" v="36" actId="21"/>
          <ac:spMkLst>
            <pc:docMk/>
            <pc:sldMk cId="11165759" sldId="267"/>
            <ac:spMk id="2" creationId="{8BD2DA1A-93E1-8FF9-5FE9-A7FBDDF37741}"/>
          </ac:spMkLst>
        </pc:spChg>
        <pc:spChg chg="mod">
          <ac:chgData name="GERARDO ROBERTO ARAGÓN GONZÁLEZ" userId="08711c7df194d5de" providerId="LiveId" clId="{79A62CC3-91A6-451F-9EE1-AF046FB69F26}" dt="2025-10-27T10:08:59.309" v="101" actId="27636"/>
          <ac:spMkLst>
            <pc:docMk/>
            <pc:sldMk cId="11165759" sldId="267"/>
            <ac:spMk id="3" creationId="{CE5118C2-FD46-6E54-0490-C9C75A6327E4}"/>
          </ac:spMkLst>
        </pc:spChg>
      </pc:sldChg>
      <pc:sldChg chg="modSp add mod ord">
        <pc:chgData name="GERARDO ROBERTO ARAGÓN GONZÁLEZ" userId="08711c7df194d5de" providerId="LiveId" clId="{79A62CC3-91A6-451F-9EE1-AF046FB69F26}" dt="2025-10-27T10:04:42.559" v="35" actId="20577"/>
        <pc:sldMkLst>
          <pc:docMk/>
          <pc:sldMk cId="1579597116" sldId="268"/>
        </pc:sldMkLst>
        <pc:spChg chg="mod">
          <ac:chgData name="GERARDO ROBERTO ARAGÓN GONZÁLEZ" userId="08711c7df194d5de" providerId="LiveId" clId="{79A62CC3-91A6-451F-9EE1-AF046FB69F26}" dt="2025-10-27T10:04:42.559" v="35" actId="20577"/>
          <ac:spMkLst>
            <pc:docMk/>
            <pc:sldMk cId="1579597116" sldId="268"/>
            <ac:spMk id="3" creationId="{CE5118C2-FD46-6E54-0490-C9C75A6327E4}"/>
          </ac:spMkLst>
        </pc:spChg>
      </pc:sldChg>
      <pc:sldChg chg="modSp add mod">
        <pc:chgData name="GERARDO ROBERTO ARAGÓN GONZÁLEZ" userId="08711c7df194d5de" providerId="LiveId" clId="{79A62CC3-91A6-451F-9EE1-AF046FB69F26}" dt="2025-10-27T10:09:13.696" v="108" actId="20577"/>
        <pc:sldMkLst>
          <pc:docMk/>
          <pc:sldMk cId="493580461" sldId="269"/>
        </pc:sldMkLst>
        <pc:spChg chg="mod">
          <ac:chgData name="GERARDO ROBERTO ARAGÓN GONZÁLEZ" userId="08711c7df194d5de" providerId="LiveId" clId="{79A62CC3-91A6-451F-9EE1-AF046FB69F26}" dt="2025-10-27T10:09:13.696" v="108" actId="20577"/>
          <ac:spMkLst>
            <pc:docMk/>
            <pc:sldMk cId="493580461" sldId="269"/>
            <ac:spMk id="3" creationId="{CE5118C2-FD46-6E54-0490-C9C75A6327E4}"/>
          </ac:spMkLst>
        </pc:spChg>
      </pc:sldChg>
      <pc:sldChg chg="modSp add mod">
        <pc:chgData name="GERARDO ROBERTO ARAGÓN GONZÁLEZ" userId="08711c7df194d5de" providerId="LiveId" clId="{79A62CC3-91A6-451F-9EE1-AF046FB69F26}" dt="2025-10-27T10:10:19.048" v="119" actId="27636"/>
        <pc:sldMkLst>
          <pc:docMk/>
          <pc:sldMk cId="1004503009" sldId="270"/>
        </pc:sldMkLst>
        <pc:spChg chg="mod">
          <ac:chgData name="GERARDO ROBERTO ARAGÓN GONZÁLEZ" userId="08711c7df194d5de" providerId="LiveId" clId="{79A62CC3-91A6-451F-9EE1-AF046FB69F26}" dt="2025-10-27T10:10:19.048" v="119" actId="27636"/>
          <ac:spMkLst>
            <pc:docMk/>
            <pc:sldMk cId="1004503009" sldId="270"/>
            <ac:spMk id="3" creationId="{CE5118C2-FD46-6E54-0490-C9C75A6327E4}"/>
          </ac:spMkLst>
        </pc:spChg>
      </pc:sldChg>
      <pc:sldChg chg="new del">
        <pc:chgData name="GERARDO ROBERTO ARAGÓN GONZÁLEZ" userId="08711c7df194d5de" providerId="LiveId" clId="{79A62CC3-91A6-451F-9EE1-AF046FB69F26}" dt="2025-10-27T10:07:55.034" v="92" actId="680"/>
        <pc:sldMkLst>
          <pc:docMk/>
          <pc:sldMk cId="4146944705" sldId="270"/>
        </pc:sldMkLst>
      </pc:sldChg>
      <pc:sldChg chg="modSp add mod">
        <pc:chgData name="GERARDO ROBERTO ARAGÓN GONZÁLEZ" userId="08711c7df194d5de" providerId="LiveId" clId="{79A62CC3-91A6-451F-9EE1-AF046FB69F26}" dt="2025-10-27T10:09:07.685" v="106" actId="20577"/>
        <pc:sldMkLst>
          <pc:docMk/>
          <pc:sldMk cId="1426334953" sldId="271"/>
        </pc:sldMkLst>
        <pc:spChg chg="mod">
          <ac:chgData name="GERARDO ROBERTO ARAGÓN GONZÁLEZ" userId="08711c7df194d5de" providerId="LiveId" clId="{79A62CC3-91A6-451F-9EE1-AF046FB69F26}" dt="2025-10-27T10:09:07.685" v="106" actId="20577"/>
          <ac:spMkLst>
            <pc:docMk/>
            <pc:sldMk cId="1426334953" sldId="271"/>
            <ac:spMk id="3" creationId="{CE5118C2-FD46-6E54-0490-C9C75A6327E4}"/>
          </ac:spMkLst>
        </pc:spChg>
      </pc:sldChg>
      <pc:sldChg chg="modSp add mod">
        <pc:chgData name="GERARDO ROBERTO ARAGÓN GONZÁLEZ" userId="08711c7df194d5de" providerId="LiveId" clId="{79A62CC3-91A6-451F-9EE1-AF046FB69F26}" dt="2025-10-27T10:11:07.525" v="130" actId="20577"/>
        <pc:sldMkLst>
          <pc:docMk/>
          <pc:sldMk cId="13437439" sldId="272"/>
        </pc:sldMkLst>
        <pc:spChg chg="mod">
          <ac:chgData name="GERARDO ROBERTO ARAGÓN GONZÁLEZ" userId="08711c7df194d5de" providerId="LiveId" clId="{79A62CC3-91A6-451F-9EE1-AF046FB69F26}" dt="2025-10-27T10:11:07.525" v="130" actId="20577"/>
          <ac:spMkLst>
            <pc:docMk/>
            <pc:sldMk cId="13437439" sldId="272"/>
            <ac:spMk id="3" creationId="{CE5118C2-FD46-6E54-0490-C9C75A6327E4}"/>
          </ac:spMkLst>
        </pc:spChg>
      </pc:sldChg>
      <pc:sldChg chg="modSp add mod">
        <pc:chgData name="GERARDO ROBERTO ARAGÓN GONZÁLEZ" userId="08711c7df194d5de" providerId="LiveId" clId="{79A62CC3-91A6-451F-9EE1-AF046FB69F26}" dt="2025-10-27T10:11:39.461" v="138" actId="113"/>
        <pc:sldMkLst>
          <pc:docMk/>
          <pc:sldMk cId="2769850113" sldId="273"/>
        </pc:sldMkLst>
        <pc:spChg chg="mod">
          <ac:chgData name="GERARDO ROBERTO ARAGÓN GONZÁLEZ" userId="08711c7df194d5de" providerId="LiveId" clId="{79A62CC3-91A6-451F-9EE1-AF046FB69F26}" dt="2025-10-27T10:11:39.461" v="138" actId="113"/>
          <ac:spMkLst>
            <pc:docMk/>
            <pc:sldMk cId="2769850113" sldId="273"/>
            <ac:spMk id="3" creationId="{CE5118C2-FD46-6E54-0490-C9C75A6327E4}"/>
          </ac:spMkLst>
        </pc:spChg>
      </pc:sldChg>
      <pc:sldChg chg="modSp add mod ord">
        <pc:chgData name="GERARDO ROBERTO ARAGÓN GONZÁLEZ" userId="08711c7df194d5de" providerId="LiveId" clId="{79A62CC3-91A6-451F-9EE1-AF046FB69F26}" dt="2025-10-27T10:13:53.932" v="157" actId="113"/>
        <pc:sldMkLst>
          <pc:docMk/>
          <pc:sldMk cId="1534099960" sldId="274"/>
        </pc:sldMkLst>
        <pc:spChg chg="mod">
          <ac:chgData name="GERARDO ROBERTO ARAGÓN GONZÁLEZ" userId="08711c7df194d5de" providerId="LiveId" clId="{79A62CC3-91A6-451F-9EE1-AF046FB69F26}" dt="2025-10-27T10:13:53.932" v="157" actId="113"/>
          <ac:spMkLst>
            <pc:docMk/>
            <pc:sldMk cId="1534099960" sldId="274"/>
            <ac:spMk id="3" creationId="{CE5118C2-FD46-6E54-0490-C9C75A6327E4}"/>
          </ac:spMkLst>
        </pc:spChg>
      </pc:sldChg>
      <pc:sldChg chg="modSp add mod">
        <pc:chgData name="GERARDO ROBERTO ARAGÓN GONZÁLEZ" userId="08711c7df194d5de" providerId="LiveId" clId="{79A62CC3-91A6-451F-9EE1-AF046FB69F26}" dt="2025-10-27T10:14:30.979" v="167" actId="113"/>
        <pc:sldMkLst>
          <pc:docMk/>
          <pc:sldMk cId="3600079801" sldId="275"/>
        </pc:sldMkLst>
        <pc:spChg chg="mod">
          <ac:chgData name="GERARDO ROBERTO ARAGÓN GONZÁLEZ" userId="08711c7df194d5de" providerId="LiveId" clId="{79A62CC3-91A6-451F-9EE1-AF046FB69F26}" dt="2025-10-27T10:14:30.979" v="167" actId="113"/>
          <ac:spMkLst>
            <pc:docMk/>
            <pc:sldMk cId="3600079801" sldId="275"/>
            <ac:spMk id="3" creationId="{CE5118C2-FD46-6E54-0490-C9C75A6327E4}"/>
          </ac:spMkLst>
        </pc:spChg>
      </pc:sldChg>
      <pc:sldChg chg="modSp add mod">
        <pc:chgData name="GERARDO ROBERTO ARAGÓN GONZÁLEZ" userId="08711c7df194d5de" providerId="LiveId" clId="{79A62CC3-91A6-451F-9EE1-AF046FB69F26}" dt="2025-10-27T10:15:18.571" v="176" actId="20577"/>
        <pc:sldMkLst>
          <pc:docMk/>
          <pc:sldMk cId="151871770" sldId="276"/>
        </pc:sldMkLst>
        <pc:spChg chg="mod">
          <ac:chgData name="GERARDO ROBERTO ARAGÓN GONZÁLEZ" userId="08711c7df194d5de" providerId="LiveId" clId="{79A62CC3-91A6-451F-9EE1-AF046FB69F26}" dt="2025-10-27T10:15:18.571" v="176" actId="20577"/>
          <ac:spMkLst>
            <pc:docMk/>
            <pc:sldMk cId="151871770" sldId="276"/>
            <ac:spMk id="3" creationId="{CE5118C2-FD46-6E54-0490-C9C75A6327E4}"/>
          </ac:spMkLst>
        </pc:spChg>
      </pc:sldChg>
      <pc:sldChg chg="modSp add mod">
        <pc:chgData name="GERARDO ROBERTO ARAGÓN GONZÁLEZ" userId="08711c7df194d5de" providerId="LiveId" clId="{79A62CC3-91A6-451F-9EE1-AF046FB69F26}" dt="2025-10-27T10:16:05.074" v="185" actId="113"/>
        <pc:sldMkLst>
          <pc:docMk/>
          <pc:sldMk cId="2043891449" sldId="277"/>
        </pc:sldMkLst>
        <pc:spChg chg="mod">
          <ac:chgData name="GERARDO ROBERTO ARAGÓN GONZÁLEZ" userId="08711c7df194d5de" providerId="LiveId" clId="{79A62CC3-91A6-451F-9EE1-AF046FB69F26}" dt="2025-10-27T10:16:05.074" v="185" actId="113"/>
          <ac:spMkLst>
            <pc:docMk/>
            <pc:sldMk cId="2043891449" sldId="277"/>
            <ac:spMk id="3" creationId="{CE5118C2-FD46-6E54-0490-C9C75A6327E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DC6A0D-25F6-497C-3096-083247670B9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FD4985A-AC6A-416F-3041-46F2B478A7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17AFBF3-DADA-7AA2-0D17-CB9C7452376A}"/>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79442E1E-DB66-D0DD-522D-E188EF0C3E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D0B0F3F-5DF9-455B-A1DF-18BAFDD85C73}"/>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488182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BA3BAB-230C-D428-5462-1AFDE23DD2D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AD975B4-A020-AABE-70B1-1315A64FBCE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899BA39-DB35-FE63-4108-9062C409D315}"/>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D27AF7DD-81F3-E6DC-6217-5BDBE3736DB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F4903FC-4C63-5BA1-A422-D1F49F4305EC}"/>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2350701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95E308-0B69-B767-2680-D2A13EAB535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B0F9D32-A263-1EF1-837D-018063B353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4D9FDF2-6D91-9C88-A304-0F1F1291D8FF}"/>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26FEFE9A-DEA5-63D6-832F-4B71BE4ECFA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627C4C1-940B-C28F-295E-21A9907C2F4E}"/>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199576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3BBFE8-FA1B-E7E6-F121-D71B103E963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89D1795-DBDF-273B-8788-3B5AC639055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7A0C666D-74FD-67EE-7904-C614EFB89AB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95AA0B2-56F7-B6CA-0172-FA781EA951E5}"/>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6" name="Marcador de pie de página 5">
            <a:extLst>
              <a:ext uri="{FF2B5EF4-FFF2-40B4-BE49-F238E27FC236}">
                <a16:creationId xmlns:a16="http://schemas.microsoft.com/office/drawing/2014/main" id="{B0A79548-6BDB-187D-B079-551EB606226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2758F64-77D8-238D-02FE-A591AC352350}"/>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849715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3B265A-4A75-2A3F-288C-748DF433C0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55D94DC-10ED-186C-24D6-DC7E15BEFB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6E21770-5AF1-58F2-237F-379C1958B41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32C4653C-0E58-ADE0-BD52-8584F1D825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633F3D3-D5CC-AF67-B3D1-282B771317C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37C0B1D4-10C0-7C8B-5B6F-AAA19236863C}"/>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8" name="Marcador de pie de página 7">
            <a:extLst>
              <a:ext uri="{FF2B5EF4-FFF2-40B4-BE49-F238E27FC236}">
                <a16:creationId xmlns:a16="http://schemas.microsoft.com/office/drawing/2014/main" id="{A73E3BB2-4818-0DBD-98BB-D572476105C6}"/>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8A2472D-E1E4-38FC-28F3-65420FAED3DB}"/>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797128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3C022-F069-10E9-D3B8-4857F8B181D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9117D935-463F-F98D-1F73-609EC81E97D2}"/>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4" name="Marcador de pie de página 3">
            <a:extLst>
              <a:ext uri="{FF2B5EF4-FFF2-40B4-BE49-F238E27FC236}">
                <a16:creationId xmlns:a16="http://schemas.microsoft.com/office/drawing/2014/main" id="{56B60DEE-230F-45B0-BEA3-8AAAEC449E2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15A7144-1B45-3528-67A2-DB1337E91158}"/>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2696977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1CF2EDF-6027-EE47-9E41-40E7736D463D}"/>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3" name="Marcador de pie de página 2">
            <a:extLst>
              <a:ext uri="{FF2B5EF4-FFF2-40B4-BE49-F238E27FC236}">
                <a16:creationId xmlns:a16="http://schemas.microsoft.com/office/drawing/2014/main" id="{1D120879-7AB7-ADE3-DCFA-90DB234067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C86D93B1-BEFE-7AC5-38B3-343A6E7FAB5D}"/>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2731737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2EF0A7-A80B-994A-D3DB-2BD3075125E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B586306-2EB5-F107-9F2F-334CC8B040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0313463-734E-5641-990B-E4CFC8269F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69BDEF2-F398-8986-DDDB-F67D8931886E}"/>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6" name="Marcador de pie de página 5">
            <a:extLst>
              <a:ext uri="{FF2B5EF4-FFF2-40B4-BE49-F238E27FC236}">
                <a16:creationId xmlns:a16="http://schemas.microsoft.com/office/drawing/2014/main" id="{CD44FF33-CD81-2358-064B-DF6439EEE62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BD0C02C-80B8-B262-F051-04FF47918687}"/>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18934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8BA3F-C410-187D-CBD8-7A12A7A2E9E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7811569-207E-4DCD-0C48-33C65F59D4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s-MX"/>
          </a:p>
        </p:txBody>
      </p:sp>
      <p:sp>
        <p:nvSpPr>
          <p:cNvPr id="4" name="Marcador de texto 3">
            <a:extLst>
              <a:ext uri="{FF2B5EF4-FFF2-40B4-BE49-F238E27FC236}">
                <a16:creationId xmlns:a16="http://schemas.microsoft.com/office/drawing/2014/main" id="{0A667261-C462-35AE-3245-A7C7F5E31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7ADA1A7-52E2-042B-1106-4D23AD233827}"/>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6" name="Marcador de pie de página 5">
            <a:extLst>
              <a:ext uri="{FF2B5EF4-FFF2-40B4-BE49-F238E27FC236}">
                <a16:creationId xmlns:a16="http://schemas.microsoft.com/office/drawing/2014/main" id="{1B79060B-C616-5F45-39D3-B8976F80B31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9BB85DCC-0274-4BC1-1618-0561D814784A}"/>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594721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DDD0DB-5C37-20BD-AA6B-03EB5D5D535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3F5C2B4-D188-B6CB-5FCF-31B4E77991F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2A361FD-B55B-8C25-56C2-05FFB75BF3CA}"/>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F516054F-7AB3-6C95-AE0F-2D4C99EFF0B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D9CECEB-AD4A-A0A6-08E4-339CF5ABFCA6}"/>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398964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AA0C75A-FA27-0252-A9E4-FF3A90B10A4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6449DF9F-66BC-493D-8365-E00565D9AF4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C88BDA4-929E-0123-5862-5D131681EBF2}"/>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BF70E8B0-F717-DE66-83D0-5AF54010AE0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FDC6B34-3B23-60F1-F505-1CB039B02C18}"/>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2140438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ítulo y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6D10CA-255E-344A-E3D4-CF9864C3B6B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D3409B0-A45E-D33A-B2A0-0B7A0E9D1B06}"/>
              </a:ext>
            </a:extLst>
          </p:cNvPr>
          <p:cNvSpPr>
            <a:spLocks noGrp="1"/>
          </p:cNvSpPr>
          <p:nvPr>
            <p:ph type="body"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B2C00BC-4E07-D6EF-152E-E339938BC190}"/>
              </a:ext>
            </a:extLst>
          </p:cNvPr>
          <p:cNvSpPr>
            <a:spLocks noGrp="1"/>
          </p:cNvSpPr>
          <p:nvPr>
            <p:ph type="dt" sz="half" idx="10"/>
          </p:nvPr>
        </p:nvSpPr>
        <p:spPr/>
        <p:txBody>
          <a:body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66E03315-AF11-E60C-79BD-0C418C1A56C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CE09E05-5803-232C-1841-88317F9A2147}"/>
              </a:ext>
            </a:extLst>
          </p:cNvPr>
          <p:cNvSpPr>
            <a:spLocks noGrp="1"/>
          </p:cNvSpPr>
          <p:nvPr>
            <p:ph type="sldNum" sz="quarter" idx="12"/>
          </p:nvPr>
        </p:nvSpPr>
        <p:spPr/>
        <p:txBody>
          <a:bodyPr/>
          <a:lstStyle/>
          <a:p>
            <a:fld id="{48B130F8-D497-495C-84B3-8A7C8DEBA85D}" type="slidenum">
              <a:rPr lang="es-MX" smtClean="0"/>
              <a:t>‹Nº›</a:t>
            </a:fld>
            <a:endParaRPr lang="es-MX"/>
          </a:p>
        </p:txBody>
      </p:sp>
    </p:spTree>
    <p:extLst>
      <p:ext uri="{BB962C8B-B14F-4D97-AF65-F5344CB8AC3E}">
        <p14:creationId xmlns:p14="http://schemas.microsoft.com/office/powerpoint/2010/main" val="3239718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1040066-272C-A193-33B9-D6C4F18E62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F0BB4B1-0D7E-0E02-8588-79BED27EDF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C8D1223-A045-8A86-7F9F-57E2CB6ADD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2197E3-63ED-4AB3-9824-5BC22EAFF62B}" type="datetimeFigureOut">
              <a:rPr lang="es-MX" smtClean="0"/>
              <a:t>27/10/2025</a:t>
            </a:fld>
            <a:endParaRPr lang="es-MX"/>
          </a:p>
        </p:txBody>
      </p:sp>
      <p:sp>
        <p:nvSpPr>
          <p:cNvPr id="5" name="Marcador de pie de página 4">
            <a:extLst>
              <a:ext uri="{FF2B5EF4-FFF2-40B4-BE49-F238E27FC236}">
                <a16:creationId xmlns:a16="http://schemas.microsoft.com/office/drawing/2014/main" id="{EA1D59C7-1FFE-09ED-5540-990A032F0C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82843944-1BA3-3FF8-BF02-E9407AD8CD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B130F8-D497-495C-84B3-8A7C8DEBA85D}" type="slidenum">
              <a:rPr lang="es-MX" smtClean="0"/>
              <a:t>‹Nº›</a:t>
            </a:fld>
            <a:endParaRPr lang="es-MX"/>
          </a:p>
        </p:txBody>
      </p:sp>
    </p:spTree>
    <p:extLst>
      <p:ext uri="{BB962C8B-B14F-4D97-AF65-F5344CB8AC3E}">
        <p14:creationId xmlns:p14="http://schemas.microsoft.com/office/powerpoint/2010/main" val="25189604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521FA30-A5BB-199A-1921-510E75F0BE53}"/>
              </a:ext>
            </a:extLst>
          </p:cNvPr>
          <p:cNvSpPr>
            <a:spLocks noGrp="1"/>
          </p:cNvSpPr>
          <p:nvPr>
            <p:ph type="body" idx="1"/>
          </p:nvPr>
        </p:nvSpPr>
        <p:spPr>
          <a:xfrm>
            <a:off x="838200" y="809469"/>
            <a:ext cx="10515600" cy="5367494"/>
          </a:xfrm>
          <a:ln w="38100">
            <a:solidFill>
              <a:schemeClr val="accent1"/>
            </a:solidFill>
          </a:ln>
        </p:spPr>
        <p:txBody>
          <a:bodyPr anchor="ctr">
            <a:normAutofit/>
          </a:bodyPr>
          <a:lstStyle/>
          <a:p>
            <a:pPr marL="0" indent="0" algn="just">
              <a:buNone/>
            </a:pPr>
            <a:r>
              <a:rPr lang="es-ES" b="1" dirty="0">
                <a:latin typeface="Century Gothic" panose="020B0502020202020204" pitchFamily="34" charset="0"/>
              </a:rPr>
              <a:t>Visión global de la Ley General de Transparencia y Acceso a la Información Pública</a:t>
            </a:r>
          </a:p>
          <a:p>
            <a:pPr marL="0" indent="0" algn="just">
              <a:buNone/>
            </a:pPr>
            <a:r>
              <a:rPr lang="es-ES" sz="2500" i="1" dirty="0" err="1">
                <a:latin typeface="Century Gothic" panose="020B0502020202020204" pitchFamily="34" charset="0"/>
              </a:rPr>
              <a:t>Overview</a:t>
            </a:r>
            <a:r>
              <a:rPr lang="es-ES" sz="2500" i="1" dirty="0">
                <a:latin typeface="Century Gothic" panose="020B0502020202020204" pitchFamily="34" charset="0"/>
              </a:rPr>
              <a:t> </a:t>
            </a:r>
            <a:r>
              <a:rPr lang="es-ES" sz="2500" i="1" dirty="0" err="1">
                <a:latin typeface="Century Gothic" panose="020B0502020202020204" pitchFamily="34" charset="0"/>
              </a:rPr>
              <a:t>of</a:t>
            </a:r>
            <a:r>
              <a:rPr lang="es-ES" sz="2500" i="1" dirty="0">
                <a:latin typeface="Century Gothic" panose="020B0502020202020204" pitchFamily="34" charset="0"/>
              </a:rPr>
              <a:t> </a:t>
            </a:r>
            <a:r>
              <a:rPr lang="es-ES" sz="2500" i="1" dirty="0" err="1">
                <a:latin typeface="Century Gothic" panose="020B0502020202020204" pitchFamily="34" charset="0"/>
              </a:rPr>
              <a:t>the</a:t>
            </a:r>
            <a:r>
              <a:rPr lang="es-ES" sz="2500" i="1" dirty="0">
                <a:latin typeface="Century Gothic" panose="020B0502020202020204" pitchFamily="34" charset="0"/>
              </a:rPr>
              <a:t> General </a:t>
            </a:r>
            <a:r>
              <a:rPr lang="es-ES" sz="2500" i="1" dirty="0" err="1">
                <a:latin typeface="Century Gothic" panose="020B0502020202020204" pitchFamily="34" charset="0"/>
              </a:rPr>
              <a:t>Law</a:t>
            </a:r>
            <a:r>
              <a:rPr lang="es-ES" sz="2500" i="1" dirty="0">
                <a:latin typeface="Century Gothic" panose="020B0502020202020204" pitchFamily="34" charset="0"/>
              </a:rPr>
              <a:t> </a:t>
            </a:r>
            <a:r>
              <a:rPr lang="es-ES" sz="2500" i="1" dirty="0" err="1">
                <a:latin typeface="Century Gothic" panose="020B0502020202020204" pitchFamily="34" charset="0"/>
              </a:rPr>
              <a:t>of</a:t>
            </a:r>
            <a:r>
              <a:rPr lang="es-ES" sz="2500" i="1" dirty="0">
                <a:latin typeface="Century Gothic" panose="020B0502020202020204" pitchFamily="34" charset="0"/>
              </a:rPr>
              <a:t> </a:t>
            </a:r>
            <a:r>
              <a:rPr lang="es-ES" sz="2500" i="1" dirty="0" err="1">
                <a:latin typeface="Century Gothic" panose="020B0502020202020204" pitchFamily="34" charset="0"/>
              </a:rPr>
              <a:t>Transparency</a:t>
            </a:r>
            <a:r>
              <a:rPr lang="es-ES" sz="2500" i="1" dirty="0">
                <a:latin typeface="Century Gothic" panose="020B0502020202020204" pitchFamily="34" charset="0"/>
              </a:rPr>
              <a:t> and Access </a:t>
            </a:r>
            <a:r>
              <a:rPr lang="es-ES" sz="2500" i="1" dirty="0" err="1">
                <a:latin typeface="Century Gothic" panose="020B0502020202020204" pitchFamily="34" charset="0"/>
              </a:rPr>
              <a:t>to</a:t>
            </a:r>
            <a:r>
              <a:rPr lang="es-ES" sz="2500" i="1" dirty="0">
                <a:latin typeface="Century Gothic" panose="020B0502020202020204" pitchFamily="34" charset="0"/>
              </a:rPr>
              <a:t> </a:t>
            </a:r>
            <a:r>
              <a:rPr lang="es-ES" sz="2500" i="1" dirty="0" err="1">
                <a:latin typeface="Century Gothic" panose="020B0502020202020204" pitchFamily="34" charset="0"/>
              </a:rPr>
              <a:t>Public</a:t>
            </a:r>
            <a:r>
              <a:rPr lang="es-ES" sz="2500" i="1" dirty="0">
                <a:latin typeface="Century Gothic" panose="020B0502020202020204" pitchFamily="34" charset="0"/>
              </a:rPr>
              <a:t> </a:t>
            </a:r>
            <a:r>
              <a:rPr lang="es-ES" sz="2500" i="1" dirty="0" err="1">
                <a:latin typeface="Century Gothic" panose="020B0502020202020204" pitchFamily="34" charset="0"/>
              </a:rPr>
              <a:t>Information</a:t>
            </a:r>
            <a:endParaRPr lang="es-ES" sz="2500" i="1" dirty="0">
              <a:latin typeface="Century Gothic" panose="020B0502020202020204" pitchFamily="34" charset="0"/>
            </a:endParaRPr>
          </a:p>
          <a:p>
            <a:pPr marL="0" indent="0" algn="just">
              <a:buNone/>
            </a:pPr>
            <a:r>
              <a:rPr lang="es-ES" sz="2500" dirty="0">
                <a:latin typeface="Century Gothic" panose="020B0502020202020204" pitchFamily="34" charset="0"/>
              </a:rPr>
              <a:t>Alma de los Ángeles Ríos Ruíz</a:t>
            </a:r>
          </a:p>
          <a:p>
            <a:pPr marL="0" indent="0" algn="just">
              <a:buNone/>
            </a:pPr>
            <a:r>
              <a:rPr lang="es-ES" sz="2200" dirty="0">
                <a:latin typeface="Century Gothic" panose="020B0502020202020204" pitchFamily="34" charset="0"/>
              </a:rPr>
              <a:t>El objetivo del presente trabajo es </a:t>
            </a:r>
            <a:r>
              <a:rPr lang="es-ES" sz="2200" b="1" dirty="0">
                <a:latin typeface="Century Gothic" panose="020B0502020202020204" pitchFamily="34" charset="0"/>
              </a:rPr>
              <a:t>destacar la relevancia de la transparencia pública en un Estado democrático, la rendición de cuentas como herramienta fundamental, asegurar el acceso a la información como un derecho humano que debe ejercerse, como una obligación gubernamental que debe cumplirse; con la finalidad de demostrar que para lograr el funcionamiento del sistema democrático requiere de la existencia de ciertas libertades públicas que lo caracterizan, tales como, libertad de expresión, asociación, reunión, prensa, cultos, tránsito, entre otras</a:t>
            </a:r>
            <a:r>
              <a:rPr lang="es-ES" sz="2200" dirty="0">
                <a:latin typeface="Century Gothic" panose="020B0502020202020204" pitchFamily="34" charset="0"/>
              </a:rPr>
              <a:t>.</a:t>
            </a:r>
            <a:endParaRPr lang="es-MX" sz="2200" dirty="0">
              <a:latin typeface="Century Gothic" panose="020B0502020202020204" pitchFamily="34" charset="0"/>
            </a:endParaRPr>
          </a:p>
        </p:txBody>
      </p:sp>
    </p:spTree>
    <p:extLst>
      <p:ext uri="{BB962C8B-B14F-4D97-AF65-F5344CB8AC3E}">
        <p14:creationId xmlns:p14="http://schemas.microsoft.com/office/powerpoint/2010/main" val="3423679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9083B5-C8B8-C3E9-A99D-EAACE6CF9BBD}"/>
              </a:ext>
            </a:extLst>
          </p:cNvPr>
          <p:cNvSpPr>
            <a:spLocks noGrp="1"/>
          </p:cNvSpPr>
          <p:nvPr>
            <p:ph type="title"/>
          </p:nvPr>
        </p:nvSpPr>
        <p:spPr/>
        <p:txBody>
          <a:bodyPr/>
          <a:lstStyle/>
          <a:p>
            <a:pPr marR="0" algn="ctr" rtl="0"/>
            <a:r>
              <a:rPr lang="es-ES" b="0" i="0" u="none" strike="noStrike" kern="100" baseline="0" dirty="0">
                <a:solidFill>
                  <a:schemeClr val="bg1">
                    <a:lumMod val="65000"/>
                  </a:schemeClr>
                </a:solidFill>
                <a:latin typeface="Century Gothic" panose="020B0502020202020204" pitchFamily="34" charset="0"/>
              </a:rPr>
              <a:t>D1.</a:t>
            </a:r>
            <a:r>
              <a:rPr lang="es-ES" b="0" i="0" u="none" strike="noStrike" kern="100" baseline="0" dirty="0">
                <a:solidFill>
                  <a:srgbClr val="0F4761"/>
                </a:solidFill>
                <a:latin typeface="Century Gothic" panose="020B0502020202020204" pitchFamily="34" charset="0"/>
              </a:rPr>
              <a:t> Fundamento y Rol del Jurista Informático: La LGTAIP</a:t>
            </a:r>
          </a:p>
        </p:txBody>
      </p:sp>
      <p:sp>
        <p:nvSpPr>
          <p:cNvPr id="3" name="Marcador de texto 2">
            <a:extLst>
              <a:ext uri="{FF2B5EF4-FFF2-40B4-BE49-F238E27FC236}">
                <a16:creationId xmlns:a16="http://schemas.microsoft.com/office/drawing/2014/main" id="{2FC07646-A52E-5D59-AEC3-1F170303450F}"/>
              </a:ext>
            </a:extLst>
          </p:cNvPr>
          <p:cNvSpPr>
            <a:spLocks noGrp="1"/>
          </p:cNvSpPr>
          <p:nvPr>
            <p:ph type="body" idx="1"/>
          </p:nvPr>
        </p:nvSpPr>
        <p:spPr/>
        <p:txBody>
          <a:bodyPr anchor="ctr"/>
          <a:lstStyle/>
          <a:p>
            <a:pPr marR="0" lvl="0" algn="just" rtl="0"/>
            <a:r>
              <a:rPr lang="es-ES" b="0" i="0" u="none" strike="noStrike" kern="100" baseline="0" dirty="0">
                <a:solidFill>
                  <a:srgbClr val="0F4761"/>
                </a:solidFill>
                <a:latin typeface="Century Gothic" panose="020B0502020202020204" pitchFamily="34" charset="0"/>
              </a:rPr>
              <a:t>Ley General de Transparencia y Acceso a la Información Pública (LGTAIP)</a:t>
            </a:r>
          </a:p>
          <a:p>
            <a:pPr marR="0" lvl="0" algn="just" rtl="0"/>
            <a:r>
              <a:rPr lang="es-ES" b="0" i="0" u="none" strike="noStrike" kern="100" baseline="0" dirty="0">
                <a:solidFill>
                  <a:srgbClr val="0F4761"/>
                </a:solidFill>
                <a:latin typeface="Century Gothic" panose="020B0502020202020204" pitchFamily="34" charset="0"/>
              </a:rPr>
              <a:t>Citas Clave: Art. 6º CPEUM: El derecho a la información será garantizado por el Estado.</a:t>
            </a:r>
          </a:p>
          <a:p>
            <a:pPr marR="0" lvl="0" algn="just" rtl="0"/>
            <a:endParaRPr lang="es-ES" b="0" i="0" u="none" strike="noStrike" kern="100" baseline="0" dirty="0">
              <a:solidFill>
                <a:srgbClr val="0F4761"/>
              </a:solidFill>
              <a:latin typeface="Century Gothic" panose="020B0502020202020204" pitchFamily="34" charset="0"/>
            </a:endParaRPr>
          </a:p>
          <a:p>
            <a:pPr marL="0" marR="0" lvl="0" indent="0" algn="just" rtl="0">
              <a:buNone/>
            </a:pPr>
            <a:r>
              <a:rPr lang="es-ES" kern="100" dirty="0">
                <a:solidFill>
                  <a:schemeClr val="accent5">
                    <a:lumMod val="50000"/>
                  </a:schemeClr>
                </a:solidFill>
                <a:latin typeface="Century Gothic" panose="020B0502020202020204" pitchFamily="34" charset="0"/>
              </a:rPr>
              <a:t>E</a:t>
            </a:r>
            <a:r>
              <a:rPr lang="es-ES" b="0" i="0" u="none" strike="noStrike" kern="100" baseline="0" dirty="0">
                <a:solidFill>
                  <a:schemeClr val="accent5">
                    <a:lumMod val="50000"/>
                  </a:schemeClr>
                </a:solidFill>
                <a:latin typeface="Century Gothic" panose="020B0502020202020204" pitchFamily="34" charset="0"/>
              </a:rPr>
              <a:t>l reconocimiento del derecho como pilar democrático. Mencionando que la Ley es la herramienta para hacerlo </a:t>
            </a:r>
            <a:r>
              <a:rPr lang="es-ES" b="0" i="1" u="none" strike="noStrike" kern="100" baseline="0" dirty="0">
                <a:solidFill>
                  <a:schemeClr val="accent5">
                    <a:lumMod val="50000"/>
                  </a:schemeClr>
                </a:solidFill>
                <a:latin typeface="Century Gothic" panose="020B0502020202020204" pitchFamily="34" charset="0"/>
              </a:rPr>
              <a:t>operativo</a:t>
            </a:r>
            <a:r>
              <a:rPr lang="es-ES" b="0" i="0" u="none" strike="noStrike" kern="100" baseline="0" dirty="0">
                <a:solidFill>
                  <a:schemeClr val="accent5">
                    <a:lumMod val="50000"/>
                  </a:schemeClr>
                </a:solidFill>
                <a:latin typeface="Century Gothic" panose="020B0502020202020204" pitchFamily="34" charset="0"/>
              </a:rPr>
              <a:t> en el entorno digital.</a:t>
            </a:r>
          </a:p>
        </p:txBody>
      </p:sp>
    </p:spTree>
    <p:extLst>
      <p:ext uri="{BB962C8B-B14F-4D97-AF65-F5344CB8AC3E}">
        <p14:creationId xmlns:p14="http://schemas.microsoft.com/office/powerpoint/2010/main" val="1714756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45F188-C5F9-E829-AF59-00BA4447143A}"/>
              </a:ext>
            </a:extLst>
          </p:cNvPr>
          <p:cNvSpPr>
            <a:spLocks noGrp="1"/>
          </p:cNvSpPr>
          <p:nvPr>
            <p:ph type="title"/>
          </p:nvPr>
        </p:nvSpPr>
        <p:spPr/>
        <p:txBody>
          <a:bodyPr/>
          <a:lstStyle/>
          <a:p>
            <a:pPr marR="0" algn="ctr" rtl="0"/>
            <a:r>
              <a:rPr lang="es-ES" b="0" i="0" u="none" strike="noStrike" kern="100" baseline="0" dirty="0">
                <a:solidFill>
                  <a:schemeClr val="bg1">
                    <a:lumMod val="65000"/>
                  </a:schemeClr>
                </a:solidFill>
                <a:latin typeface="Century Gothic" panose="020B0502020202020204" pitchFamily="34" charset="0"/>
              </a:rPr>
              <a:t>D2: </a:t>
            </a:r>
            <a:r>
              <a:rPr lang="es-ES" b="0" i="0" u="none" strike="noStrike" kern="100" baseline="0" dirty="0">
                <a:solidFill>
                  <a:srgbClr val="0F4761"/>
                </a:solidFill>
                <a:latin typeface="Century Gothic" panose="020B0502020202020204" pitchFamily="34" charset="0"/>
              </a:rPr>
              <a:t>La Transparencia como</a:t>
            </a:r>
            <a:br>
              <a:rPr lang="es-ES" b="0" i="0" u="none" strike="noStrike" kern="100" baseline="0" dirty="0">
                <a:solidFill>
                  <a:srgbClr val="0F4761"/>
                </a:solidFill>
                <a:latin typeface="Century Gothic" panose="020B0502020202020204" pitchFamily="34" charset="0"/>
              </a:rPr>
            </a:br>
            <a:r>
              <a:rPr lang="es-ES" b="0" i="0" u="none" strike="noStrike" kern="100" baseline="0" dirty="0">
                <a:solidFill>
                  <a:srgbClr val="0F4761"/>
                </a:solidFill>
                <a:latin typeface="Century Gothic" panose="020B0502020202020204" pitchFamily="34" charset="0"/>
              </a:rPr>
              <a:t>Derecho Humano</a:t>
            </a:r>
          </a:p>
        </p:txBody>
      </p:sp>
      <p:sp>
        <p:nvSpPr>
          <p:cNvPr id="3" name="Marcador de texto 2">
            <a:extLst>
              <a:ext uri="{FF2B5EF4-FFF2-40B4-BE49-F238E27FC236}">
                <a16:creationId xmlns:a16="http://schemas.microsoft.com/office/drawing/2014/main" id="{C4A3BDDC-F0CB-331E-FDEC-D2D65CB322EF}"/>
              </a:ext>
            </a:extLst>
          </p:cNvPr>
          <p:cNvSpPr>
            <a:spLocks noGrp="1"/>
          </p:cNvSpPr>
          <p:nvPr>
            <p:ph type="body" idx="1"/>
          </p:nvPr>
        </p:nvSpPr>
        <p:spPr/>
        <p:txBody>
          <a:bodyPr>
            <a:normAutofit fontScale="92500" lnSpcReduction="10000"/>
          </a:bodyPr>
          <a:lstStyle/>
          <a:p>
            <a:pPr marL="0" marR="0" lvl="0" indent="0" algn="ctr" rtl="0">
              <a:buNone/>
            </a:pPr>
            <a:r>
              <a:rPr lang="es-ES" b="1" i="0" u="none" strike="noStrike" kern="100" baseline="0" dirty="0">
                <a:solidFill>
                  <a:srgbClr val="0F4761"/>
                </a:solidFill>
                <a:latin typeface="Century Gothic" panose="020B0502020202020204" pitchFamily="34" charset="0"/>
              </a:rPr>
              <a:t>El Derecho de Acceso (DAI) y sus Pilares</a:t>
            </a:r>
          </a:p>
          <a:p>
            <a:pPr marR="0" lvl="0" algn="just" rtl="0"/>
            <a:r>
              <a:rPr lang="es-ES" b="1" i="0" u="none" strike="noStrike" kern="100" baseline="0" dirty="0">
                <a:solidFill>
                  <a:srgbClr val="0F4761"/>
                </a:solidFill>
                <a:latin typeface="Century Gothic" panose="020B0502020202020204" pitchFamily="34" charset="0"/>
              </a:rPr>
              <a:t>Pilar 1: LGTAIP (Art. 1° y 2° y 8)</a:t>
            </a:r>
            <a:r>
              <a:rPr lang="es-ES" b="0" i="0" u="none" strike="noStrike" kern="100" baseline="0" dirty="0">
                <a:solidFill>
                  <a:srgbClr val="0F4761"/>
                </a:solidFill>
                <a:latin typeface="Century Gothic" panose="020B0502020202020204" pitchFamily="34" charset="0"/>
              </a:rPr>
              <a:t> Establece los principios, bases y procedimientos. Es la llave para examinar datos y registros públicos.</a:t>
            </a:r>
          </a:p>
          <a:p>
            <a:pPr marR="0" lvl="0" algn="just" rtl="0"/>
            <a:r>
              <a:rPr lang="es-ES" b="1" i="0" u="none" strike="noStrike" kern="100" baseline="0" dirty="0">
                <a:solidFill>
                  <a:srgbClr val="0F4761"/>
                </a:solidFill>
                <a:latin typeface="Century Gothic" panose="020B0502020202020204" pitchFamily="34" charset="0"/>
              </a:rPr>
              <a:t>Pilar 2: Principio de Máxima Publicidad (Art. 8° </a:t>
            </a:r>
            <a:r>
              <a:rPr lang="es-ES" b="1" i="0" u="none" strike="noStrike" kern="100" baseline="0" dirty="0" err="1">
                <a:solidFill>
                  <a:srgbClr val="0F4761"/>
                </a:solidFill>
                <a:latin typeface="Century Gothic" panose="020B0502020202020204" pitchFamily="34" charset="0"/>
              </a:rPr>
              <a:t>fracc</a:t>
            </a:r>
            <a:r>
              <a:rPr lang="es-ES" b="1" i="0" u="none" strike="noStrike" kern="100" baseline="0" dirty="0">
                <a:solidFill>
                  <a:srgbClr val="0F4761"/>
                </a:solidFill>
                <a:latin typeface="Century Gothic" panose="020B0502020202020204" pitchFamily="34" charset="0"/>
              </a:rPr>
              <a:t> X)</a:t>
            </a:r>
            <a:r>
              <a:rPr lang="es-ES" b="0" i="0" u="none" strike="noStrike" kern="100" baseline="0" dirty="0">
                <a:solidFill>
                  <a:srgbClr val="0F4761"/>
                </a:solidFill>
                <a:latin typeface="Century Gothic" panose="020B0502020202020204" pitchFamily="34" charset="0"/>
              </a:rPr>
              <a:t> Toda información en posesión de sujetos obligados es pública, completa y accesible, salvo excepciones. Enfoque Jurista Informático: Implica que el default es lo abierto y digital.</a:t>
            </a:r>
          </a:p>
          <a:p>
            <a:pPr marR="0" lvl="0" algn="just" rtl="0"/>
            <a:r>
              <a:rPr lang="es-ES" b="1" i="0" u="none" strike="noStrike" kern="100" baseline="0" dirty="0">
                <a:solidFill>
                  <a:srgbClr val="0F4761"/>
                </a:solidFill>
                <a:latin typeface="Century Gothic" panose="020B0502020202020204" pitchFamily="34" charset="0"/>
              </a:rPr>
              <a:t>Pilar 3: Organismo Garante (INAI)</a:t>
            </a:r>
            <a:r>
              <a:rPr lang="es-ES" b="0" i="0" u="none" strike="noStrike" kern="100" baseline="0" dirty="0">
                <a:solidFill>
                  <a:srgbClr val="0F4761"/>
                </a:solidFill>
                <a:latin typeface="Century Gothic" panose="020B0502020202020204" pitchFamily="34" charset="0"/>
              </a:rPr>
              <a:t> Órgano autónomo que vela por el cumplimiento de la Ley.</a:t>
            </a:r>
          </a:p>
          <a:p>
            <a:pPr marL="457200" marR="0" lvl="1" indent="0" algn="just" rtl="0">
              <a:buNone/>
            </a:pPr>
            <a:r>
              <a:rPr lang="es-ES" b="0" i="0" u="none" strike="noStrike" kern="100" baseline="0" dirty="0">
                <a:solidFill>
                  <a:schemeClr val="accent5">
                    <a:lumMod val="50000"/>
                  </a:schemeClr>
                </a:solidFill>
                <a:latin typeface="Century Gothic" panose="020B0502020202020204" pitchFamily="34" charset="0"/>
              </a:rPr>
              <a:t>Se enfatiza que el DAI se compone de las facultades de </a:t>
            </a:r>
            <a:r>
              <a:rPr lang="es-ES" b="1" i="0" u="none" strike="noStrike" kern="100" baseline="0" dirty="0">
                <a:solidFill>
                  <a:schemeClr val="accent5">
                    <a:lumMod val="50000"/>
                  </a:schemeClr>
                </a:solidFill>
                <a:latin typeface="Century Gothic" panose="020B0502020202020204" pitchFamily="34" charset="0"/>
              </a:rPr>
              <a:t>buscar</a:t>
            </a:r>
            <a:r>
              <a:rPr lang="es-ES" b="0" i="0" u="none" strike="noStrike" kern="100" baseline="0" dirty="0">
                <a:solidFill>
                  <a:schemeClr val="accent5">
                    <a:lumMod val="50000"/>
                  </a:schemeClr>
                </a:solidFill>
                <a:latin typeface="Century Gothic" panose="020B0502020202020204" pitchFamily="34" charset="0"/>
              </a:rPr>
              <a:t>, </a:t>
            </a:r>
            <a:r>
              <a:rPr lang="es-ES" b="1" i="0" u="none" strike="noStrike" kern="100" baseline="0" dirty="0">
                <a:solidFill>
                  <a:schemeClr val="accent5">
                    <a:lumMod val="50000"/>
                  </a:schemeClr>
                </a:solidFill>
                <a:latin typeface="Century Gothic" panose="020B0502020202020204" pitchFamily="34" charset="0"/>
              </a:rPr>
              <a:t>recibir</a:t>
            </a:r>
            <a:r>
              <a:rPr lang="es-ES" b="0" i="0" u="none" strike="noStrike" kern="100" baseline="0" dirty="0">
                <a:solidFill>
                  <a:schemeClr val="accent5">
                    <a:lumMod val="50000"/>
                  </a:schemeClr>
                </a:solidFill>
                <a:latin typeface="Century Gothic" panose="020B0502020202020204" pitchFamily="34" charset="0"/>
              </a:rPr>
              <a:t>, </a:t>
            </a:r>
            <a:r>
              <a:rPr lang="es-ES" b="1" i="0" u="none" strike="noStrike" kern="100" baseline="0" dirty="0">
                <a:solidFill>
                  <a:schemeClr val="accent5">
                    <a:lumMod val="50000"/>
                  </a:schemeClr>
                </a:solidFill>
                <a:latin typeface="Century Gothic" panose="020B0502020202020204" pitchFamily="34" charset="0"/>
              </a:rPr>
              <a:t>investigar</a:t>
            </a:r>
            <a:r>
              <a:rPr lang="es-ES" b="0" i="0" u="none" strike="noStrike" kern="100" baseline="0" dirty="0">
                <a:solidFill>
                  <a:schemeClr val="accent5">
                    <a:lumMod val="50000"/>
                  </a:schemeClr>
                </a:solidFill>
                <a:latin typeface="Century Gothic" panose="020B0502020202020204" pitchFamily="34" charset="0"/>
              </a:rPr>
              <a:t> y </a:t>
            </a:r>
            <a:r>
              <a:rPr lang="es-ES" b="1" i="0" u="none" strike="noStrike" kern="100" baseline="0" dirty="0">
                <a:solidFill>
                  <a:schemeClr val="accent5">
                    <a:lumMod val="50000"/>
                  </a:schemeClr>
                </a:solidFill>
                <a:latin typeface="Century Gothic" panose="020B0502020202020204" pitchFamily="34" charset="0"/>
              </a:rPr>
              <a:t>difundir</a:t>
            </a:r>
            <a:r>
              <a:rPr lang="es-ES" b="0" i="0" u="none" strike="noStrike" kern="100" baseline="0" dirty="0">
                <a:solidFill>
                  <a:schemeClr val="accent5">
                    <a:lumMod val="50000"/>
                  </a:schemeClr>
                </a:solidFill>
                <a:latin typeface="Century Gothic" panose="020B0502020202020204" pitchFamily="34" charset="0"/>
              </a:rPr>
              <a:t> (Ríos Ruíz, 2017).</a:t>
            </a:r>
          </a:p>
        </p:txBody>
      </p:sp>
    </p:spTree>
    <p:extLst>
      <p:ext uri="{BB962C8B-B14F-4D97-AF65-F5344CB8AC3E}">
        <p14:creationId xmlns:p14="http://schemas.microsoft.com/office/powerpoint/2010/main" val="3969543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F958EC-0823-1B1B-8B49-A23B1028499D}"/>
              </a:ext>
            </a:extLst>
          </p:cNvPr>
          <p:cNvSpPr>
            <a:spLocks noGrp="1"/>
          </p:cNvSpPr>
          <p:nvPr>
            <p:ph type="title"/>
          </p:nvPr>
        </p:nvSpPr>
        <p:spPr/>
        <p:txBody>
          <a:bodyPr/>
          <a:lstStyle/>
          <a:p>
            <a:pPr marR="0" algn="ctr" rtl="0"/>
            <a:r>
              <a:rPr lang="es-ES" b="0" i="0" u="none" strike="noStrike" kern="100" baseline="0" dirty="0">
                <a:solidFill>
                  <a:schemeClr val="bg1">
                    <a:lumMod val="65000"/>
                  </a:schemeClr>
                </a:solidFill>
                <a:latin typeface="Century Gothic" panose="020B0502020202020204" pitchFamily="34" charset="0"/>
              </a:rPr>
              <a:t>D3:</a:t>
            </a:r>
            <a:r>
              <a:rPr lang="es-ES" b="0" i="0" u="none" strike="noStrike" kern="100" baseline="0" dirty="0">
                <a:solidFill>
                  <a:srgbClr val="0F4761"/>
                </a:solidFill>
                <a:latin typeface="Century Gothic" panose="020B0502020202020204" pitchFamily="34" charset="0"/>
              </a:rPr>
              <a:t> Crítica Académica:</a:t>
            </a:r>
            <a:br>
              <a:rPr lang="es-ES" b="0" i="0" u="none" strike="noStrike" kern="100" baseline="0" dirty="0">
                <a:solidFill>
                  <a:srgbClr val="0F4761"/>
                </a:solidFill>
                <a:latin typeface="Century Gothic" panose="020B0502020202020204" pitchFamily="34" charset="0"/>
              </a:rPr>
            </a:br>
            <a:r>
              <a:rPr lang="es-ES" b="0" i="0" u="none" strike="noStrike" kern="100" baseline="0" dirty="0">
                <a:solidFill>
                  <a:srgbClr val="0F4761"/>
                </a:solidFill>
                <a:latin typeface="Century Gothic" panose="020B0502020202020204" pitchFamily="34" charset="0"/>
              </a:rPr>
              <a:t>La Norma vs. la Realidad</a:t>
            </a:r>
          </a:p>
        </p:txBody>
      </p:sp>
      <p:sp>
        <p:nvSpPr>
          <p:cNvPr id="3" name="Marcador de texto 2">
            <a:extLst>
              <a:ext uri="{FF2B5EF4-FFF2-40B4-BE49-F238E27FC236}">
                <a16:creationId xmlns:a16="http://schemas.microsoft.com/office/drawing/2014/main" id="{792879EA-54B2-D5BE-20EE-4C39E1941A7B}"/>
              </a:ext>
            </a:extLst>
          </p:cNvPr>
          <p:cNvSpPr>
            <a:spLocks noGrp="1"/>
          </p:cNvSpPr>
          <p:nvPr>
            <p:ph type="body" idx="1"/>
          </p:nvPr>
        </p:nvSpPr>
        <p:spPr/>
        <p:txBody>
          <a:bodyPr anchor="ctr">
            <a:normAutofit fontScale="85000" lnSpcReduction="10000"/>
          </a:bodyPr>
          <a:lstStyle/>
          <a:p>
            <a:pPr marR="0" lvl="0" algn="just" rtl="0"/>
            <a:r>
              <a:rPr lang="es-ES" b="1" i="0" u="none" strike="noStrike" kern="100" baseline="0" dirty="0">
                <a:solidFill>
                  <a:srgbClr val="0F4761"/>
                </a:solidFill>
                <a:latin typeface="Century Gothic" panose="020B0502020202020204" pitchFamily="34" charset="0"/>
              </a:rPr>
              <a:t>Análisis Crítico:</a:t>
            </a:r>
            <a:r>
              <a:rPr lang="es-ES" b="0" i="0" u="none" strike="noStrike" kern="100" baseline="0" dirty="0">
                <a:solidFill>
                  <a:srgbClr val="0F4761"/>
                </a:solidFill>
                <a:latin typeface="Century Gothic" panose="020B0502020202020204" pitchFamily="34" charset="0"/>
              </a:rPr>
              <a:t> Desafíos de Implementación</a:t>
            </a:r>
          </a:p>
          <a:p>
            <a:pPr marR="0" lvl="0" algn="just" rtl="0"/>
            <a:r>
              <a:rPr lang="es-ES" b="1" i="0" u="none" strike="noStrike" kern="100" baseline="0" dirty="0">
                <a:solidFill>
                  <a:srgbClr val="0F4761"/>
                </a:solidFill>
                <a:latin typeface="Century Gothic" panose="020B0502020202020204" pitchFamily="34" charset="0"/>
              </a:rPr>
              <a:t>Fuente:</a:t>
            </a:r>
            <a:r>
              <a:rPr lang="es-ES" b="0" i="0" u="none" strike="noStrike" kern="100" baseline="0" dirty="0">
                <a:solidFill>
                  <a:srgbClr val="0F4761"/>
                </a:solidFill>
                <a:latin typeface="Century Gothic" panose="020B0502020202020204" pitchFamily="34" charset="0"/>
              </a:rPr>
              <a:t> Alma De los Ángeles Ríos Ruíz (UNAM, 2017)</a:t>
            </a:r>
          </a:p>
          <a:p>
            <a:pPr marR="0" lvl="0" algn="just" rtl="0"/>
            <a:r>
              <a:rPr lang="es-ES" b="1" i="0" u="none" strike="noStrike" kern="100" baseline="0" dirty="0">
                <a:solidFill>
                  <a:srgbClr val="0F4761"/>
                </a:solidFill>
                <a:latin typeface="Century Gothic" panose="020B0502020202020204" pitchFamily="34" charset="0"/>
              </a:rPr>
              <a:t>Crítica Central:</a:t>
            </a:r>
            <a:r>
              <a:rPr lang="es-ES" b="0" i="0" u="none" strike="noStrike" kern="100" baseline="0" dirty="0">
                <a:solidFill>
                  <a:srgbClr val="0F4761"/>
                </a:solidFill>
                <a:latin typeface="Century Gothic" panose="020B0502020202020204" pitchFamily="34" charset="0"/>
              </a:rPr>
              <a:t> La ley es sólida, pero el reto es que la transparencia se asuma como un principio cultural, no solo normativo.</a:t>
            </a:r>
          </a:p>
          <a:p>
            <a:pPr marR="0" lvl="0" algn="just" rtl="0"/>
            <a:r>
              <a:rPr lang="es-ES" b="1" i="0" u="none" strike="noStrike" kern="100" baseline="0" dirty="0">
                <a:solidFill>
                  <a:srgbClr val="0F4761"/>
                </a:solidFill>
                <a:latin typeface="Century Gothic" panose="020B0502020202020204" pitchFamily="34" charset="0"/>
              </a:rPr>
              <a:t>El "Régimen de Excepciones:</a:t>
            </a:r>
            <a:r>
              <a:rPr lang="es-ES" b="0" i="0" u="none" strike="noStrike" kern="100" baseline="0" dirty="0">
                <a:solidFill>
                  <a:srgbClr val="0F4761"/>
                </a:solidFill>
                <a:latin typeface="Century Gothic" panose="020B0502020202020204" pitchFamily="34" charset="0"/>
              </a:rPr>
              <a:t> "La </a:t>
            </a:r>
            <a:r>
              <a:rPr lang="es-ES" b="0" i="0" u="none" strike="noStrike" kern="100" baseline="0" dirty="0" err="1">
                <a:solidFill>
                  <a:srgbClr val="0F4761"/>
                </a:solidFill>
                <a:latin typeface="Century Gothic" panose="020B0502020202020204" pitchFamily="34" charset="0"/>
              </a:rPr>
              <a:t>sobreclasificación</a:t>
            </a:r>
            <a:r>
              <a:rPr lang="es-ES" b="0" i="0" u="none" strike="noStrike" kern="100" baseline="0" dirty="0">
                <a:solidFill>
                  <a:srgbClr val="0F4761"/>
                </a:solidFill>
                <a:latin typeface="Century Gothic" panose="020B0502020202020204" pitchFamily="34" charset="0"/>
              </a:rPr>
              <a:t> como principal obstáculo: uso excesivo de la "Información Reservada" o "Confidencial" (Art. 102 a 122) para limitar el acceso.</a:t>
            </a:r>
          </a:p>
          <a:p>
            <a:pPr marR="0" lvl="0" algn="just" rtl="0"/>
            <a:r>
              <a:rPr lang="es-ES" b="1" i="0" u="none" strike="noStrike" kern="100" baseline="0" dirty="0">
                <a:solidFill>
                  <a:srgbClr val="0F4761"/>
                </a:solidFill>
                <a:latin typeface="Century Gothic" panose="020B0502020202020204" pitchFamily="34" charset="0"/>
              </a:rPr>
              <a:t>Rol de la TI:</a:t>
            </a:r>
            <a:r>
              <a:rPr lang="es-ES" b="0" i="0" u="none" strike="noStrike" kern="100" baseline="0" dirty="0">
                <a:solidFill>
                  <a:srgbClr val="0F4761"/>
                </a:solidFill>
                <a:latin typeface="Century Gothic" panose="020B0502020202020204" pitchFamily="34" charset="0"/>
              </a:rPr>
              <a:t> La mala gestión digital y la opacidad tecnológica pueden ser la nueva forma de obstaculizar el derecho de acceso.</a:t>
            </a:r>
          </a:p>
          <a:p>
            <a:pPr marL="0" marR="0" lvl="0" indent="0" algn="just" rtl="0">
              <a:buNone/>
            </a:pPr>
            <a:endParaRPr lang="es-ES" b="0" i="0" u="none" strike="noStrike" kern="100" baseline="0" dirty="0">
              <a:solidFill>
                <a:srgbClr val="0F4761"/>
              </a:solidFill>
              <a:latin typeface="Century Gothic" panose="020B0502020202020204" pitchFamily="34" charset="0"/>
            </a:endParaRPr>
          </a:p>
          <a:p>
            <a:pPr marL="457200" marR="0" lvl="1" indent="0" algn="just" rtl="0">
              <a:buNone/>
            </a:pPr>
            <a:r>
              <a:rPr lang="es-ES" i="0" u="none" strike="noStrike" kern="100" baseline="0" dirty="0">
                <a:solidFill>
                  <a:schemeClr val="accent5">
                    <a:lumMod val="50000"/>
                  </a:schemeClr>
                </a:solidFill>
                <a:latin typeface="Century Gothic" panose="020B0502020202020204" pitchFamily="34" charset="0"/>
              </a:rPr>
              <a:t>Para debate: </a:t>
            </a:r>
            <a:r>
              <a:rPr lang="es-ES" b="1" i="0" u="none" strike="noStrike" kern="100" baseline="0" dirty="0">
                <a:solidFill>
                  <a:schemeClr val="accent5">
                    <a:lumMod val="50000"/>
                  </a:schemeClr>
                </a:solidFill>
                <a:latin typeface="Century Gothic" panose="020B0502020202020204" pitchFamily="34" charset="0"/>
              </a:rPr>
              <a:t>¿La ley funciona si la autoridad no quiere que funcione? El espíritu vs. la letra.</a:t>
            </a:r>
          </a:p>
        </p:txBody>
      </p:sp>
    </p:spTree>
    <p:extLst>
      <p:ext uri="{BB962C8B-B14F-4D97-AF65-F5344CB8AC3E}">
        <p14:creationId xmlns:p14="http://schemas.microsoft.com/office/powerpoint/2010/main" val="2726559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90FEB0-435E-872B-AC9B-B5FBDC4C5053}"/>
              </a:ext>
            </a:extLst>
          </p:cNvPr>
          <p:cNvSpPr>
            <a:spLocks noGrp="1"/>
          </p:cNvSpPr>
          <p:nvPr>
            <p:ph type="title"/>
          </p:nvPr>
        </p:nvSpPr>
        <p:spPr/>
        <p:txBody>
          <a:bodyPr/>
          <a:lstStyle/>
          <a:p>
            <a:pPr marR="0" algn="ctr" rtl="0"/>
            <a:r>
              <a:rPr lang="es-ES" b="0" i="0" u="none" strike="noStrike" kern="100" baseline="0" dirty="0">
                <a:solidFill>
                  <a:schemeClr val="bg1">
                    <a:lumMod val="65000"/>
                  </a:schemeClr>
                </a:solidFill>
                <a:latin typeface="Century Gothic" panose="020B0502020202020204" pitchFamily="34" charset="0"/>
              </a:rPr>
              <a:t>D4:</a:t>
            </a:r>
            <a:r>
              <a:rPr lang="es-ES" b="0" i="0" u="none" strike="noStrike" kern="100" baseline="0" dirty="0">
                <a:solidFill>
                  <a:srgbClr val="0F4761"/>
                </a:solidFill>
                <a:latin typeface="Century Gothic" panose="020B0502020202020204" pitchFamily="34" charset="0"/>
              </a:rPr>
              <a:t> El Sujeto Obligado en la Era Digital</a:t>
            </a:r>
          </a:p>
        </p:txBody>
      </p:sp>
      <p:sp>
        <p:nvSpPr>
          <p:cNvPr id="3" name="Marcador de texto 2">
            <a:extLst>
              <a:ext uri="{FF2B5EF4-FFF2-40B4-BE49-F238E27FC236}">
                <a16:creationId xmlns:a16="http://schemas.microsoft.com/office/drawing/2014/main" id="{1D6AAD15-A91C-36D0-6E46-6312C78698C8}"/>
              </a:ext>
            </a:extLst>
          </p:cNvPr>
          <p:cNvSpPr>
            <a:spLocks noGrp="1"/>
          </p:cNvSpPr>
          <p:nvPr>
            <p:ph type="body" idx="1"/>
          </p:nvPr>
        </p:nvSpPr>
        <p:spPr>
          <a:xfrm>
            <a:off x="838200" y="1690688"/>
            <a:ext cx="10515600" cy="4486275"/>
          </a:xfrm>
        </p:spPr>
        <p:txBody>
          <a:bodyPr anchor="ctr">
            <a:normAutofit fontScale="92500" lnSpcReduction="20000"/>
          </a:bodyPr>
          <a:lstStyle/>
          <a:p>
            <a:pPr marR="0" lvl="0" algn="just" rtl="0"/>
            <a:r>
              <a:rPr lang="es-ES" b="0" i="0" u="none" strike="noStrike" kern="100" baseline="0" dirty="0">
                <a:solidFill>
                  <a:srgbClr val="0F4761"/>
                </a:solidFill>
                <a:latin typeface="Century Gothic" panose="020B0502020202020204" pitchFamily="34" charset="0"/>
              </a:rPr>
              <a:t>¿Quién está Obligado y a qué?</a:t>
            </a:r>
          </a:p>
          <a:p>
            <a:pPr marR="0" lvl="0" algn="just" rtl="0"/>
            <a:r>
              <a:rPr lang="es-ES" b="1" i="0" u="none" strike="noStrike" kern="100" baseline="0" dirty="0">
                <a:solidFill>
                  <a:srgbClr val="0F4761"/>
                </a:solidFill>
                <a:latin typeface="Century Gothic" panose="020B0502020202020204" pitchFamily="34" charset="0"/>
              </a:rPr>
              <a:t>Sujetos Obligados (Art. 23):</a:t>
            </a:r>
            <a:r>
              <a:rPr lang="es-ES" b="0" i="0" u="none" strike="noStrike" kern="100" baseline="0" dirty="0">
                <a:solidFill>
                  <a:srgbClr val="0F4761"/>
                </a:solidFill>
                <a:latin typeface="Century Gothic" panose="020B0502020202020204" pitchFamily="34" charset="0"/>
              </a:rPr>
              <a:t> Poderes de la Unión, Órganos Autónomos (INAI, INE), Partidos Políticos, y cualquier persona física o moral que ejerza recursos públicos o actos de autoridad.</a:t>
            </a:r>
          </a:p>
          <a:p>
            <a:pPr marR="0" lvl="0" algn="just" rtl="0"/>
            <a:r>
              <a:rPr lang="es-ES" b="1" i="0" u="none" strike="noStrike" kern="100" baseline="0" dirty="0">
                <a:solidFill>
                  <a:srgbClr val="0F4761"/>
                </a:solidFill>
                <a:latin typeface="Century Gothic" panose="020B0502020202020204" pitchFamily="34" charset="0"/>
              </a:rPr>
              <a:t>El Rol de la UNIDAD DE TRANSPARENCIA (Art. 43):</a:t>
            </a:r>
            <a:r>
              <a:rPr lang="es-ES" b="0" i="0" u="none" strike="noStrike" kern="100" baseline="0" dirty="0">
                <a:solidFill>
                  <a:srgbClr val="0F4761"/>
                </a:solidFill>
                <a:latin typeface="Century Gothic" panose="020B0502020202020204" pitchFamily="34" charset="0"/>
              </a:rPr>
              <a:t> Es el punto de contacto digital para el solicitante. Administra y ejecuta el procedimiento de acceso.</a:t>
            </a:r>
          </a:p>
          <a:p>
            <a:pPr marR="0" lvl="0" algn="just" rtl="0"/>
            <a:r>
              <a:rPr lang="es-ES" b="1" i="0" u="none" strike="noStrike" kern="100" baseline="0" dirty="0">
                <a:solidFill>
                  <a:srgbClr val="0F4761"/>
                </a:solidFill>
                <a:latin typeface="Century Gothic" panose="020B0502020202020204" pitchFamily="34" charset="0"/>
              </a:rPr>
              <a:t>Relevancia para la Carrera:</a:t>
            </a:r>
            <a:r>
              <a:rPr lang="es-ES" b="0" i="0" u="none" strike="noStrike" kern="100" baseline="0" dirty="0">
                <a:solidFill>
                  <a:srgbClr val="0F4761"/>
                </a:solidFill>
                <a:latin typeface="Century Gothic" panose="020B0502020202020204" pitchFamily="34" charset="0"/>
              </a:rPr>
              <a:t> Un abogado informático puede trabajar como titular de una UT, diseñando la estructura de datos para cumplir con la Ley.</a:t>
            </a:r>
          </a:p>
          <a:p>
            <a:pPr marL="457200" marR="0" lvl="1" indent="0" algn="just" rtl="0">
              <a:buNone/>
            </a:pPr>
            <a:r>
              <a:rPr lang="es-ES" b="0" i="0" u="none" strike="noStrike" kern="100" baseline="0" dirty="0">
                <a:solidFill>
                  <a:schemeClr val="accent5">
                    <a:lumMod val="50000"/>
                  </a:schemeClr>
                </a:solidFill>
                <a:latin typeface="Century Gothic" panose="020B0502020202020204" pitchFamily="34" charset="0"/>
              </a:rPr>
              <a:t>Se aclara que </a:t>
            </a:r>
            <a:r>
              <a:rPr lang="es-ES" b="1" i="0" u="none" strike="noStrike" kern="100" baseline="0" dirty="0">
                <a:solidFill>
                  <a:schemeClr val="accent5">
                    <a:lumMod val="50000"/>
                  </a:schemeClr>
                </a:solidFill>
                <a:latin typeface="Century Gothic" panose="020B0502020202020204" pitchFamily="34" charset="0"/>
              </a:rPr>
              <a:t>la obligación trasciende al gobierno; alcanza a sindicatos y empresas que manejan dinero público.</a:t>
            </a:r>
          </a:p>
        </p:txBody>
      </p:sp>
    </p:spTree>
    <p:extLst>
      <p:ext uri="{BB962C8B-B14F-4D97-AF65-F5344CB8AC3E}">
        <p14:creationId xmlns:p14="http://schemas.microsoft.com/office/powerpoint/2010/main" val="3041962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18D91-AB11-43A2-85CF-976E19BA7C7F}"/>
              </a:ext>
            </a:extLst>
          </p:cNvPr>
          <p:cNvSpPr>
            <a:spLocks noGrp="1"/>
          </p:cNvSpPr>
          <p:nvPr>
            <p:ph type="title"/>
          </p:nvPr>
        </p:nvSpPr>
        <p:spPr/>
        <p:txBody>
          <a:bodyPr/>
          <a:lstStyle/>
          <a:p>
            <a:pPr marR="0" algn="ctr" rtl="0"/>
            <a:r>
              <a:rPr lang="es-ES" b="0" i="0" u="none" strike="noStrike" kern="100" baseline="0" dirty="0">
                <a:solidFill>
                  <a:schemeClr val="bg1">
                    <a:lumMod val="65000"/>
                  </a:schemeClr>
                </a:solidFill>
                <a:latin typeface="Century Gothic" panose="020B0502020202020204" pitchFamily="34" charset="0"/>
              </a:rPr>
              <a:t>D5:</a:t>
            </a:r>
            <a:r>
              <a:rPr lang="es-ES" b="0" i="0" u="none" strike="noStrike" kern="100" baseline="0" dirty="0">
                <a:solidFill>
                  <a:srgbClr val="0F4761"/>
                </a:solidFill>
                <a:latin typeface="Century Gothic" panose="020B0502020202020204" pitchFamily="34" charset="0"/>
              </a:rPr>
              <a:t> El Mecanismo Central: La </a:t>
            </a:r>
            <a:r>
              <a:rPr lang="es-ES" b="1" i="0" u="none" strike="noStrike" kern="100" baseline="0" dirty="0">
                <a:solidFill>
                  <a:srgbClr val="0F4761"/>
                </a:solidFill>
                <a:latin typeface="Century Gothic" panose="020B0502020202020204" pitchFamily="34" charset="0"/>
              </a:rPr>
              <a:t>PNT</a:t>
            </a:r>
          </a:p>
        </p:txBody>
      </p:sp>
      <p:sp>
        <p:nvSpPr>
          <p:cNvPr id="3" name="Marcador de texto 2">
            <a:extLst>
              <a:ext uri="{FF2B5EF4-FFF2-40B4-BE49-F238E27FC236}">
                <a16:creationId xmlns:a16="http://schemas.microsoft.com/office/drawing/2014/main" id="{C035C544-A5C0-1A30-74AA-0553090F9507}"/>
              </a:ext>
            </a:extLst>
          </p:cNvPr>
          <p:cNvSpPr>
            <a:spLocks noGrp="1"/>
          </p:cNvSpPr>
          <p:nvPr>
            <p:ph type="body" idx="1"/>
          </p:nvPr>
        </p:nvSpPr>
        <p:spPr>
          <a:xfrm>
            <a:off x="838200" y="1439056"/>
            <a:ext cx="10515600" cy="5053819"/>
          </a:xfrm>
        </p:spPr>
        <p:txBody>
          <a:bodyPr anchor="ctr">
            <a:normAutofit fontScale="92500" lnSpcReduction="20000"/>
          </a:bodyPr>
          <a:lstStyle/>
          <a:p>
            <a:pPr marL="0" marR="0" lvl="0" indent="0" algn="ctr" rtl="0">
              <a:buNone/>
            </a:pPr>
            <a:r>
              <a:rPr lang="es-MX" b="1" i="0" u="none" strike="noStrike" kern="100" baseline="0" dirty="0">
                <a:solidFill>
                  <a:srgbClr val="0F4761"/>
                </a:solidFill>
                <a:latin typeface="Century Gothic" panose="020B0502020202020204" pitchFamily="34" charset="0"/>
              </a:rPr>
              <a:t>La Plataforma Nacional de Transparencia (PNT-</a:t>
            </a:r>
            <a:r>
              <a:rPr lang="es-MX" i="0" u="none" strike="noStrike" kern="100" baseline="0" dirty="0">
                <a:solidFill>
                  <a:srgbClr val="0F4761"/>
                </a:solidFill>
                <a:latin typeface="Century Gothic" panose="020B0502020202020204" pitchFamily="34" charset="0"/>
              </a:rPr>
              <a:t>Art 44 y 45</a:t>
            </a:r>
            <a:r>
              <a:rPr lang="es-MX" b="1" i="0" u="none" strike="noStrike" kern="100" baseline="0" dirty="0">
                <a:solidFill>
                  <a:srgbClr val="0F4761"/>
                </a:solidFill>
                <a:latin typeface="Century Gothic" panose="020B0502020202020204" pitchFamily="34" charset="0"/>
              </a:rPr>
              <a:t>)</a:t>
            </a:r>
          </a:p>
          <a:p>
            <a:pPr marR="0" lvl="0" algn="just" rtl="0"/>
            <a:r>
              <a:rPr lang="es-ES" b="0" i="0" u="none" strike="noStrike" kern="100" baseline="0" dirty="0">
                <a:solidFill>
                  <a:srgbClr val="0F4761"/>
                </a:solidFill>
                <a:latin typeface="Century Gothic" panose="020B0502020202020204" pitchFamily="34" charset="0"/>
              </a:rPr>
              <a:t>Definición: Es el portal digital obligatorio que concentra y unifica el ejercicio del derecho de acceso en todo el país. (Federal, Estatal y Municipal).</a:t>
            </a:r>
          </a:p>
          <a:p>
            <a:pPr marR="0" lvl="0" algn="just" rtl="0"/>
            <a:r>
              <a:rPr lang="es-MX" b="0" i="0" u="none" strike="noStrike" kern="100" baseline="0" dirty="0">
                <a:solidFill>
                  <a:srgbClr val="0F4761"/>
                </a:solidFill>
                <a:latin typeface="Century Gothic" panose="020B0502020202020204" pitchFamily="34" charset="0"/>
              </a:rPr>
              <a:t>Componentes Clave (Sistemas)</a:t>
            </a:r>
          </a:p>
          <a:p>
            <a:pPr marR="0" lvl="0" algn="just" rtl="0"/>
            <a:r>
              <a:rPr lang="es-MX" b="0" i="0" u="none" strike="noStrike" kern="100" baseline="0" dirty="0">
                <a:solidFill>
                  <a:srgbClr val="0F4761"/>
                </a:solidFill>
                <a:latin typeface="Century Gothic" panose="020B0502020202020204" pitchFamily="34" charset="0"/>
              </a:rPr>
              <a:t>1. SISI: Solicitudes de Acceso;</a:t>
            </a:r>
          </a:p>
          <a:p>
            <a:pPr marR="0" lvl="0" algn="just" rtl="0"/>
            <a:r>
              <a:rPr lang="es-ES" b="0" i="0" u="none" strike="noStrike" kern="100" baseline="0" dirty="0">
                <a:solidFill>
                  <a:srgbClr val="0F4761"/>
                </a:solidFill>
                <a:latin typeface="Century Gothic" panose="020B0502020202020204" pitchFamily="34" charset="0"/>
              </a:rPr>
              <a:t>2. SIPOT: Obligaciones de Transparencia;</a:t>
            </a:r>
          </a:p>
          <a:p>
            <a:pPr marR="0" lvl="0" algn="just" rtl="0"/>
            <a:r>
              <a:rPr lang="es-ES" b="0" i="0" u="none" strike="noStrike" kern="100" baseline="0" dirty="0">
                <a:solidFill>
                  <a:srgbClr val="0F4761"/>
                </a:solidFill>
                <a:latin typeface="Century Gothic" panose="020B0502020202020204" pitchFamily="34" charset="0"/>
              </a:rPr>
              <a:t>3. SIRR: Recursos de Revisión.</a:t>
            </a:r>
          </a:p>
          <a:p>
            <a:pPr marR="0" lvl="0" algn="just" rtl="0"/>
            <a:r>
              <a:rPr lang="es-ES" b="0" i="0" u="none" strike="noStrike" kern="100" baseline="0" dirty="0">
                <a:solidFill>
                  <a:srgbClr val="0F4761"/>
                </a:solidFill>
                <a:latin typeface="Century Gothic" panose="020B0502020202020204" pitchFamily="34" charset="0"/>
              </a:rPr>
              <a:t>Desafío de la PNT: Asegurar la interoperabilidad y el cumplimiento de estándares de publicación por miles de sujetos obligados con distintos niveles de capacidad tecnológica.</a:t>
            </a:r>
          </a:p>
          <a:p>
            <a:pPr marL="457200" marR="0" lvl="1" indent="0" algn="just" rtl="0">
              <a:buNone/>
            </a:pPr>
            <a:r>
              <a:rPr lang="es-ES" b="0" i="0" u="none" strike="noStrike" kern="100" baseline="0" dirty="0">
                <a:solidFill>
                  <a:schemeClr val="accent5">
                    <a:lumMod val="50000"/>
                  </a:schemeClr>
                </a:solidFill>
                <a:latin typeface="Century Gothic" panose="020B0502020202020204" pitchFamily="34" charset="0"/>
              </a:rPr>
              <a:t>Se precisa que la </a:t>
            </a:r>
            <a:r>
              <a:rPr lang="es-ES" b="1" i="0" u="none" strike="noStrike" kern="100" baseline="0" dirty="0">
                <a:solidFill>
                  <a:schemeClr val="accent5">
                    <a:lumMod val="50000"/>
                  </a:schemeClr>
                </a:solidFill>
                <a:latin typeface="Century Gothic" panose="020B0502020202020204" pitchFamily="34" charset="0"/>
              </a:rPr>
              <a:t>PNT no solo como un sitio web, sino como la infraestructura legal y tecnológica de la transparencia en México</a:t>
            </a:r>
            <a:r>
              <a:rPr lang="es-ES" b="0" i="0" u="none" strike="noStrike" kern="100" baseline="0" dirty="0">
                <a:solidFill>
                  <a:schemeClr val="accent5">
                    <a:lumMod val="50000"/>
                  </a:schemeClr>
                </a:solidFill>
                <a:latin typeface="Century Gothic" panose="020B0502020202020204" pitchFamily="34" charset="0"/>
              </a:rPr>
              <a:t>.</a:t>
            </a:r>
          </a:p>
        </p:txBody>
      </p:sp>
    </p:spTree>
    <p:extLst>
      <p:ext uri="{BB962C8B-B14F-4D97-AF65-F5344CB8AC3E}">
        <p14:creationId xmlns:p14="http://schemas.microsoft.com/office/powerpoint/2010/main" val="29247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FA1DF7-7D20-2232-652C-9F17C8FA9E52}"/>
              </a:ext>
            </a:extLst>
          </p:cNvPr>
          <p:cNvSpPr>
            <a:spLocks noGrp="1"/>
          </p:cNvSpPr>
          <p:nvPr>
            <p:ph type="title"/>
          </p:nvPr>
        </p:nvSpPr>
        <p:spPr>
          <a:xfrm>
            <a:off x="838200" y="365126"/>
            <a:ext cx="10515600" cy="1013970"/>
          </a:xfrm>
        </p:spPr>
        <p:txBody>
          <a:bodyPr>
            <a:normAutofit fontScale="90000"/>
          </a:bodyPr>
          <a:lstStyle/>
          <a:p>
            <a:pPr marR="0" algn="ctr" rtl="0"/>
            <a:r>
              <a:rPr lang="es-ES" b="0" i="0" u="none" strike="noStrike" kern="100" baseline="0" dirty="0">
                <a:solidFill>
                  <a:schemeClr val="bg1">
                    <a:lumMod val="65000"/>
                  </a:schemeClr>
                </a:solidFill>
                <a:latin typeface="Century Gothic" panose="020B0502020202020204" pitchFamily="34" charset="0"/>
              </a:rPr>
              <a:t>D6: </a:t>
            </a:r>
            <a:r>
              <a:rPr lang="es-ES" b="0" i="0" u="none" strike="noStrike" kern="100" baseline="0" dirty="0">
                <a:solidFill>
                  <a:srgbClr val="0F4761"/>
                </a:solidFill>
                <a:latin typeface="Century Gothic" panose="020B0502020202020204" pitchFamily="34" charset="0"/>
              </a:rPr>
              <a:t>Las Obligaciones de</a:t>
            </a:r>
            <a:br>
              <a:rPr lang="es-ES" b="0" i="0" u="none" strike="noStrike" kern="100" baseline="0" dirty="0">
                <a:solidFill>
                  <a:srgbClr val="0F4761"/>
                </a:solidFill>
                <a:latin typeface="Century Gothic" panose="020B0502020202020204" pitchFamily="34" charset="0"/>
              </a:rPr>
            </a:br>
            <a:r>
              <a:rPr lang="es-ES" b="0" i="0" u="none" strike="noStrike" kern="100" baseline="0" dirty="0">
                <a:solidFill>
                  <a:srgbClr val="0F4761"/>
                </a:solidFill>
                <a:latin typeface="Century Gothic" panose="020B0502020202020204" pitchFamily="34" charset="0"/>
              </a:rPr>
              <a:t>Transparencia Comunes</a:t>
            </a:r>
          </a:p>
        </p:txBody>
      </p:sp>
      <p:sp>
        <p:nvSpPr>
          <p:cNvPr id="3" name="Marcador de texto 2">
            <a:extLst>
              <a:ext uri="{FF2B5EF4-FFF2-40B4-BE49-F238E27FC236}">
                <a16:creationId xmlns:a16="http://schemas.microsoft.com/office/drawing/2014/main" id="{D76623B4-9364-58CD-AB4C-C2D46C159D0A}"/>
              </a:ext>
            </a:extLst>
          </p:cNvPr>
          <p:cNvSpPr>
            <a:spLocks noGrp="1"/>
          </p:cNvSpPr>
          <p:nvPr>
            <p:ph type="body" idx="1"/>
          </p:nvPr>
        </p:nvSpPr>
        <p:spPr>
          <a:xfrm>
            <a:off x="374753" y="1690688"/>
            <a:ext cx="11407515" cy="4802187"/>
          </a:xfrm>
        </p:spPr>
        <p:txBody>
          <a:bodyPr anchor="ctr">
            <a:normAutofit lnSpcReduction="10000"/>
          </a:bodyPr>
          <a:lstStyle/>
          <a:p>
            <a:pPr marR="0" lvl="0" algn="just" rtl="0"/>
            <a:r>
              <a:rPr lang="es-ES" b="1" i="0" u="none" strike="noStrike" kern="100" baseline="0" dirty="0">
                <a:solidFill>
                  <a:srgbClr val="0F4761"/>
                </a:solidFill>
                <a:latin typeface="Century Gothic" panose="020B0502020202020204" pitchFamily="34" charset="0"/>
              </a:rPr>
              <a:t>Título:</a:t>
            </a:r>
            <a:r>
              <a:rPr lang="es-ES" b="0" i="0" u="none" strike="noStrike" kern="100" baseline="0" dirty="0">
                <a:solidFill>
                  <a:srgbClr val="0F4761"/>
                </a:solidFill>
                <a:latin typeface="Century Gothic" panose="020B0502020202020204" pitchFamily="34" charset="0"/>
              </a:rPr>
              <a:t> Obligaciones Comunes (Art. 70) – La Transparencia Proactiva</a:t>
            </a:r>
          </a:p>
          <a:p>
            <a:pPr marR="0" lvl="0" algn="just" rtl="0"/>
            <a:r>
              <a:rPr lang="es-ES" b="1" i="0" u="none" strike="noStrike" kern="100" baseline="0" dirty="0">
                <a:solidFill>
                  <a:srgbClr val="0F4761"/>
                </a:solidFill>
                <a:latin typeface="Century Gothic" panose="020B0502020202020204" pitchFamily="34" charset="0"/>
              </a:rPr>
              <a:t>Definición:</a:t>
            </a:r>
            <a:r>
              <a:rPr lang="es-ES" b="0" i="0" u="none" strike="noStrike" kern="100" baseline="0" dirty="0">
                <a:solidFill>
                  <a:srgbClr val="0F4761"/>
                </a:solidFill>
                <a:latin typeface="Century Gothic" panose="020B0502020202020204" pitchFamily="34" charset="0"/>
              </a:rPr>
              <a:t> Información que el sujeto obligado debe publicar de oficio y permanentemente, sin que medie solicitud.</a:t>
            </a:r>
          </a:p>
          <a:p>
            <a:pPr marR="0" lvl="0" algn="just" rtl="0"/>
            <a:r>
              <a:rPr lang="es-ES" b="1" i="0" u="none" strike="noStrike" kern="100" baseline="0" dirty="0">
                <a:solidFill>
                  <a:srgbClr val="0F4761"/>
                </a:solidFill>
                <a:latin typeface="Century Gothic" panose="020B0502020202020204" pitchFamily="34" charset="0"/>
              </a:rPr>
              <a:t>Ejemplos (TIC-Relevantes):</a:t>
            </a:r>
            <a:r>
              <a:rPr lang="es-ES" b="0" i="0" u="none" strike="noStrike" kern="100" baseline="0" dirty="0">
                <a:solidFill>
                  <a:srgbClr val="0F4761"/>
                </a:solidFill>
                <a:latin typeface="Century Gothic" panose="020B0502020202020204" pitchFamily="34" charset="0"/>
              </a:rPr>
              <a:t> Estructura Orgánica, Directorio, Remuneraciones, Indicadores de Desempeño, y, vitalmente, la información debe estar en Formatos Accesibles y Abiertos.</a:t>
            </a:r>
          </a:p>
          <a:p>
            <a:pPr marR="0" lvl="0" algn="just" rtl="0"/>
            <a:r>
              <a:rPr lang="es-ES" b="1" i="0" u="none" strike="noStrike" kern="100" baseline="0" dirty="0">
                <a:solidFill>
                  <a:srgbClr val="0F4761"/>
                </a:solidFill>
                <a:latin typeface="Century Gothic" panose="020B0502020202020204" pitchFamily="34" charset="0"/>
              </a:rPr>
              <a:t>El Fracaso Frecuente:</a:t>
            </a:r>
            <a:r>
              <a:rPr lang="es-ES" b="0" i="0" u="none" strike="noStrike" kern="100" baseline="0" dirty="0">
                <a:solidFill>
                  <a:srgbClr val="0F4761"/>
                </a:solidFill>
                <a:latin typeface="Century Gothic" panose="020B0502020202020204" pitchFamily="34" charset="0"/>
              </a:rPr>
              <a:t> Publicar archivos escaneados o ilegibles (PDF-imagen) que incumplen el espíritu de la Ley, dificultando el análisis de datos.</a:t>
            </a:r>
          </a:p>
          <a:p>
            <a:pPr marL="457200" marR="0" lvl="1" indent="0" algn="just" rtl="0">
              <a:buNone/>
            </a:pPr>
            <a:r>
              <a:rPr lang="es-ES" b="1" i="0" u="none" strike="noStrike" kern="100" baseline="0" dirty="0">
                <a:solidFill>
                  <a:schemeClr val="accent5">
                    <a:lumMod val="50000"/>
                  </a:schemeClr>
                </a:solidFill>
                <a:latin typeface="Century Gothic" panose="020B0502020202020204" pitchFamily="34" charset="0"/>
              </a:rPr>
              <a:t>La meta es reducir las solicitudes al tener la información clave ya publicada y digitalmente usable.</a:t>
            </a:r>
          </a:p>
        </p:txBody>
      </p:sp>
    </p:spTree>
    <p:extLst>
      <p:ext uri="{BB962C8B-B14F-4D97-AF65-F5344CB8AC3E}">
        <p14:creationId xmlns:p14="http://schemas.microsoft.com/office/powerpoint/2010/main" val="2593488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20F45B-494D-FF4F-C23A-23B938C9E1D5}"/>
              </a:ext>
            </a:extLst>
          </p:cNvPr>
          <p:cNvSpPr>
            <a:spLocks noGrp="1"/>
          </p:cNvSpPr>
          <p:nvPr>
            <p:ph type="title"/>
          </p:nvPr>
        </p:nvSpPr>
        <p:spPr/>
        <p:txBody>
          <a:bodyPr/>
          <a:lstStyle/>
          <a:p>
            <a:pPr marR="0" algn="ctr" rtl="0"/>
            <a:r>
              <a:rPr lang="es-MX" b="0" i="0" u="none" strike="noStrike" kern="100" baseline="0" dirty="0">
                <a:solidFill>
                  <a:schemeClr val="bg1">
                    <a:lumMod val="65000"/>
                  </a:schemeClr>
                </a:solidFill>
                <a:latin typeface="Century Gothic" panose="020B0502020202020204" pitchFamily="34" charset="0"/>
              </a:rPr>
              <a:t>D7:</a:t>
            </a:r>
            <a:r>
              <a:rPr lang="es-MX" b="0" i="0" u="none" strike="noStrike" kern="100" baseline="0" dirty="0">
                <a:solidFill>
                  <a:srgbClr val="0F4761"/>
                </a:solidFill>
                <a:latin typeface="Century Gothic" panose="020B0502020202020204" pitchFamily="34" charset="0"/>
              </a:rPr>
              <a:t> Rol del Jurista Informático como Analista</a:t>
            </a:r>
          </a:p>
        </p:txBody>
      </p:sp>
      <p:sp>
        <p:nvSpPr>
          <p:cNvPr id="3" name="Marcador de texto 2">
            <a:extLst>
              <a:ext uri="{FF2B5EF4-FFF2-40B4-BE49-F238E27FC236}">
                <a16:creationId xmlns:a16="http://schemas.microsoft.com/office/drawing/2014/main" id="{AE355F62-4218-4CB8-175D-64739342C8E2}"/>
              </a:ext>
            </a:extLst>
          </p:cNvPr>
          <p:cNvSpPr>
            <a:spLocks noGrp="1"/>
          </p:cNvSpPr>
          <p:nvPr>
            <p:ph type="body" idx="1"/>
          </p:nvPr>
        </p:nvSpPr>
        <p:spPr/>
        <p:txBody>
          <a:bodyPr anchor="ctr">
            <a:normAutofit fontScale="92500"/>
          </a:bodyPr>
          <a:lstStyle/>
          <a:p>
            <a:pPr marR="0" lvl="0" algn="just" rtl="0"/>
            <a:r>
              <a:rPr lang="es-ES" b="1" i="0" u="none" strike="noStrike" kern="100" baseline="0" dirty="0">
                <a:solidFill>
                  <a:srgbClr val="0F4761"/>
                </a:solidFill>
                <a:latin typeface="Century Gothic" panose="020B0502020202020204" pitchFamily="34" charset="0"/>
              </a:rPr>
              <a:t>Título:</a:t>
            </a:r>
            <a:r>
              <a:rPr lang="es-ES" b="0" i="0" u="none" strike="noStrike" kern="100" baseline="0" dirty="0">
                <a:solidFill>
                  <a:srgbClr val="0F4761"/>
                </a:solidFill>
                <a:latin typeface="Century Gothic" panose="020B0502020202020204" pitchFamily="34" charset="0"/>
              </a:rPr>
              <a:t> Nuestro Rol: Garantizar la Accesibilidad y la Usabilidad</a:t>
            </a:r>
          </a:p>
          <a:p>
            <a:pPr marR="0" lvl="0" algn="just" rtl="0"/>
            <a:r>
              <a:rPr lang="es-ES" b="1" i="0" u="none" strike="noStrike" kern="100" baseline="0" dirty="0">
                <a:solidFill>
                  <a:srgbClr val="0F4761"/>
                </a:solidFill>
                <a:latin typeface="Century Gothic" panose="020B0502020202020204" pitchFamily="34" charset="0"/>
              </a:rPr>
              <a:t>El Problema:</a:t>
            </a:r>
            <a:r>
              <a:rPr lang="es-ES" b="0" i="0" u="none" strike="noStrike" kern="100" baseline="0" dirty="0">
                <a:solidFill>
                  <a:srgbClr val="0F4761"/>
                </a:solidFill>
                <a:latin typeface="Century Gothic" panose="020B0502020202020204" pitchFamily="34" charset="0"/>
              </a:rPr>
              <a:t> Una respuesta oportuna con datos en un formato inútil es una violación de fondo.</a:t>
            </a:r>
          </a:p>
          <a:p>
            <a:pPr marR="0" lvl="0" algn="just" rtl="0"/>
            <a:r>
              <a:rPr lang="es-ES" b="1" i="0" u="none" strike="noStrike" kern="100" baseline="0" dirty="0">
                <a:solidFill>
                  <a:srgbClr val="0F4761"/>
                </a:solidFill>
                <a:latin typeface="Century Gothic" panose="020B0502020202020204" pitchFamily="34" charset="0"/>
              </a:rPr>
              <a:t>Nuestra Misión:</a:t>
            </a:r>
            <a:r>
              <a:rPr lang="es-ES" b="0" i="0" u="none" strike="noStrike" kern="100" baseline="0" dirty="0">
                <a:solidFill>
                  <a:srgbClr val="0F4761"/>
                </a:solidFill>
                <a:latin typeface="Century Gothic" panose="020B0502020202020204" pitchFamily="34" charset="0"/>
              </a:rPr>
              <a:t> Garantizar el cumplimiento del Art. 3°, Fracc. VI (Datos Abiertos) y Fracc. XIII (Formatos Accesibles).</a:t>
            </a:r>
          </a:p>
          <a:p>
            <a:pPr marR="0" lvl="0" algn="just" rtl="0"/>
            <a:r>
              <a:rPr lang="es-ES" b="1" i="0" u="none" strike="noStrike" kern="100" baseline="0" dirty="0">
                <a:solidFill>
                  <a:srgbClr val="0F4761"/>
                </a:solidFill>
                <a:latin typeface="Century Gothic" panose="020B0502020202020204" pitchFamily="34" charset="0"/>
              </a:rPr>
              <a:t>¿Qué buscamos?</a:t>
            </a:r>
            <a:r>
              <a:rPr lang="es-ES" b="0" i="0" u="none" strike="noStrike" kern="100" baseline="0" dirty="0">
                <a:solidFill>
                  <a:srgbClr val="0F4761"/>
                </a:solidFill>
                <a:latin typeface="Century Gothic" panose="020B0502020202020204" pitchFamily="34" charset="0"/>
              </a:rPr>
              <a:t> Que la información sea Máquina-leíble (para análisis de datos) y Humanos-accesible (para personas con discapacidad).</a:t>
            </a:r>
          </a:p>
          <a:p>
            <a:pPr marL="457200" marR="0" lvl="1" indent="0" algn="just" rtl="0">
              <a:buNone/>
            </a:pPr>
            <a:r>
              <a:rPr lang="es-ES" b="1" i="0" u="none" strike="noStrike" kern="100" baseline="0" dirty="0">
                <a:solidFill>
                  <a:schemeClr val="accent5">
                    <a:lumMod val="50000"/>
                  </a:schemeClr>
                </a:solidFill>
                <a:latin typeface="Century Gothic" panose="020B0502020202020204" pitchFamily="34" charset="0"/>
              </a:rPr>
              <a:t>La ley con la programación y los formatos de datos (CSV, JSON vs. PDF estático).</a:t>
            </a:r>
          </a:p>
        </p:txBody>
      </p:sp>
    </p:spTree>
    <p:extLst>
      <p:ext uri="{BB962C8B-B14F-4D97-AF65-F5344CB8AC3E}">
        <p14:creationId xmlns:p14="http://schemas.microsoft.com/office/powerpoint/2010/main" val="2800566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78AB59-C83C-3668-DBEB-1FFA9457C7AD}"/>
              </a:ext>
            </a:extLst>
          </p:cNvPr>
          <p:cNvSpPr>
            <a:spLocks noGrp="1"/>
          </p:cNvSpPr>
          <p:nvPr>
            <p:ph type="title"/>
          </p:nvPr>
        </p:nvSpPr>
        <p:spPr>
          <a:xfrm>
            <a:off x="838200" y="365126"/>
            <a:ext cx="10515600" cy="1163872"/>
          </a:xfrm>
        </p:spPr>
        <p:txBody>
          <a:bodyPr>
            <a:normAutofit fontScale="90000"/>
          </a:bodyPr>
          <a:lstStyle/>
          <a:p>
            <a:pPr marR="0" algn="ctr" rtl="0"/>
            <a:r>
              <a:rPr lang="es-ES" b="0" i="0" u="none" strike="noStrike" kern="100" baseline="0" dirty="0">
                <a:solidFill>
                  <a:schemeClr val="bg1">
                    <a:lumMod val="65000"/>
                  </a:schemeClr>
                </a:solidFill>
                <a:latin typeface="Century Gothic" panose="020B0502020202020204" pitchFamily="34" charset="0"/>
              </a:rPr>
              <a:t>D8:</a:t>
            </a:r>
            <a:r>
              <a:rPr lang="es-ES" b="0" i="0" u="none" strike="noStrike" kern="100" baseline="0" dirty="0">
                <a:solidFill>
                  <a:srgbClr val="0F4761"/>
                </a:solidFill>
                <a:latin typeface="Century Gothic" panose="020B0502020202020204" pitchFamily="34" charset="0"/>
              </a:rPr>
              <a:t> Pregunta de Cierre</a:t>
            </a:r>
            <a:br>
              <a:rPr lang="es-ES" b="0" i="0" u="none" strike="noStrike" kern="100" baseline="0" dirty="0">
                <a:solidFill>
                  <a:srgbClr val="0F4761"/>
                </a:solidFill>
                <a:latin typeface="Century Gothic" panose="020B0502020202020204" pitchFamily="34" charset="0"/>
              </a:rPr>
            </a:br>
            <a:r>
              <a:rPr lang="es-ES" b="0" i="0" u="none" strike="noStrike" kern="100" baseline="0" dirty="0">
                <a:solidFill>
                  <a:srgbClr val="FF0000"/>
                </a:solidFill>
                <a:latin typeface="Century Gothic" panose="020B0502020202020204" pitchFamily="34" charset="0"/>
              </a:rPr>
              <a:t>(Tarea para Clase 2)</a:t>
            </a:r>
          </a:p>
        </p:txBody>
      </p:sp>
      <p:sp>
        <p:nvSpPr>
          <p:cNvPr id="3" name="Marcador de texto 2">
            <a:extLst>
              <a:ext uri="{FF2B5EF4-FFF2-40B4-BE49-F238E27FC236}">
                <a16:creationId xmlns:a16="http://schemas.microsoft.com/office/drawing/2014/main" id="{5DF200BF-9421-5FC1-4DA4-F9D55C9DD94B}"/>
              </a:ext>
            </a:extLst>
          </p:cNvPr>
          <p:cNvSpPr>
            <a:spLocks noGrp="1"/>
          </p:cNvSpPr>
          <p:nvPr>
            <p:ph type="body" idx="1"/>
          </p:nvPr>
        </p:nvSpPr>
        <p:spPr>
          <a:xfrm>
            <a:off x="509667" y="1690688"/>
            <a:ext cx="11287592" cy="4802187"/>
          </a:xfrm>
        </p:spPr>
        <p:txBody>
          <a:bodyPr>
            <a:normAutofit lnSpcReduction="10000"/>
          </a:bodyPr>
          <a:lstStyle/>
          <a:p>
            <a:pPr marR="0" lvl="0" algn="just" rtl="0"/>
            <a:r>
              <a:rPr lang="es-ES" b="1" i="0" u="none" strike="noStrike" kern="100" baseline="0" dirty="0">
                <a:solidFill>
                  <a:srgbClr val="0F4761"/>
                </a:solidFill>
                <a:latin typeface="Century Gothic" panose="020B0502020202020204" pitchFamily="34" charset="0"/>
              </a:rPr>
              <a:t>Título:</a:t>
            </a:r>
            <a:r>
              <a:rPr lang="es-ES" b="0" i="0" u="none" strike="noStrike" kern="100" baseline="0" dirty="0">
                <a:solidFill>
                  <a:srgbClr val="0F4761"/>
                </a:solidFill>
                <a:latin typeface="Century Gothic" panose="020B0502020202020204" pitchFamily="34" charset="0"/>
              </a:rPr>
              <a:t> Conclusión y Tarea Práctica</a:t>
            </a:r>
          </a:p>
          <a:p>
            <a:pPr marR="0" lvl="0" algn="just" rtl="0"/>
            <a:r>
              <a:rPr lang="es-ES" b="1" i="0" u="none" strike="noStrike" kern="100" baseline="0" dirty="0">
                <a:solidFill>
                  <a:srgbClr val="0F4761"/>
                </a:solidFill>
                <a:latin typeface="Century Gothic" panose="020B0502020202020204" pitchFamily="34" charset="0"/>
              </a:rPr>
              <a:t>Reflexión Final:</a:t>
            </a:r>
            <a:r>
              <a:rPr lang="es-ES" b="0" i="0" u="none" strike="noStrike" kern="100" baseline="0" dirty="0">
                <a:solidFill>
                  <a:srgbClr val="0F4761"/>
                </a:solidFill>
                <a:latin typeface="Century Gothic" panose="020B0502020202020204" pitchFamily="34" charset="0"/>
              </a:rPr>
              <a:t> La LGTAIP nos da las reglas. Las TIC son el campo de batalla. Un abogado en informática debe ser experto en ambos para exigir el derecho.</a:t>
            </a:r>
          </a:p>
          <a:p>
            <a:pPr marR="0" lvl="0" algn="just" rtl="0"/>
            <a:r>
              <a:rPr lang="es-ES" b="1" i="0" u="none" strike="noStrike" kern="100" baseline="0" dirty="0">
                <a:solidFill>
                  <a:srgbClr val="FF0000"/>
                </a:solidFill>
                <a:latin typeface="Century Gothic" panose="020B0502020202020204" pitchFamily="34" charset="0"/>
              </a:rPr>
              <a:t>TAREA Práctica:</a:t>
            </a:r>
            <a:r>
              <a:rPr lang="es-ES" b="0" i="0" u="none" strike="noStrike" kern="100" baseline="0" dirty="0">
                <a:solidFill>
                  <a:srgbClr val="FF0000"/>
                </a:solidFill>
                <a:latin typeface="Century Gothic" panose="020B0502020202020204" pitchFamily="34" charset="0"/>
              </a:rPr>
              <a:t> Acceder a la PNT. Ubicar el SIPOT de un Sujeto Obligado y encontrar la información del Directorio (Art. 70, Fracc. X) y los Sueldos (Art. 70, Fracc. VIII) y el Periódico Oficial del Estado de Oaxaca.</a:t>
            </a:r>
          </a:p>
          <a:p>
            <a:pPr marR="0" lvl="0" algn="just" rtl="0"/>
            <a:r>
              <a:rPr lang="es-ES" b="1" i="0" u="none" strike="noStrike" kern="100" baseline="0" dirty="0">
                <a:solidFill>
                  <a:srgbClr val="0F4761"/>
                </a:solidFill>
                <a:latin typeface="Century Gothic" panose="020B0502020202020204" pitchFamily="34" charset="0"/>
              </a:rPr>
              <a:t>Pregunta a Responder:</a:t>
            </a:r>
            <a:r>
              <a:rPr lang="es-ES" b="0" i="0" u="none" strike="noStrike" kern="100" baseline="0" dirty="0">
                <a:solidFill>
                  <a:srgbClr val="0F4761"/>
                </a:solidFill>
                <a:latin typeface="Century Gothic" panose="020B0502020202020204" pitchFamily="34" charset="0"/>
              </a:rPr>
              <a:t> ¿En qué formato están los datos (PDF, Excel, otro)? ¿Son fácilmente usables para crear una base de datos?</a:t>
            </a:r>
          </a:p>
          <a:p>
            <a:pPr marL="457200" marR="0" lvl="1" indent="0" algn="ctr" rtl="0">
              <a:buNone/>
            </a:pPr>
            <a:r>
              <a:rPr lang="es-ES" b="1" i="0" u="none" strike="noStrike" kern="100" baseline="0" dirty="0">
                <a:solidFill>
                  <a:schemeClr val="accent5">
                    <a:lumMod val="50000"/>
                  </a:schemeClr>
                </a:solidFill>
                <a:latin typeface="Century Gothic" panose="020B0502020202020204" pitchFamily="34" charset="0"/>
              </a:rPr>
              <a:t>La tecnología revela la transparencia o la opacidad.</a:t>
            </a:r>
          </a:p>
        </p:txBody>
      </p:sp>
    </p:spTree>
    <p:extLst>
      <p:ext uri="{BB962C8B-B14F-4D97-AF65-F5344CB8AC3E}">
        <p14:creationId xmlns:p14="http://schemas.microsoft.com/office/powerpoint/2010/main" val="2930791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200" y="1424064"/>
            <a:ext cx="10515600" cy="4348163"/>
          </a:xfrm>
          <a:ln w="57150">
            <a:solidFill>
              <a:schemeClr val="accent1"/>
            </a:solidFill>
          </a:ln>
        </p:spPr>
        <p:txBody>
          <a:bodyPr anchor="ctr">
            <a:normAutofit/>
          </a:bodyPr>
          <a:lstStyle/>
          <a:p>
            <a:pPr marL="0" indent="0" algn="ctr">
              <a:buNone/>
            </a:pPr>
            <a:r>
              <a:rPr lang="es-MX" sz="7200" dirty="0">
                <a:latin typeface="Century Gothic" panose="020B0502020202020204" pitchFamily="34" charset="0"/>
              </a:rPr>
              <a:t>REFLEXIONES</a:t>
            </a:r>
          </a:p>
        </p:txBody>
      </p:sp>
    </p:spTree>
    <p:extLst>
      <p:ext uri="{BB962C8B-B14F-4D97-AF65-F5344CB8AC3E}">
        <p14:creationId xmlns:p14="http://schemas.microsoft.com/office/powerpoint/2010/main" val="3028749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719529" y="344774"/>
            <a:ext cx="11062740" cy="5891134"/>
          </a:xfrm>
        </p:spPr>
        <p:txBody>
          <a:bodyPr anchor="ctr">
            <a:normAutofit/>
          </a:bodyPr>
          <a:lstStyle/>
          <a:p>
            <a:pPr marL="0" indent="0" algn="just">
              <a:buNone/>
            </a:pPr>
            <a:r>
              <a:rPr lang="es-MX" b="1" dirty="0">
                <a:latin typeface="Century Gothic" panose="020B0502020202020204" pitchFamily="34" charset="0"/>
              </a:rPr>
              <a:t>Reflexión 1</a:t>
            </a:r>
          </a:p>
          <a:p>
            <a:pPr marL="0" indent="0" algn="just">
              <a:buNone/>
            </a:pPr>
            <a:endParaRPr lang="es-MX" b="1" dirty="0">
              <a:latin typeface="Century Gothic" panose="020B0502020202020204" pitchFamily="34" charset="0"/>
            </a:endParaRPr>
          </a:p>
          <a:p>
            <a:pPr marL="0" indent="0" algn="just">
              <a:buNone/>
            </a:pPr>
            <a:r>
              <a:rPr lang="es-ES" b="1" dirty="0">
                <a:latin typeface="Century Gothic" panose="020B0502020202020204" pitchFamily="34" charset="0"/>
              </a:rPr>
              <a:t>El "Ajuste Razonable" Digital (Art. 3, Fracc. I):</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Reflexión: </a:t>
            </a:r>
            <a:r>
              <a:rPr lang="es-ES" dirty="0">
                <a:latin typeface="Century Gothic" panose="020B0502020202020204" pitchFamily="34" charset="0"/>
              </a:rPr>
              <a:t>La ley obliga a que la información sea accesible para grupos vulnerables (p.ej., personas con discapacidad visual). Si la PNT de una dependencia no cumple con los estándares WCAG (</a:t>
            </a:r>
            <a:r>
              <a:rPr lang="es-ES" i="1" dirty="0">
                <a:latin typeface="Century Gothic" panose="020B0502020202020204" pitchFamily="34" charset="0"/>
              </a:rPr>
              <a:t>Web Content </a:t>
            </a:r>
            <a:r>
              <a:rPr lang="es-ES" i="1" dirty="0" err="1">
                <a:latin typeface="Century Gothic" panose="020B0502020202020204" pitchFamily="34" charset="0"/>
              </a:rPr>
              <a:t>Accessibility</a:t>
            </a:r>
            <a:r>
              <a:rPr lang="es-ES" i="1" dirty="0">
                <a:latin typeface="Century Gothic" panose="020B0502020202020204" pitchFamily="34" charset="0"/>
              </a:rPr>
              <a:t> </a:t>
            </a:r>
            <a:r>
              <a:rPr lang="es-ES" i="1" dirty="0" err="1">
                <a:latin typeface="Century Gothic" panose="020B0502020202020204" pitchFamily="34" charset="0"/>
              </a:rPr>
              <a:t>Guidelines</a:t>
            </a:r>
            <a:r>
              <a:rPr lang="es-ES" dirty="0">
                <a:latin typeface="Century Gothic" panose="020B0502020202020204" pitchFamily="34" charset="0"/>
              </a:rPr>
              <a:t>) o si los documentos no están etiquetados para ser leídos por </a:t>
            </a:r>
            <a:r>
              <a:rPr lang="es-ES" i="1" dirty="0">
                <a:latin typeface="Century Gothic" panose="020B0502020202020204" pitchFamily="34" charset="0"/>
              </a:rPr>
              <a:t>software</a:t>
            </a:r>
            <a:r>
              <a:rPr lang="es-ES" dirty="0">
                <a:latin typeface="Century Gothic" panose="020B0502020202020204" pitchFamily="34" charset="0"/>
              </a:rPr>
              <a:t>, se está violando la LGTAIP por omisión tecnológica. El jurista debe litigar la accesibilidad.</a:t>
            </a:r>
          </a:p>
        </p:txBody>
      </p:sp>
    </p:spTree>
    <p:extLst>
      <p:ext uri="{BB962C8B-B14F-4D97-AF65-F5344CB8AC3E}">
        <p14:creationId xmlns:p14="http://schemas.microsoft.com/office/powerpoint/2010/main" val="11165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Reflexión 2</a:t>
            </a:r>
          </a:p>
          <a:p>
            <a:pPr marL="0" indent="0" algn="just">
              <a:buNone/>
            </a:pPr>
            <a:endParaRPr lang="es-ES" dirty="0">
              <a:latin typeface="Century Gothic" panose="020B0502020202020204" pitchFamily="34" charset="0"/>
            </a:endParaRPr>
          </a:p>
          <a:p>
            <a:pPr marL="0" indent="0" algn="just">
              <a:buNone/>
            </a:pPr>
            <a:r>
              <a:rPr lang="es-ES" b="1" dirty="0">
                <a:latin typeface="Century Gothic" panose="020B0502020202020204" pitchFamily="34" charset="0"/>
              </a:rPr>
              <a:t>El Caso del PDF Escaneado (La Falsa Transparencia):</a:t>
            </a:r>
            <a:endParaRPr lang="es-ES" dirty="0">
              <a:latin typeface="Century Gothic" panose="020B0502020202020204" pitchFamily="34" charset="0"/>
            </a:endParaRPr>
          </a:p>
          <a:p>
            <a:pPr marL="0" indent="0" algn="just">
              <a:buNone/>
            </a:pPr>
            <a:r>
              <a:rPr lang="es-ES" b="1" dirty="0">
                <a:latin typeface="Century Gothic" panose="020B0502020202020204" pitchFamily="34" charset="0"/>
              </a:rPr>
              <a:t>Reflexión:</a:t>
            </a:r>
            <a:r>
              <a:rPr lang="es-ES" dirty="0">
                <a:latin typeface="Century Gothic" panose="020B0502020202020204" pitchFamily="34" charset="0"/>
              </a:rPr>
              <a:t> Es común que los sujetos obligados publiquen la lista de contratos o el presupuesto como un </a:t>
            </a:r>
            <a:r>
              <a:rPr lang="es-ES" b="1" dirty="0">
                <a:latin typeface="Century Gothic" panose="020B0502020202020204" pitchFamily="34" charset="0"/>
              </a:rPr>
              <a:t>PDF escaneado, no seleccionable</a:t>
            </a:r>
            <a:r>
              <a:rPr lang="es-ES" dirty="0">
                <a:latin typeface="Century Gothic" panose="020B0502020202020204" pitchFamily="34" charset="0"/>
              </a:rPr>
              <a:t>. Esto cumple formalmente con subir un "documento", pero viola el espíritu de los </a:t>
            </a:r>
            <a:r>
              <a:rPr lang="es-ES" b="1" dirty="0">
                <a:latin typeface="Century Gothic" panose="020B0502020202020204" pitchFamily="34" charset="0"/>
              </a:rPr>
              <a:t>Datos Abiertos</a:t>
            </a:r>
            <a:r>
              <a:rPr lang="es-ES" dirty="0">
                <a:latin typeface="Century Gothic" panose="020B0502020202020204" pitchFamily="34" charset="0"/>
              </a:rPr>
              <a:t> y hace imposible el análisis masivo de la información. El abogado informático debe argumentar que el formato no es el adecuado para el ejercicio del derecho.</a:t>
            </a:r>
          </a:p>
        </p:txBody>
      </p:sp>
    </p:spTree>
    <p:extLst>
      <p:ext uri="{BB962C8B-B14F-4D97-AF65-F5344CB8AC3E}">
        <p14:creationId xmlns:p14="http://schemas.microsoft.com/office/powerpoint/2010/main" val="1426334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Reflexión 3</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Transparencia Proactiva vs. Solicitud (El Fideicomiso COVID): </a:t>
            </a:r>
          </a:p>
          <a:p>
            <a:pPr marL="0" indent="0" algn="just">
              <a:buNone/>
            </a:pPr>
            <a:r>
              <a:rPr lang="es-ES" b="1" dirty="0">
                <a:latin typeface="Century Gothic" panose="020B0502020202020204" pitchFamily="34" charset="0"/>
              </a:rPr>
              <a:t>Reflexión:</a:t>
            </a:r>
            <a:r>
              <a:rPr lang="es-ES" dirty="0">
                <a:latin typeface="Century Gothic" panose="020B0502020202020204" pitchFamily="34" charset="0"/>
              </a:rPr>
              <a:t> Durante la pandemia, se crearon fideicomisos o fondos especiales. Aunque la ley obliga a publicar su información de oficio (Transparencia Proactiva), los ciudadanos tuvieron que recurrir al SISI (Solicitudes) para obtener detalles. Este es un ejemplo de cómo la autoridad prefiere la opacidad pasiva, obligando al ciudadano a invertir tiempo y esfuerzo, aun cuando el gasto de recursos públicos debería ser público automáticamente.</a:t>
            </a:r>
            <a:endParaRPr lang="es-MX" dirty="0">
              <a:latin typeface="Century Gothic" panose="020B0502020202020204" pitchFamily="34" charset="0"/>
            </a:endParaRPr>
          </a:p>
        </p:txBody>
      </p:sp>
    </p:spTree>
    <p:extLst>
      <p:ext uri="{BB962C8B-B14F-4D97-AF65-F5344CB8AC3E}">
        <p14:creationId xmlns:p14="http://schemas.microsoft.com/office/powerpoint/2010/main" val="493580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lnSpcReduction="10000"/>
          </a:bodyPr>
          <a:lstStyle/>
          <a:p>
            <a:pPr marL="0" indent="0" algn="just">
              <a:buNone/>
            </a:pPr>
            <a:r>
              <a:rPr lang="es-MX" b="1" dirty="0">
                <a:latin typeface="Century Gothic" panose="020B0502020202020204" pitchFamily="34" charset="0"/>
              </a:rPr>
              <a:t>Reflexión 4</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La Interconexión LGTAIP y Datos Personales:</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Reflexión:</a:t>
            </a:r>
            <a:r>
              <a:rPr lang="es-ES" dirty="0">
                <a:latin typeface="Century Gothic" panose="020B0502020202020204" pitchFamily="34" charset="0"/>
              </a:rPr>
              <a:t> La LGTAIP y la Ley General de Protección de Datos Personales en Posesión de Sujetos Obligados (LGPDPPSO) son dos caras de la misma moneda. Un sujeto obligado debe transparentar el uso de los recursos (LGTAIP), pero al hacerlo, debe testar (eliminar) los datos personales (LGPDPPSO).</a:t>
            </a:r>
          </a:p>
          <a:p>
            <a:pPr marL="0" indent="0" algn="just">
              <a:buNone/>
            </a:pPr>
            <a:endParaRPr lang="es-ES" dirty="0">
              <a:latin typeface="Century Gothic" panose="020B0502020202020204" pitchFamily="34" charset="0"/>
            </a:endParaRPr>
          </a:p>
          <a:p>
            <a:pPr marL="0" indent="0" algn="just">
              <a:buNone/>
            </a:pPr>
            <a:r>
              <a:rPr lang="es-ES" dirty="0">
                <a:latin typeface="Century Gothic" panose="020B0502020202020204" pitchFamily="34" charset="0"/>
              </a:rPr>
              <a:t>El litigio se da en la línea delgada: </a:t>
            </a:r>
            <a:r>
              <a:rPr lang="es-ES" b="1" dirty="0">
                <a:latin typeface="Century Gothic" panose="020B0502020202020204" pitchFamily="34" charset="0"/>
              </a:rPr>
              <a:t>¿</a:t>
            </a:r>
            <a:r>
              <a:rPr lang="es-ES" dirty="0">
                <a:latin typeface="Century Gothic" panose="020B0502020202020204" pitchFamily="34" charset="0"/>
              </a:rPr>
              <a:t>Se reservó información vital o se protegieron datos personales legítimamente</a:t>
            </a:r>
            <a:r>
              <a:rPr lang="es-ES" b="1" dirty="0">
                <a:latin typeface="Century Gothic" panose="020B0502020202020204" pitchFamily="34" charset="0"/>
              </a:rPr>
              <a:t>?</a:t>
            </a:r>
            <a:r>
              <a:rPr lang="es-ES" dirty="0">
                <a:latin typeface="Century Gothic" panose="020B0502020202020204" pitchFamily="34" charset="0"/>
              </a:rPr>
              <a:t> El experto en informática debe distinguir entre un dato personal y un dato público.</a:t>
            </a:r>
            <a:endParaRPr lang="es-MX" dirty="0">
              <a:latin typeface="Century Gothic" panose="020B0502020202020204" pitchFamily="34" charset="0"/>
            </a:endParaRPr>
          </a:p>
        </p:txBody>
      </p:sp>
    </p:spTree>
    <p:extLst>
      <p:ext uri="{BB962C8B-B14F-4D97-AF65-F5344CB8AC3E}">
        <p14:creationId xmlns:p14="http://schemas.microsoft.com/office/powerpoint/2010/main" val="1004503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Reflexión 5</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El Reto de la Estandarización de la PNT:</a:t>
            </a:r>
          </a:p>
          <a:p>
            <a:pPr marL="0" indent="0" algn="just">
              <a:buNone/>
            </a:pPr>
            <a:r>
              <a:rPr lang="es-ES" b="1" dirty="0">
                <a:latin typeface="Century Gothic" panose="020B0502020202020204" pitchFamily="34" charset="0"/>
              </a:rPr>
              <a:t>Reflexión:</a:t>
            </a:r>
            <a:r>
              <a:rPr lang="es-ES" dirty="0">
                <a:latin typeface="Century Gothic" panose="020B0502020202020204" pitchFamily="34" charset="0"/>
              </a:rPr>
              <a:t> La PNT exige datos en estructuras uniformes (tablas, campos). Sin embargo, la cultura burocrática varía. Si un municipio no tiene la capacidad técnica para subir su información, la PNT se convierte en un catálogo incompleto. </a:t>
            </a:r>
          </a:p>
          <a:p>
            <a:pPr marL="0" indent="0" algn="just">
              <a:buNone/>
            </a:pPr>
            <a:endParaRPr lang="es-ES" dirty="0">
              <a:latin typeface="Century Gothic" panose="020B0502020202020204" pitchFamily="34" charset="0"/>
            </a:endParaRPr>
          </a:p>
          <a:p>
            <a:pPr marL="0" indent="0" algn="just">
              <a:buNone/>
            </a:pPr>
            <a:r>
              <a:rPr lang="es-ES" dirty="0">
                <a:latin typeface="Century Gothic" panose="020B0502020202020204" pitchFamily="34" charset="0"/>
              </a:rPr>
              <a:t>Este es un problema de gobernanza tecnológica que el INAI constantemente busca resolver mediante lineamientos técnicos.</a:t>
            </a:r>
            <a:endParaRPr lang="es-MX" dirty="0">
              <a:latin typeface="Century Gothic" panose="020B0502020202020204" pitchFamily="34" charset="0"/>
            </a:endParaRPr>
          </a:p>
        </p:txBody>
      </p:sp>
    </p:spTree>
    <p:extLst>
      <p:ext uri="{BB962C8B-B14F-4D97-AF65-F5344CB8AC3E}">
        <p14:creationId xmlns:p14="http://schemas.microsoft.com/office/powerpoint/2010/main" val="134374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Reflexión 6</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Litigio Estratégico y Corrupción (El "Gran Cheque"):</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Reflexión:</a:t>
            </a:r>
            <a:r>
              <a:rPr lang="es-ES" dirty="0">
                <a:latin typeface="Century Gothic" panose="020B0502020202020204" pitchFamily="34" charset="0"/>
              </a:rPr>
              <a:t> Organizaciones civiles usan el DAI para investigar actos de corrupción. Por ejemplo, al solicitar la información de una gran licitación o un contrato de obra pública y cruzar esos datos con otras fuentes, pueden detectar sobreprecios o redes de empresas fachada. La LGTAIP se convierte así en una herramienta de auditoría ciudadana impulsada por el análisis de datos.</a:t>
            </a:r>
            <a:endParaRPr lang="es-MX" dirty="0">
              <a:latin typeface="Century Gothic" panose="020B0502020202020204" pitchFamily="34" charset="0"/>
            </a:endParaRPr>
          </a:p>
        </p:txBody>
      </p:sp>
    </p:spTree>
    <p:extLst>
      <p:ext uri="{BB962C8B-B14F-4D97-AF65-F5344CB8AC3E}">
        <p14:creationId xmlns:p14="http://schemas.microsoft.com/office/powerpoint/2010/main" val="2769850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200" y="1253331"/>
            <a:ext cx="10515600" cy="4351338"/>
          </a:xfrm>
          <a:ln w="57150">
            <a:solidFill>
              <a:schemeClr val="accent1"/>
            </a:solidFill>
          </a:ln>
        </p:spPr>
        <p:txBody>
          <a:bodyPr anchor="ctr">
            <a:normAutofit/>
          </a:bodyPr>
          <a:lstStyle/>
          <a:p>
            <a:pPr marL="0" indent="0" algn="ctr">
              <a:buNone/>
            </a:pPr>
            <a:r>
              <a:rPr lang="es-ES" sz="7200" dirty="0">
                <a:latin typeface="Century Gothic" panose="020B0502020202020204" pitchFamily="34" charset="0"/>
              </a:rPr>
              <a:t>Críticas de Expertos Académicos y Políticos</a:t>
            </a:r>
            <a:endParaRPr lang="es-MX" sz="7200" dirty="0">
              <a:latin typeface="Century Gothic" panose="020B0502020202020204" pitchFamily="34" charset="0"/>
            </a:endParaRPr>
          </a:p>
        </p:txBody>
      </p:sp>
    </p:spTree>
    <p:extLst>
      <p:ext uri="{BB962C8B-B14F-4D97-AF65-F5344CB8AC3E}">
        <p14:creationId xmlns:p14="http://schemas.microsoft.com/office/powerpoint/2010/main" val="15795971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Crítica 1</a:t>
            </a:r>
          </a:p>
          <a:p>
            <a:pPr marL="0" indent="0" algn="just">
              <a:buNone/>
            </a:pPr>
            <a:endParaRPr lang="es-ES" b="1" dirty="0">
              <a:latin typeface="Century Gothic" panose="020B0502020202020204" pitchFamily="34" charset="0"/>
            </a:endParaRPr>
          </a:p>
          <a:p>
            <a:pPr marL="0" indent="0" algn="just">
              <a:buNone/>
            </a:pPr>
            <a:r>
              <a:rPr lang="es-ES" dirty="0">
                <a:latin typeface="Century Gothic" panose="020B0502020202020204" pitchFamily="34" charset="0"/>
              </a:rPr>
              <a:t>Jacqueline </a:t>
            </a:r>
            <a:r>
              <a:rPr lang="es-ES" dirty="0" err="1">
                <a:latin typeface="Century Gothic" panose="020B0502020202020204" pitchFamily="34" charset="0"/>
              </a:rPr>
              <a:t>Peschard</a:t>
            </a:r>
            <a:r>
              <a:rPr lang="es-ES" dirty="0">
                <a:latin typeface="Century Gothic" panose="020B0502020202020204" pitchFamily="34" charset="0"/>
              </a:rPr>
              <a:t> (Académica y Ex-Comisionada Presidenta del IFAI/INAI):</a:t>
            </a:r>
          </a:p>
          <a:p>
            <a:pPr marL="0" indent="0" algn="just">
              <a:buNone/>
            </a:pPr>
            <a:r>
              <a:rPr lang="es-ES" b="1" dirty="0">
                <a:latin typeface="Century Gothic" panose="020B0502020202020204" pitchFamily="34" charset="0"/>
              </a:rPr>
              <a:t>Crítica:</a:t>
            </a:r>
            <a:r>
              <a:rPr lang="es-ES" dirty="0">
                <a:latin typeface="Century Gothic" panose="020B0502020202020204" pitchFamily="34" charset="0"/>
              </a:rPr>
              <a:t> "El gran reto en México no es la ley, sino la cultura de la discrecionalidad en la burocracia. </a:t>
            </a:r>
            <a:r>
              <a:rPr lang="es-ES" b="1" dirty="0">
                <a:highlight>
                  <a:srgbClr val="FFFF00"/>
                </a:highlight>
                <a:latin typeface="Century Gothic" panose="020B0502020202020204" pitchFamily="34" charset="0"/>
              </a:rPr>
              <a:t>La LGTAIP puede ser muy robusta, pero si las autoridades no tienen una convicción profunda, buscarán todas las vías posibles (</a:t>
            </a:r>
            <a:r>
              <a:rPr lang="es-ES" b="1" dirty="0" err="1">
                <a:highlight>
                  <a:srgbClr val="FFFF00"/>
                </a:highlight>
                <a:latin typeface="Century Gothic" panose="020B0502020202020204" pitchFamily="34" charset="0"/>
              </a:rPr>
              <a:t>sobreclasificación</a:t>
            </a:r>
            <a:r>
              <a:rPr lang="es-ES" b="1" dirty="0">
                <a:highlight>
                  <a:srgbClr val="FFFF00"/>
                </a:highlight>
                <a:latin typeface="Century Gothic" panose="020B0502020202020204" pitchFamily="34" charset="0"/>
              </a:rPr>
              <a:t> o formatos inútiles) para evadir su cumplimiento. La transparencia es ante todo una batalla política y cultural</a:t>
            </a:r>
            <a:r>
              <a:rPr lang="es-ES" dirty="0">
                <a:latin typeface="Century Gothic" panose="020B0502020202020204" pitchFamily="34" charset="0"/>
              </a:rPr>
              <a:t>."</a:t>
            </a:r>
            <a:endParaRPr lang="es-MX" dirty="0">
              <a:latin typeface="Century Gothic" panose="020B0502020202020204" pitchFamily="34" charset="0"/>
            </a:endParaRPr>
          </a:p>
        </p:txBody>
      </p:sp>
    </p:spTree>
    <p:extLst>
      <p:ext uri="{BB962C8B-B14F-4D97-AF65-F5344CB8AC3E}">
        <p14:creationId xmlns:p14="http://schemas.microsoft.com/office/powerpoint/2010/main" val="1534099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Crítica 2</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Sergio López Ayllón (Académico y Ex-Director del CIDE):Crítica:</a:t>
            </a:r>
          </a:p>
          <a:p>
            <a:pPr marL="0" indent="0" algn="just">
              <a:buNone/>
            </a:pPr>
            <a:endParaRPr lang="es-ES" b="1" dirty="0">
              <a:latin typeface="Century Gothic" panose="020B0502020202020204" pitchFamily="34" charset="0"/>
            </a:endParaRPr>
          </a:p>
          <a:p>
            <a:pPr marL="0" indent="0" algn="just">
              <a:buNone/>
            </a:pPr>
            <a:r>
              <a:rPr lang="es-ES" dirty="0">
                <a:latin typeface="Century Gothic" panose="020B0502020202020204" pitchFamily="34" charset="0"/>
              </a:rPr>
              <a:t>"La LGTAIP centraliza mucho en la Plataforma Nacional de Transparencia (PNT), lo cual es bueno para la homologación, pero malo si la PNT falla en su diseño o si se utiliza la excusa de la falta de capacidad técnica de los sujetos obligados para justificar la opacidad. La verdadera innovación de la ley debe ser la interoperabilidad de los datos, no solo su publicación."</a:t>
            </a:r>
          </a:p>
        </p:txBody>
      </p:sp>
    </p:spTree>
    <p:extLst>
      <p:ext uri="{BB962C8B-B14F-4D97-AF65-F5344CB8AC3E}">
        <p14:creationId xmlns:p14="http://schemas.microsoft.com/office/powerpoint/2010/main" val="3600079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Crítica 3</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Maite Azuela (Activista y Analista Política):</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Crítica:</a:t>
            </a:r>
            <a:r>
              <a:rPr lang="es-ES" dirty="0">
                <a:latin typeface="Century Gothic" panose="020B0502020202020204" pitchFamily="34" charset="0"/>
              </a:rPr>
              <a:t> "El acceso a la información se diluye en la cantidad y mala calidad de los datos. La autoridad se escuda en 'cumplir' subiendo miles de documentos ininteligibles o en formatos no procesables. La ley necesita ir más allá del cuánto se publica y enfocarse en el cómo: la información debe ser útil, accesible y con valor público para que la rendición de cuentas sea real."</a:t>
            </a:r>
          </a:p>
        </p:txBody>
      </p:sp>
    </p:spTree>
    <p:extLst>
      <p:ext uri="{BB962C8B-B14F-4D97-AF65-F5344CB8AC3E}">
        <p14:creationId xmlns:p14="http://schemas.microsoft.com/office/powerpoint/2010/main" val="151871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CE5118C2-FD46-6E54-0490-C9C75A6327E4}"/>
              </a:ext>
            </a:extLst>
          </p:cNvPr>
          <p:cNvSpPr>
            <a:spLocks noGrp="1"/>
          </p:cNvSpPr>
          <p:nvPr>
            <p:ph type="body" idx="1"/>
          </p:nvPr>
        </p:nvSpPr>
        <p:spPr>
          <a:xfrm>
            <a:off x="838199" y="344774"/>
            <a:ext cx="10944069" cy="5832189"/>
          </a:xfrm>
        </p:spPr>
        <p:txBody>
          <a:bodyPr anchor="ctr">
            <a:normAutofit/>
          </a:bodyPr>
          <a:lstStyle/>
          <a:p>
            <a:pPr marL="0" indent="0" algn="just">
              <a:buNone/>
            </a:pPr>
            <a:r>
              <a:rPr lang="es-MX" b="1" dirty="0">
                <a:latin typeface="Century Gothic" panose="020B0502020202020204" pitchFamily="34" charset="0"/>
              </a:rPr>
              <a:t>Crítica 4</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Jorge Islas López (Experto Constitucionalista y Académico UNAM):</a:t>
            </a:r>
          </a:p>
          <a:p>
            <a:pPr marL="0" indent="0" algn="just">
              <a:buNone/>
            </a:pPr>
            <a:endParaRPr lang="es-ES" b="1" dirty="0">
              <a:latin typeface="Century Gothic" panose="020B0502020202020204" pitchFamily="34" charset="0"/>
            </a:endParaRPr>
          </a:p>
          <a:p>
            <a:pPr marL="0" indent="0" algn="just">
              <a:buNone/>
            </a:pPr>
            <a:r>
              <a:rPr lang="es-ES" b="1" dirty="0">
                <a:latin typeface="Century Gothic" panose="020B0502020202020204" pitchFamily="34" charset="0"/>
              </a:rPr>
              <a:t>Crítica: </a:t>
            </a:r>
            <a:r>
              <a:rPr lang="es-ES" dirty="0">
                <a:latin typeface="Century Gothic" panose="020B0502020202020204" pitchFamily="34" charset="0"/>
              </a:rPr>
              <a:t>"El problema más grave es la fragilidad institucional de los órganos garantes, en particular el INAI. Cuando se ataca o se debilita a la institución, el derecho de acceso se vuelve vulnerable. La ley es una garantía, pero requiere de un órgano autónomo y fuerte para defender al ciudadano frente a la resistencia del Estado a ser transparente. Sin institución, la ley es letra muerta."</a:t>
            </a:r>
          </a:p>
        </p:txBody>
      </p:sp>
    </p:spTree>
    <p:extLst>
      <p:ext uri="{BB962C8B-B14F-4D97-AF65-F5344CB8AC3E}">
        <p14:creationId xmlns:p14="http://schemas.microsoft.com/office/powerpoint/2010/main" val="20438914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B4ECA3B2-CB77-3FFA-6053-7DF52F88CE22}"/>
              </a:ext>
            </a:extLst>
          </p:cNvPr>
          <p:cNvSpPr>
            <a:spLocks noGrp="1"/>
          </p:cNvSpPr>
          <p:nvPr>
            <p:ph type="body" idx="1"/>
          </p:nvPr>
        </p:nvSpPr>
        <p:spPr>
          <a:xfrm>
            <a:off x="374753" y="314793"/>
            <a:ext cx="11437495" cy="6220918"/>
          </a:xfrm>
          <a:solidFill>
            <a:schemeClr val="bg1">
              <a:lumMod val="85000"/>
            </a:schemeClr>
          </a:solidFill>
          <a:ln w="38100">
            <a:solidFill>
              <a:schemeClr val="accent1"/>
            </a:solidFill>
          </a:ln>
        </p:spPr>
        <p:txBody>
          <a:bodyPr anchor="ctr">
            <a:normAutofit/>
          </a:bodyPr>
          <a:lstStyle/>
          <a:p>
            <a:pPr marL="514350" indent="-514350" algn="just">
              <a:buFont typeface="+mj-lt"/>
              <a:buAutoNum type="arabicPeriod"/>
            </a:pPr>
            <a:r>
              <a:rPr lang="es-ES" i="0" u="none" strike="noStrike" kern="100" baseline="0" dirty="0">
                <a:solidFill>
                  <a:schemeClr val="accent4">
                    <a:lumMod val="50000"/>
                  </a:schemeClr>
                </a:solidFill>
                <a:latin typeface="Century Gothic" panose="020B0502020202020204" pitchFamily="34" charset="0"/>
              </a:rPr>
              <a:t>TAREA Práctica (Indicada con anterioridad en esta misma clase): </a:t>
            </a:r>
            <a:r>
              <a:rPr lang="es-ES" b="1" i="0" u="none" strike="noStrike" kern="100" baseline="0" dirty="0">
                <a:solidFill>
                  <a:schemeClr val="accent4">
                    <a:lumMod val="50000"/>
                  </a:schemeClr>
                </a:solidFill>
                <a:latin typeface="Century Gothic" panose="020B0502020202020204" pitchFamily="34" charset="0"/>
              </a:rPr>
              <a:t>Acceder a la PNT. Ubicar el SIPOT de un Sujeto Obligado y encontrar la información del Directorio (Art. 70, Fracc. X) y los Sueldos (Art. 70, Fracc. VIII) y consulta el Periódico Oficial del Estado de Oaxaca de fecha 24 de octubre de 2025, </a:t>
            </a:r>
            <a:r>
              <a:rPr lang="es-ES" i="0" u="none" strike="noStrike" kern="100" baseline="0" dirty="0">
                <a:solidFill>
                  <a:schemeClr val="accent4">
                    <a:lumMod val="50000"/>
                  </a:schemeClr>
                </a:solidFill>
                <a:latin typeface="Century Gothic" panose="020B0502020202020204" pitchFamily="34" charset="0"/>
              </a:rPr>
              <a:t>páginas 1 y 2</a:t>
            </a:r>
            <a:r>
              <a:rPr lang="es-ES" b="1" i="0" u="none" strike="noStrike" kern="100" baseline="0" dirty="0">
                <a:solidFill>
                  <a:schemeClr val="accent4">
                    <a:lumMod val="50000"/>
                  </a:schemeClr>
                </a:solidFill>
                <a:latin typeface="Century Gothic" panose="020B0502020202020204" pitchFamily="34" charset="0"/>
              </a:rPr>
              <a:t>.</a:t>
            </a:r>
          </a:p>
          <a:p>
            <a:pPr marL="514350" indent="-514350" algn="just">
              <a:buFont typeface="+mj-lt"/>
              <a:buAutoNum type="arabicPeriod"/>
            </a:pPr>
            <a:endParaRPr lang="es-ES" i="0" u="none" strike="noStrike" kern="100" baseline="0" dirty="0">
              <a:solidFill>
                <a:schemeClr val="accent4">
                  <a:lumMod val="50000"/>
                </a:schemeClr>
              </a:solidFill>
              <a:latin typeface="Century Gothic" panose="020B0502020202020204" pitchFamily="34" charset="0"/>
            </a:endParaRPr>
          </a:p>
          <a:p>
            <a:pPr marL="514350" indent="-514350" algn="just">
              <a:buFont typeface="+mj-lt"/>
              <a:buAutoNum type="arabicPeriod"/>
            </a:pPr>
            <a:r>
              <a:rPr lang="es-ES" kern="100" dirty="0">
                <a:solidFill>
                  <a:schemeClr val="accent4">
                    <a:lumMod val="50000"/>
                  </a:schemeClr>
                </a:solidFill>
                <a:latin typeface="Century Gothic" panose="020B0502020202020204" pitchFamily="34" charset="0"/>
              </a:rPr>
              <a:t>Informe de Lectura del documento base, mismo formato, identificando los conceptos clave.</a:t>
            </a:r>
          </a:p>
          <a:p>
            <a:pPr marL="514350" indent="-514350" algn="just">
              <a:buFont typeface="+mj-lt"/>
              <a:buAutoNum type="arabicPeriod"/>
            </a:pPr>
            <a:endParaRPr lang="es-ES" i="0" u="none" strike="noStrike" kern="100" baseline="0" dirty="0">
              <a:solidFill>
                <a:schemeClr val="accent4">
                  <a:lumMod val="50000"/>
                </a:schemeClr>
              </a:solidFill>
              <a:latin typeface="Century Gothic" panose="020B0502020202020204" pitchFamily="34" charset="0"/>
            </a:endParaRPr>
          </a:p>
          <a:p>
            <a:pPr marL="514350" indent="-514350" algn="just">
              <a:buFont typeface="+mj-lt"/>
              <a:buAutoNum type="arabicPeriod"/>
            </a:pPr>
            <a:r>
              <a:rPr lang="es-ES" kern="100" dirty="0">
                <a:solidFill>
                  <a:schemeClr val="accent4">
                    <a:lumMod val="50000"/>
                  </a:schemeClr>
                </a:solidFill>
                <a:latin typeface="Century Gothic" panose="020B0502020202020204" pitchFamily="34" charset="0"/>
              </a:rPr>
              <a:t>Los recursos (art. 144 a 190) de la LGTAIP</a:t>
            </a:r>
          </a:p>
          <a:p>
            <a:pPr marL="514350" indent="-514350" algn="just">
              <a:buFont typeface="+mj-lt"/>
              <a:buAutoNum type="arabicPeriod"/>
            </a:pPr>
            <a:endParaRPr lang="es-ES" kern="100" dirty="0">
              <a:solidFill>
                <a:schemeClr val="accent4">
                  <a:lumMod val="50000"/>
                </a:schemeClr>
              </a:solidFill>
              <a:latin typeface="Century Gothic" panose="020B0502020202020204" pitchFamily="34" charset="0"/>
            </a:endParaRPr>
          </a:p>
          <a:p>
            <a:pPr marL="514350" indent="-514350" algn="just">
              <a:buFont typeface="+mj-lt"/>
              <a:buAutoNum type="arabicPeriod"/>
            </a:pPr>
            <a:r>
              <a:rPr lang="es-ES" i="0" u="none" strike="noStrike" kern="100" baseline="0" dirty="0">
                <a:solidFill>
                  <a:schemeClr val="accent4">
                    <a:lumMod val="50000"/>
                  </a:schemeClr>
                </a:solidFill>
                <a:latin typeface="Century Gothic" panose="020B0502020202020204" pitchFamily="34" charset="0"/>
              </a:rPr>
              <a:t>Representación </a:t>
            </a:r>
            <a:r>
              <a:rPr lang="es-ES" kern="100" dirty="0">
                <a:solidFill>
                  <a:schemeClr val="accent4">
                    <a:lumMod val="50000"/>
                  </a:schemeClr>
                </a:solidFill>
                <a:latin typeface="Century Gothic" panose="020B0502020202020204" pitchFamily="34" charset="0"/>
              </a:rPr>
              <a:t>esquematizada de la LGTAIP</a:t>
            </a:r>
            <a:endParaRPr lang="es-ES" i="0" u="none" strike="noStrike" kern="100" baseline="0" dirty="0">
              <a:solidFill>
                <a:schemeClr val="accent4">
                  <a:lumMod val="50000"/>
                </a:schemeClr>
              </a:solidFill>
              <a:latin typeface="Century Gothic" panose="020B0502020202020204" pitchFamily="34" charset="0"/>
            </a:endParaRPr>
          </a:p>
        </p:txBody>
      </p:sp>
    </p:spTree>
    <p:extLst>
      <p:ext uri="{BB962C8B-B14F-4D97-AF65-F5344CB8AC3E}">
        <p14:creationId xmlns:p14="http://schemas.microsoft.com/office/powerpoint/2010/main" val="198045481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27.10.25 Diapos LUNES</Template>
  <TotalTime>135</TotalTime>
  <Words>2043</Words>
  <Application>Microsoft Office PowerPoint</Application>
  <PresentationFormat>Panorámica</PresentationFormat>
  <Paragraphs>115</Paragraphs>
  <Slides>22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Aptos</vt:lpstr>
      <vt:lpstr>Aptos Display</vt:lpstr>
      <vt:lpstr>Arial</vt:lpstr>
      <vt:lpstr>Century Gothic</vt:lpstr>
      <vt:lpstr>Tema de Office</vt:lpstr>
      <vt:lpstr>Presentación de PowerPoint</vt:lpstr>
      <vt:lpstr>D1. Fundamento y Rol del Jurista Informático: La LGTAIP</vt:lpstr>
      <vt:lpstr>D2: La Transparencia como Derecho Humano</vt:lpstr>
      <vt:lpstr>D3: Crítica Académica: La Norma vs. la Realidad</vt:lpstr>
      <vt:lpstr>D4: El Sujeto Obligado en la Era Digital</vt:lpstr>
      <vt:lpstr>D5: El Mecanismo Central: La PNT</vt:lpstr>
      <vt:lpstr>D6: Las Obligaciones de Transparencia Comunes</vt:lpstr>
      <vt:lpstr>D7: Rol del Jurista Informático como Analista</vt:lpstr>
      <vt:lpstr>D8: Pregunta de Cierre (Tarea para Clase 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Propuesta de Diapositivas para la Clase 1 (8 Diapositivas)</dc:title>
  <dc:creator>GERARDO ROBERTO ARAGÓN GONZÁLEZ</dc:creator>
  <cp:lastModifiedBy>GERARDO ROBERTO ARAGÓN GONZÁLEZ</cp:lastModifiedBy>
  <cp:revision>51</cp:revision>
  <dcterms:created xsi:type="dcterms:W3CDTF">2025-10-27T09:58:33Z</dcterms:created>
  <dcterms:modified xsi:type="dcterms:W3CDTF">2025-10-27T23:58:12Z</dcterms:modified>
</cp:coreProperties>
</file>