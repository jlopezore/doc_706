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71" r:id="rId2"/>
    <p:sldId id="256" r:id="rId3"/>
    <p:sldId id="257" r:id="rId4"/>
    <p:sldId id="258" r:id="rId5"/>
    <p:sldId id="270" r:id="rId6"/>
    <p:sldId id="272" r:id="rId7"/>
    <p:sldId id="259" r:id="rId8"/>
    <p:sldId id="260" r:id="rId9"/>
    <p:sldId id="261" r:id="rId10"/>
    <p:sldId id="262" r:id="rId11"/>
    <p:sldId id="263" r:id="rId12"/>
    <p:sldId id="264" r:id="rId13"/>
    <p:sldId id="265" r:id="rId14"/>
    <p:sldId id="266" r:id="rId15"/>
    <p:sldId id="274" r:id="rId16"/>
    <p:sldId id="267" r:id="rId17"/>
    <p:sldId id="268" r:id="rId18"/>
    <p:sldId id="269" r:id="rId19"/>
    <p:sldId id="273" r:id="rId20"/>
    <p:sldId id="275" r:id="rId2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55" autoAdjust="0"/>
    <p:restoredTop sz="94660"/>
  </p:normalViewPr>
  <p:slideViewPr>
    <p:cSldViewPr snapToGrid="0">
      <p:cViewPr varScale="1">
        <p:scale>
          <a:sx n="68" d="100"/>
          <a:sy n="68" d="100"/>
        </p:scale>
        <p:origin x="90" y="78"/>
      </p:cViewPr>
      <p:guideLst/>
    </p:cSldViewPr>
  </p:slideViewPr>
  <p:notesTextViewPr>
    <p:cViewPr>
      <p:scale>
        <a:sx n="1" d="1"/>
        <a:sy n="1" d="1"/>
      </p:scale>
      <p:origin x="0" y="0"/>
    </p:cViewPr>
  </p:notesTextViewPr>
  <p:notesViewPr>
    <p:cSldViewPr snapToGrid="0">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ROBERTO ARAGÓN GONZÁLEZ" userId="08711c7df194d5de" providerId="LiveId" clId="{6E9A4F2D-2F96-4E3A-896B-A43B2D382F73}"/>
    <pc:docChg chg="custSel modSld">
      <pc:chgData name="GERARDO ROBERTO ARAGÓN GONZÁLEZ" userId="08711c7df194d5de" providerId="LiveId" clId="{6E9A4F2D-2F96-4E3A-896B-A43B2D382F73}" dt="2025-10-10T12:39:27.103" v="13" actId="115"/>
      <pc:docMkLst>
        <pc:docMk/>
      </pc:docMkLst>
      <pc:sldChg chg="delSp modSp mod">
        <pc:chgData name="GERARDO ROBERTO ARAGÓN GONZÁLEZ" userId="08711c7df194d5de" providerId="LiveId" clId="{6E9A4F2D-2F96-4E3A-896B-A43B2D382F73}" dt="2025-10-10T12:39:27.103" v="13" actId="115"/>
        <pc:sldMkLst>
          <pc:docMk/>
          <pc:sldMk cId="2126362292" sldId="256"/>
        </pc:sldMkLst>
        <pc:spChg chg="del mod">
          <ac:chgData name="GERARDO ROBERTO ARAGÓN GONZÁLEZ" userId="08711c7df194d5de" providerId="LiveId" clId="{6E9A4F2D-2F96-4E3A-896B-A43B2D382F73}" dt="2025-10-10T12:38:51.439" v="7" actId="21"/>
          <ac:spMkLst>
            <pc:docMk/>
            <pc:sldMk cId="2126362292" sldId="256"/>
            <ac:spMk id="2" creationId="{17E35505-66FB-11CE-01FF-535DFDB24154}"/>
          </ac:spMkLst>
        </pc:spChg>
        <pc:spChg chg="mod">
          <ac:chgData name="GERARDO ROBERTO ARAGÓN GONZÁLEZ" userId="08711c7df194d5de" providerId="LiveId" clId="{6E9A4F2D-2F96-4E3A-896B-A43B2D382F73}" dt="2025-10-10T12:39:27.103" v="13" actId="115"/>
          <ac:spMkLst>
            <pc:docMk/>
            <pc:sldMk cId="2126362292" sldId="256"/>
            <ac:spMk id="3" creationId="{43872946-12A0-7C1F-E089-920EC45287F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44EAE-B545-4B6C-AC66-59F8566E1749}" type="datetimeFigureOut">
              <a:rPr lang="es-MX" smtClean="0"/>
              <a:t>10/10/2025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62F33E-A48E-4BD1-97AD-D51CD317FA7F}" type="slidenum">
              <a:rPr lang="es-MX" smtClean="0"/>
              <a:t>‹Nº›</a:t>
            </a:fld>
            <a:endParaRPr lang="es-MX"/>
          </a:p>
        </p:txBody>
      </p:sp>
    </p:spTree>
    <p:extLst>
      <p:ext uri="{BB962C8B-B14F-4D97-AF65-F5344CB8AC3E}">
        <p14:creationId xmlns:p14="http://schemas.microsoft.com/office/powerpoint/2010/main" val="1919701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BF13AB-244E-DAE8-C999-6867AA50CED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9B1D67F3-1CE8-A0B9-5C8A-190754324F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DD1AC9C6-7222-9DF9-C389-44F015250B9E}"/>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5" name="Marcador de pie de página 4">
            <a:extLst>
              <a:ext uri="{FF2B5EF4-FFF2-40B4-BE49-F238E27FC236}">
                <a16:creationId xmlns:a16="http://schemas.microsoft.com/office/drawing/2014/main" id="{246BA8B0-32A4-64AD-79F4-B638B1FB027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368AEB1-74CF-E127-0408-BB0D37799B23}"/>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1966221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6B69E0-6E76-8C80-E0F7-51C9D7C341F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AEB07AB-4297-B413-ECAF-502E5BBEE1F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F9696EA-BC72-58FB-03D6-D6D8F8A8700C}"/>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5" name="Marcador de pie de página 4">
            <a:extLst>
              <a:ext uri="{FF2B5EF4-FFF2-40B4-BE49-F238E27FC236}">
                <a16:creationId xmlns:a16="http://schemas.microsoft.com/office/drawing/2014/main" id="{4D1DF465-5634-75B1-AD69-224D4784A37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381BB90-E80C-5F6A-F484-063218E02E71}"/>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668164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F71C60-FAD6-F6AD-D823-B5FC1949902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404F6EF-1F87-3FEA-454B-56E43D8378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8F096CD-8B73-747C-4E55-A8530E5D730C}"/>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5" name="Marcador de pie de página 4">
            <a:extLst>
              <a:ext uri="{FF2B5EF4-FFF2-40B4-BE49-F238E27FC236}">
                <a16:creationId xmlns:a16="http://schemas.microsoft.com/office/drawing/2014/main" id="{1264F75E-E443-ECDA-2BA5-88BE1D95E73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E90AE33-FDCF-237C-E909-1DC4D05C0990}"/>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3884077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1434E0-356B-2DCF-3E06-6D35DCD3E5D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603F33C-20C8-B84F-2761-D164C2016E8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09352BF7-449B-96E9-101F-1044D16AAB5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F80CD503-6AFF-4EA4-1556-9EEB45C461C3}"/>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6" name="Marcador de pie de página 5">
            <a:extLst>
              <a:ext uri="{FF2B5EF4-FFF2-40B4-BE49-F238E27FC236}">
                <a16:creationId xmlns:a16="http://schemas.microsoft.com/office/drawing/2014/main" id="{AC107BE1-FC84-AB0B-A85A-C63C803663E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9F40FB-6BE6-CE5A-D169-3C913E731A81}"/>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2860360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3CB744-5008-B07E-D229-7243AB6CBB0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8BBE5C0-A696-4459-9BAC-A80C24C748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FBA0EE-29F9-CF29-9856-9EC04287587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EE855F3D-ED6A-057D-14B2-F0ACB00C88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490AF8B-47AD-E1C4-A736-E442526E30A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F784F4CF-5BC1-0776-1985-4A2774B554FD}"/>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8" name="Marcador de pie de página 7">
            <a:extLst>
              <a:ext uri="{FF2B5EF4-FFF2-40B4-BE49-F238E27FC236}">
                <a16:creationId xmlns:a16="http://schemas.microsoft.com/office/drawing/2014/main" id="{4881D356-EF88-B859-00B5-FD8DFE62874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CB2EC26E-1897-054D-5B33-B0F8FC1BB72B}"/>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479248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4A58F3-9B15-0A06-E053-F52DFD38132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DDD3C8D-92A3-CBB1-2D12-7CBE1B175F2A}"/>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4" name="Marcador de pie de página 3">
            <a:extLst>
              <a:ext uri="{FF2B5EF4-FFF2-40B4-BE49-F238E27FC236}">
                <a16:creationId xmlns:a16="http://schemas.microsoft.com/office/drawing/2014/main" id="{DA55DCE8-D0FF-C146-FB2A-921E7AAA8542}"/>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7634BECF-31B4-2B14-3339-B18D7777EC15}"/>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3503542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5F40D17-2C87-7774-1FD1-E91301BC4BCF}"/>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3" name="Marcador de pie de página 2">
            <a:extLst>
              <a:ext uri="{FF2B5EF4-FFF2-40B4-BE49-F238E27FC236}">
                <a16:creationId xmlns:a16="http://schemas.microsoft.com/office/drawing/2014/main" id="{FFC12290-0178-D52E-897D-AF18C905D0C5}"/>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FB459ED-ADA7-E9E4-9AD6-16D2913315E4}"/>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1947275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30CA66-CB3C-C717-FC53-E159558442C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9EDAA0B-71DF-A67C-43B7-8163608012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201BC2B-34E5-C93E-2A88-AC5E0D6CA9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1AD6CF6-836F-12FC-F0BD-BDBE9CF4609C}"/>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6" name="Marcador de pie de página 5">
            <a:extLst>
              <a:ext uri="{FF2B5EF4-FFF2-40B4-BE49-F238E27FC236}">
                <a16:creationId xmlns:a16="http://schemas.microsoft.com/office/drawing/2014/main" id="{42E6D7FE-358A-2B04-F029-B440087ABDC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7334F3D-9E73-FEB8-534B-AC2FCFEC3594}"/>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2778643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F6EEC-99F4-7632-C302-65C16BFDC61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786DA428-EE3E-7004-B35A-107581F256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MX"/>
          </a:p>
        </p:txBody>
      </p:sp>
      <p:sp>
        <p:nvSpPr>
          <p:cNvPr id="4" name="Marcador de texto 3">
            <a:extLst>
              <a:ext uri="{FF2B5EF4-FFF2-40B4-BE49-F238E27FC236}">
                <a16:creationId xmlns:a16="http://schemas.microsoft.com/office/drawing/2014/main" id="{A68CD041-05E9-B274-50DB-044F0AAE9C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3C40B81-799D-05C1-D4EC-315B16A79B4E}"/>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6" name="Marcador de pie de página 5">
            <a:extLst>
              <a:ext uri="{FF2B5EF4-FFF2-40B4-BE49-F238E27FC236}">
                <a16:creationId xmlns:a16="http://schemas.microsoft.com/office/drawing/2014/main" id="{37A280DD-BCCD-1CFF-FEE1-F7F03C30D6F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DADCE2F-BBC1-056A-DE54-8C7CE5F42B21}"/>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3814783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7EE326-0B59-1C74-F86C-FC42DAF97C5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7A41FE0-5C42-DB5D-2833-BFE9186786C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0F55578-6014-EE61-2E18-2710EAF39185}"/>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5" name="Marcador de pie de página 4">
            <a:extLst>
              <a:ext uri="{FF2B5EF4-FFF2-40B4-BE49-F238E27FC236}">
                <a16:creationId xmlns:a16="http://schemas.microsoft.com/office/drawing/2014/main" id="{8034C81B-304E-4C95-1424-CB778DE6EB6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D198BDB-AA5F-783C-81ED-1A2511D46CD7}"/>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337954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12F3B17-7EB1-01A7-A467-7C697C3CA94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C9D578B-95FA-36A8-AC6A-4F0ABB12A9C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6625056-1562-5F58-38B9-24F8DE32B4D8}"/>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5" name="Marcador de pie de página 4">
            <a:extLst>
              <a:ext uri="{FF2B5EF4-FFF2-40B4-BE49-F238E27FC236}">
                <a16:creationId xmlns:a16="http://schemas.microsoft.com/office/drawing/2014/main" id="{38F11C13-DF80-5528-EE84-68A5AE5A515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E37179B-F2B4-DA87-28A1-6C7BDEA6FAC7}"/>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270587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ítulo y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37CA5F-3344-951F-DFF4-BDB5A091704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BC48D5F-FEFC-3718-DACA-9D63F4E63A92}"/>
              </a:ext>
            </a:extLst>
          </p:cNvPr>
          <p:cNvSpPr>
            <a:spLocks noGrp="1"/>
          </p:cNvSpPr>
          <p:nvPr>
            <p:ph type="body"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2226BA5-7F94-D0DB-CDA1-A923766863F3}"/>
              </a:ext>
            </a:extLst>
          </p:cNvPr>
          <p:cNvSpPr>
            <a:spLocks noGrp="1"/>
          </p:cNvSpPr>
          <p:nvPr>
            <p:ph type="dt" sz="half" idx="10"/>
          </p:nvPr>
        </p:nvSpPr>
        <p:spPr/>
        <p:txBody>
          <a:bodyPr/>
          <a:lstStyle/>
          <a:p>
            <a:fld id="{017075EC-62ED-47DB-BA6A-391379384E7E}" type="datetimeFigureOut">
              <a:rPr lang="es-MX" smtClean="0"/>
              <a:t>10/10/2025</a:t>
            </a:fld>
            <a:endParaRPr lang="es-MX"/>
          </a:p>
        </p:txBody>
      </p:sp>
      <p:sp>
        <p:nvSpPr>
          <p:cNvPr id="5" name="Marcador de pie de página 4">
            <a:extLst>
              <a:ext uri="{FF2B5EF4-FFF2-40B4-BE49-F238E27FC236}">
                <a16:creationId xmlns:a16="http://schemas.microsoft.com/office/drawing/2014/main" id="{68CB5CF9-815B-5F17-98CE-83FAE99857E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9B0D103-26E3-D6F6-743D-AAB077AC7DAC}"/>
              </a:ext>
            </a:extLst>
          </p:cNvPr>
          <p:cNvSpPr>
            <a:spLocks noGrp="1"/>
          </p:cNvSpPr>
          <p:nvPr>
            <p:ph type="sldNum" sz="quarter" idx="12"/>
          </p:nvPr>
        </p:nvSpPr>
        <p:spPr/>
        <p:txBody>
          <a:bodyPr/>
          <a:lstStyle/>
          <a:p>
            <a:fld id="{C1DD2B0A-DC7F-4B7A-BB49-4DF784CBF706}" type="slidenum">
              <a:rPr lang="es-MX" smtClean="0"/>
              <a:t>‹Nº›</a:t>
            </a:fld>
            <a:endParaRPr lang="es-MX"/>
          </a:p>
        </p:txBody>
      </p:sp>
    </p:spTree>
    <p:extLst>
      <p:ext uri="{BB962C8B-B14F-4D97-AF65-F5344CB8AC3E}">
        <p14:creationId xmlns:p14="http://schemas.microsoft.com/office/powerpoint/2010/main" val="1800131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E1A5FBF-4E8E-38E4-325B-356A693F6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DEBE952-AC19-DC34-0698-A6353F9B6F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F063374-34B8-A455-1FE2-9B57774E57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7075EC-62ED-47DB-BA6A-391379384E7E}" type="datetimeFigureOut">
              <a:rPr lang="es-MX" smtClean="0"/>
              <a:t>10/10/2025</a:t>
            </a:fld>
            <a:endParaRPr lang="es-MX"/>
          </a:p>
        </p:txBody>
      </p:sp>
      <p:sp>
        <p:nvSpPr>
          <p:cNvPr id="5" name="Marcador de pie de página 4">
            <a:extLst>
              <a:ext uri="{FF2B5EF4-FFF2-40B4-BE49-F238E27FC236}">
                <a16:creationId xmlns:a16="http://schemas.microsoft.com/office/drawing/2014/main" id="{B1D6212E-F835-DEF9-2A39-4453037509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E00E3145-6854-D004-90F6-FA2588BFE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DD2B0A-DC7F-4B7A-BB49-4DF784CBF706}" type="slidenum">
              <a:rPr lang="es-MX" smtClean="0"/>
              <a:t>‹Nº›</a:t>
            </a:fld>
            <a:endParaRPr lang="es-MX"/>
          </a:p>
        </p:txBody>
      </p:sp>
    </p:spTree>
    <p:extLst>
      <p:ext uri="{BB962C8B-B14F-4D97-AF65-F5344CB8AC3E}">
        <p14:creationId xmlns:p14="http://schemas.microsoft.com/office/powerpoint/2010/main" val="2517965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hyperlink" Target="https://www.infobae.com/mexico/2024/10/03/diputado-desairado-por-sheinbaum-propuso-anadir-la-palabra-presidenta-a-la-constitucion-aunque-mc-buscaba-presentar-la-iniciativa/" TargetMode="Externa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1A475E1-6013-4289-F991-9966EA264F84}"/>
              </a:ext>
            </a:extLst>
          </p:cNvPr>
          <p:cNvPicPr>
            <a:picLocks noChangeAspect="1"/>
          </p:cNvPicPr>
          <p:nvPr/>
        </p:nvPicPr>
        <p:blipFill>
          <a:blip r:embed="rId2"/>
          <a:stretch>
            <a:fillRect/>
          </a:stretch>
        </p:blipFill>
        <p:spPr>
          <a:xfrm>
            <a:off x="3369850" y="743132"/>
            <a:ext cx="7983950" cy="4923436"/>
          </a:xfrm>
          <a:prstGeom prst="rect">
            <a:avLst/>
          </a:prstGeom>
        </p:spPr>
      </p:pic>
      <p:sp>
        <p:nvSpPr>
          <p:cNvPr id="3" name="Marcador de texto 2">
            <a:extLst>
              <a:ext uri="{FF2B5EF4-FFF2-40B4-BE49-F238E27FC236}">
                <a16:creationId xmlns:a16="http://schemas.microsoft.com/office/drawing/2014/main" id="{38F5FA5F-D5EB-E750-7F6E-7191C7AB247C}"/>
              </a:ext>
            </a:extLst>
          </p:cNvPr>
          <p:cNvSpPr>
            <a:spLocks noGrp="1"/>
          </p:cNvSpPr>
          <p:nvPr>
            <p:ph type="body" idx="1"/>
          </p:nvPr>
        </p:nvSpPr>
        <p:spPr>
          <a:xfrm>
            <a:off x="838200" y="1034321"/>
            <a:ext cx="10515600" cy="5142642"/>
          </a:xfrm>
        </p:spPr>
        <p:txBody>
          <a:bodyPr/>
          <a:lstStyle/>
          <a:p>
            <a:endParaRPr lang="es-MX" dirty="0"/>
          </a:p>
        </p:txBody>
      </p:sp>
      <p:sp>
        <p:nvSpPr>
          <p:cNvPr id="5" name="Rectángulo: esquinas redondeadas 4">
            <a:extLst>
              <a:ext uri="{FF2B5EF4-FFF2-40B4-BE49-F238E27FC236}">
                <a16:creationId xmlns:a16="http://schemas.microsoft.com/office/drawing/2014/main" id="{D18D51BE-C3D8-8AAF-200E-1DE8A95F80B3}"/>
              </a:ext>
            </a:extLst>
          </p:cNvPr>
          <p:cNvSpPr/>
          <p:nvPr/>
        </p:nvSpPr>
        <p:spPr>
          <a:xfrm>
            <a:off x="838200" y="2039743"/>
            <a:ext cx="2999282" cy="335671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3200" dirty="0">
                <a:latin typeface="Century Gothic" panose="020B0502020202020204" pitchFamily="34" charset="0"/>
              </a:rPr>
              <a:t>Diputado de MORENA propone Ley Anti-Memes y redes explotan</a:t>
            </a:r>
          </a:p>
        </p:txBody>
      </p:sp>
    </p:spTree>
    <p:extLst>
      <p:ext uri="{BB962C8B-B14F-4D97-AF65-F5344CB8AC3E}">
        <p14:creationId xmlns:p14="http://schemas.microsoft.com/office/powerpoint/2010/main" val="4119050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43872946-12A0-7C1F-E089-920EC45287F7}"/>
              </a:ext>
            </a:extLst>
          </p:cNvPr>
          <p:cNvSpPr>
            <a:spLocks noGrp="1"/>
          </p:cNvSpPr>
          <p:nvPr>
            <p:ph type="body" idx="1"/>
          </p:nvPr>
        </p:nvSpPr>
        <p:spPr>
          <a:solidFill>
            <a:srgbClr val="C00000"/>
          </a:solidFill>
        </p:spPr>
        <p:txBody>
          <a:bodyPr anchor="ctr">
            <a:normAutofit/>
          </a:bodyPr>
          <a:lstStyle/>
          <a:p>
            <a:pPr marL="0" indent="0" algn="just">
              <a:buNone/>
            </a:pPr>
            <a:r>
              <a:rPr lang="es-ES" sz="3000" b="1" kern="1400" dirty="0">
                <a:solidFill>
                  <a:schemeClr val="bg1"/>
                </a:solidFill>
                <a:latin typeface="Century Gothic" panose="020B0502020202020204" pitchFamily="34" charset="0"/>
                <a:hlinkClick r:id="rId2" tooltip="https://www.infobae.com/mexico/2024/10/03/diputado-desairado-por-sheinbaum-propuso-anadir-la-palabra-presidenta-a-la-constitucion-aunque-mc-buscaba-presentar-la-iniciativa/">
                  <a:extLst>
                    <a:ext uri="{A12FA001-AC4F-418D-AE19-62706E023703}">
                      <ahyp:hlinkClr xmlns:ahyp="http://schemas.microsoft.com/office/drawing/2018/hyperlinkcolor" val="tx"/>
                    </a:ext>
                  </a:extLst>
                </a:hlinkClick>
              </a:rPr>
              <a:t>Armando Corona Arvizu, diputado de Morena</a:t>
            </a:r>
            <a:r>
              <a:rPr lang="es-ES" sz="3000" kern="1400" dirty="0">
                <a:solidFill>
                  <a:schemeClr val="bg1"/>
                </a:solidFill>
                <a:latin typeface="Century Gothic" panose="020B0502020202020204" pitchFamily="34" charset="0"/>
                <a:hlinkClick r:id="rId2" tooltip="https://www.infobae.com/mexico/2024/10/03/diputado-desairado-por-sheinbaum-propuso-anadir-la-palabra-presidenta-a-la-constitucion-aunque-mc-buscaba-presentar-la-iniciativa/">
                  <a:extLst>
                    <a:ext uri="{A12FA001-AC4F-418D-AE19-62706E023703}">
                      <ahyp:hlinkClr xmlns:ahyp="http://schemas.microsoft.com/office/drawing/2018/hyperlinkcolor" val="tx"/>
                    </a:ext>
                  </a:extLst>
                </a:hlinkClick>
              </a:rPr>
              <a:t>, presentó una iniciativa para sancionar hasta con seis años de cárcel y de 300 a 600 días de multa a quien realice </a:t>
            </a:r>
            <a:r>
              <a:rPr lang="es-ES" sz="3000" b="1" kern="1400" dirty="0" err="1">
                <a:solidFill>
                  <a:schemeClr val="bg1"/>
                </a:solidFill>
                <a:latin typeface="Century Gothic" panose="020B0502020202020204" pitchFamily="34" charset="0"/>
                <a:hlinkClick r:id="rId2" tooltip="https://www.infobae.com/mexico/2024/10/03/diputado-desairado-por-sheinbaum-propuso-anadir-la-palabra-presidenta-a-la-constitucion-aunque-mc-buscaba-presentar-la-iniciativa/">
                  <a:extLst>
                    <a:ext uri="{A12FA001-AC4F-418D-AE19-62706E023703}">
                      <ahyp:hlinkClr xmlns:ahyp="http://schemas.microsoft.com/office/drawing/2018/hyperlinkcolor" val="tx"/>
                    </a:ext>
                  </a:extLst>
                </a:hlinkClick>
              </a:rPr>
              <a:t>stickers</a:t>
            </a:r>
            <a:r>
              <a:rPr lang="es-ES" sz="3000" b="1" kern="1400" dirty="0">
                <a:solidFill>
                  <a:schemeClr val="bg1"/>
                </a:solidFill>
                <a:latin typeface="Century Gothic" panose="020B0502020202020204" pitchFamily="34" charset="0"/>
                <a:hlinkClick r:id="rId2" tooltip="https://www.infobae.com/mexico/2024/10/03/diputado-desairado-por-sheinbaum-propuso-anadir-la-palabra-presidenta-a-la-constitucion-aunque-mc-buscaba-presentar-la-iniciativa/">
                  <a:extLst>
                    <a:ext uri="{A12FA001-AC4F-418D-AE19-62706E023703}">
                      <ahyp:hlinkClr xmlns:ahyp="http://schemas.microsoft.com/office/drawing/2018/hyperlinkcolor" val="tx"/>
                    </a:ext>
                  </a:extLst>
                </a:hlinkClick>
              </a:rPr>
              <a:t>, memes y contenido con inteligencia artificial sin autorización de quien aparezca en ellos.</a:t>
            </a:r>
            <a:br>
              <a:rPr lang="es-ES" sz="3000" kern="1400" dirty="0">
                <a:solidFill>
                  <a:schemeClr val="bg1"/>
                </a:solidFill>
                <a:latin typeface="Century Gothic" panose="020B0502020202020204" pitchFamily="34" charset="0"/>
                <a:hlinkClick r:id="rId2" tooltip="https://www.infobae.com/mexico/2024/10/03/diputado-desairado-por-sheinbaum-propuso-anadir-la-palabra-presidenta-a-la-constitucion-aunque-mc-buscaba-presentar-la-iniciativa/">
                  <a:extLst>
                    <a:ext uri="{A12FA001-AC4F-418D-AE19-62706E023703}">
                      <ahyp:hlinkClr xmlns:ahyp="http://schemas.microsoft.com/office/drawing/2018/hyperlinkcolor" val="tx"/>
                    </a:ext>
                  </a:extLst>
                </a:hlinkClick>
              </a:rPr>
            </a:br>
            <a:r>
              <a:rPr lang="es-ES" sz="3000" kern="1400" dirty="0">
                <a:solidFill>
                  <a:schemeClr val="bg1"/>
                </a:solidFill>
                <a:latin typeface="Century Gothic" panose="020B0502020202020204" pitchFamily="34" charset="0"/>
              </a:rPr>
              <a:t>La multa puede superar los 100 mil pesos cuando la víctima sea menor de edad, una persona con discapacidad o</a:t>
            </a:r>
            <a:r>
              <a:rPr lang="es-ES" sz="3000" b="1" kern="1400" dirty="0">
                <a:solidFill>
                  <a:schemeClr val="bg1"/>
                </a:solidFill>
                <a:latin typeface="Century Gothic" panose="020B0502020202020204" pitchFamily="34" charset="0"/>
              </a:rPr>
              <a:t> servidor público en ejercicio de sus funciones.</a:t>
            </a:r>
            <a:endParaRPr lang="es-MX" sz="3000" b="1" kern="1400"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2126362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049FF5-80A2-D751-9C56-04636B767E66}"/>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Un Dilema Mediático Real</a:t>
            </a:r>
          </a:p>
        </p:txBody>
      </p:sp>
      <p:sp>
        <p:nvSpPr>
          <p:cNvPr id="3" name="Marcador de texto 2">
            <a:extLst>
              <a:ext uri="{FF2B5EF4-FFF2-40B4-BE49-F238E27FC236}">
                <a16:creationId xmlns:a16="http://schemas.microsoft.com/office/drawing/2014/main" id="{D465708F-1A21-E926-CD89-6BC351D44D8D}"/>
              </a:ext>
            </a:extLst>
          </p:cNvPr>
          <p:cNvSpPr>
            <a:spLocks noGrp="1"/>
          </p:cNvSpPr>
          <p:nvPr>
            <p:ph type="body" idx="1"/>
          </p:nvPr>
        </p:nvSpPr>
        <p:spPr/>
        <p:txBody>
          <a:bodyPr anchor="ctr"/>
          <a:lstStyle/>
          <a:p>
            <a:pPr marL="0" marR="0" lvl="0" indent="0" algn="ctr" rtl="0">
              <a:buNone/>
            </a:pPr>
            <a:r>
              <a:rPr lang="es-ES" b="0" i="0" u="none" strike="noStrike" kern="100" baseline="0" dirty="0">
                <a:solidFill>
                  <a:srgbClr val="0F4761"/>
                </a:solidFill>
                <a:latin typeface="Century Gothic" panose="020B0502020202020204" pitchFamily="34" charset="0"/>
              </a:rPr>
              <a:t>¿Libertad o Privacidad? 📰⚖️ (Caso de Titular en México)</a:t>
            </a:r>
          </a:p>
          <a:p>
            <a:pPr marR="0" lvl="0" algn="ctr" rtl="0"/>
            <a:endParaRPr lang="es-ES" b="0" i="0" u="none" strike="noStrike" kern="100" baseline="0" dirty="0">
              <a:solidFill>
                <a:srgbClr val="0F4761"/>
              </a:solidFill>
              <a:latin typeface="Century Gothic" panose="020B0502020202020204" pitchFamily="34" charset="0"/>
            </a:endParaRPr>
          </a:p>
          <a:p>
            <a:pPr marL="457200" marR="0" lvl="1" indent="0" algn="ctr" rtl="0">
              <a:buNone/>
            </a:pPr>
            <a:r>
              <a:rPr lang="es-ES" b="0" i="0" u="none" strike="noStrike" kern="100" baseline="0" dirty="0">
                <a:solidFill>
                  <a:srgbClr val="0F4761"/>
                </a:solidFill>
                <a:latin typeface="Century Gothic" panose="020B0502020202020204" pitchFamily="34" charset="0"/>
              </a:rPr>
              <a:t>“</a:t>
            </a:r>
            <a:r>
              <a:rPr lang="es-MX" kern="100" dirty="0">
                <a:solidFill>
                  <a:srgbClr val="0F4761"/>
                </a:solidFill>
                <a:latin typeface="Century Gothic" panose="020B0502020202020204" pitchFamily="34" charset="0"/>
              </a:rPr>
              <a:t>Filtran Detalles Íntimos de Gobernadora</a:t>
            </a:r>
            <a:r>
              <a:rPr lang="es-ES" kern="100" dirty="0">
                <a:solidFill>
                  <a:srgbClr val="0F4761"/>
                </a:solidFill>
                <a:latin typeface="Century Gothic" panose="020B0502020202020204" pitchFamily="34" charset="0"/>
              </a:rPr>
              <a:t>” o “Llegó Beatriz Gutiérrez a España; su hijo estudiará ahí:</a:t>
            </a:r>
          </a:p>
          <a:p>
            <a:pPr marL="457200" marR="0" lvl="1" indent="0" algn="ctr" rtl="0">
              <a:buNone/>
            </a:pPr>
            <a:r>
              <a:rPr lang="es-ES" kern="100" dirty="0">
                <a:solidFill>
                  <a:srgbClr val="0F4761"/>
                </a:solidFill>
                <a:latin typeface="Century Gothic" panose="020B0502020202020204" pitchFamily="34" charset="0"/>
              </a:rPr>
              <a:t>¿</a:t>
            </a:r>
            <a:r>
              <a:rPr lang="es-ES" b="0" i="0" u="none" strike="noStrike" kern="100" baseline="0" dirty="0">
                <a:solidFill>
                  <a:srgbClr val="0F4761"/>
                </a:solidFill>
                <a:latin typeface="Century Gothic" panose="020B0502020202020204" pitchFamily="34" charset="0"/>
              </a:rPr>
              <a:t>Interés Público o Cacería Personal?“</a:t>
            </a:r>
          </a:p>
          <a:p>
            <a:pPr marR="0" lvl="1" algn="ctr" rtl="0"/>
            <a:endParaRPr lang="es-ES" b="0" i="0" u="none" strike="noStrike" kern="100" baseline="0" dirty="0">
              <a:solidFill>
                <a:srgbClr val="0F4761"/>
              </a:solidFill>
              <a:latin typeface="Century Gothic" panose="020B0502020202020204" pitchFamily="34" charset="0"/>
            </a:endParaRPr>
          </a:p>
          <a:p>
            <a:pPr marL="914400" marR="0" lvl="2" indent="0" algn="ctr" rtl="0">
              <a:buNone/>
            </a:pPr>
            <a:r>
              <a:rPr lang="es-ES" b="0" i="1" u="none" strike="noStrike" kern="100" baseline="0" dirty="0">
                <a:solidFill>
                  <a:srgbClr val="0F4761"/>
                </a:solidFill>
                <a:latin typeface="Century Gothic" panose="020B0502020202020204" pitchFamily="34" charset="0"/>
              </a:rPr>
              <a:t>¿Debe el derecho a la información revelar TODO? </a:t>
            </a:r>
          </a:p>
          <a:p>
            <a:pPr marL="914400" marR="0" lvl="2" indent="0" algn="ctr" rtl="0">
              <a:buNone/>
            </a:pPr>
            <a:r>
              <a:rPr lang="es-ES" b="0" i="1" u="none" strike="noStrike" kern="100" baseline="0" dirty="0">
                <a:solidFill>
                  <a:srgbClr val="0F4761"/>
                </a:solidFill>
                <a:latin typeface="Century Gothic" panose="020B0502020202020204" pitchFamily="34" charset="0"/>
              </a:rPr>
              <a:t>¿Qué derechos están chocando aquí?</a:t>
            </a:r>
          </a:p>
          <a:p>
            <a:pPr marL="914400" marR="0" lvl="2" indent="0" algn="ctr" rtl="0">
              <a:buNone/>
            </a:pPr>
            <a:r>
              <a:rPr lang="es-ES" b="0" i="1" u="none" strike="noStrike" kern="100" baseline="0" dirty="0">
                <a:solidFill>
                  <a:srgbClr val="FF0000"/>
                </a:solidFill>
                <a:latin typeface="Century Gothic" panose="020B0502020202020204" pitchFamily="34" charset="0"/>
              </a:rPr>
              <a:t>(Respuesta: Libertad de Expresión vs. Vida Privada/Honra - Interés superior de la niñez)</a:t>
            </a:r>
          </a:p>
        </p:txBody>
      </p:sp>
    </p:spTree>
    <p:extLst>
      <p:ext uri="{BB962C8B-B14F-4D97-AF65-F5344CB8AC3E}">
        <p14:creationId xmlns:p14="http://schemas.microsoft.com/office/powerpoint/2010/main" val="1342528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9F673D-8952-0157-0DAC-4EB5F70BE4FB}"/>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El Desafío: Choque de Titanes</a:t>
            </a:r>
          </a:p>
        </p:txBody>
      </p:sp>
      <p:sp>
        <p:nvSpPr>
          <p:cNvPr id="3" name="Marcador de texto 2">
            <a:extLst>
              <a:ext uri="{FF2B5EF4-FFF2-40B4-BE49-F238E27FC236}">
                <a16:creationId xmlns:a16="http://schemas.microsoft.com/office/drawing/2014/main" id="{4E545127-E5E9-0792-DCE3-19C8D743FFA8}"/>
              </a:ext>
            </a:extLst>
          </p:cNvPr>
          <p:cNvSpPr>
            <a:spLocks noGrp="1"/>
          </p:cNvSpPr>
          <p:nvPr>
            <p:ph type="body" idx="1"/>
          </p:nvPr>
        </p:nvSpPr>
        <p:spPr/>
        <p:txBody>
          <a:bodyPr anchor="ctr"/>
          <a:lstStyle/>
          <a:p>
            <a:pPr marR="0" lvl="0" algn="ctr" rtl="0"/>
            <a:r>
              <a:rPr lang="es-ES" b="0" i="0" u="none" strike="noStrike" kern="100" baseline="0" dirty="0">
                <a:solidFill>
                  <a:srgbClr val="0F4761"/>
                </a:solidFill>
                <a:latin typeface="Century Gothic" panose="020B0502020202020204" pitchFamily="34" charset="0"/>
              </a:rPr>
              <a:t> Derechos Fundamentales en Colisión 💥</a:t>
            </a:r>
          </a:p>
          <a:p>
            <a:pPr marR="0" lvl="0" algn="ctr" rtl="0"/>
            <a:endParaRPr lang="es-ES" b="0" i="0" u="none" strike="noStrike" kern="100" baseline="0" dirty="0">
              <a:solidFill>
                <a:srgbClr val="0F4761"/>
              </a:solidFill>
              <a:latin typeface="Century Gothic" panose="020B0502020202020204" pitchFamily="34" charset="0"/>
            </a:endParaRPr>
          </a:p>
          <a:p>
            <a:pPr marR="0" lvl="1" algn="ctr" rtl="0"/>
            <a:r>
              <a:rPr lang="es-ES" b="0" i="0" u="none" strike="noStrike" kern="100" baseline="0" dirty="0">
                <a:solidFill>
                  <a:srgbClr val="0F4761"/>
                </a:solidFill>
                <a:latin typeface="Century Gothic" panose="020B0502020202020204" pitchFamily="34" charset="0"/>
              </a:rPr>
              <a:t>Analogía: Es como dos coches con derecho de paso que llegan al cruce al mismo tiempo. ¿Cuál sigue?</a:t>
            </a:r>
          </a:p>
          <a:p>
            <a:pPr marR="0" lvl="1" algn="ctr" rtl="0"/>
            <a:endParaRPr lang="es-ES" b="0" i="0" u="none" strike="noStrike" kern="100" baseline="0" dirty="0">
              <a:solidFill>
                <a:srgbClr val="0F4761"/>
              </a:solidFill>
              <a:latin typeface="Century Gothic" panose="020B0502020202020204" pitchFamily="34" charset="0"/>
            </a:endParaRPr>
          </a:p>
          <a:p>
            <a:pPr marR="0" lvl="2" algn="ctr" rtl="0"/>
            <a:r>
              <a:rPr lang="es-ES" b="0" i="1" u="none" strike="noStrike" kern="100" baseline="0" dirty="0">
                <a:solidFill>
                  <a:srgbClr val="0F4761"/>
                </a:solidFill>
                <a:latin typeface="Century Gothic" panose="020B0502020202020204" pitchFamily="34" charset="0"/>
              </a:rPr>
              <a:t>- Los derechos en la Constitución y Tratados NO SIEMPRE armonizan en la práctica.  - A menudo, al aplicar una norma, CHOCAN entre sí.</a:t>
            </a:r>
          </a:p>
        </p:txBody>
      </p:sp>
    </p:spTree>
    <p:extLst>
      <p:ext uri="{BB962C8B-B14F-4D97-AF65-F5344CB8AC3E}">
        <p14:creationId xmlns:p14="http://schemas.microsoft.com/office/powerpoint/2010/main" val="3586747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0E532A89-75B6-69CF-59BD-1BB89B37F43F}"/>
              </a:ext>
            </a:extLst>
          </p:cNvPr>
          <p:cNvSpPr>
            <a:spLocks noGrp="1"/>
          </p:cNvSpPr>
          <p:nvPr>
            <p:ph type="body" idx="1"/>
          </p:nvPr>
        </p:nvSpPr>
        <p:spPr/>
        <p:txBody>
          <a:bodyPr anchor="b"/>
          <a:lstStyle/>
          <a:p>
            <a:pPr marL="0" indent="0">
              <a:buNone/>
            </a:pPr>
            <a:endParaRPr lang="es-MX" dirty="0"/>
          </a:p>
          <a:p>
            <a:pPr marL="0" indent="0">
              <a:buNone/>
            </a:pPr>
            <a:endParaRPr lang="es-MX" dirty="0"/>
          </a:p>
          <a:p>
            <a:pPr marL="0" indent="0">
              <a:buNone/>
            </a:pPr>
            <a:endParaRPr lang="es-MX" dirty="0"/>
          </a:p>
          <a:p>
            <a:pPr marL="0" indent="0">
              <a:buNone/>
            </a:pPr>
            <a:endParaRPr lang="es-MX" dirty="0"/>
          </a:p>
          <a:p>
            <a:pPr marL="0" indent="0" algn="ctr">
              <a:buNone/>
            </a:pPr>
            <a:r>
              <a:rPr lang="es-MX" dirty="0">
                <a:latin typeface="Century Gothic" panose="020B0502020202020204" pitchFamily="34" charset="0"/>
              </a:rPr>
              <a:t>¿Quién es Roberto Alexy?</a:t>
            </a:r>
          </a:p>
          <a:p>
            <a:pPr marL="0" indent="0">
              <a:buNone/>
            </a:pPr>
            <a:endParaRPr lang="es-MX" dirty="0">
              <a:latin typeface="Century Gothic" panose="020B0502020202020204" pitchFamily="34" charset="0"/>
            </a:endParaRPr>
          </a:p>
          <a:p>
            <a:pPr marL="0" indent="0">
              <a:buNone/>
            </a:pPr>
            <a:r>
              <a:rPr lang="es-MX" dirty="0">
                <a:latin typeface="Century Gothic" panose="020B0502020202020204" pitchFamily="34" charset="0"/>
              </a:rPr>
              <a:t>Catedrático y filósofo del Derecho de  la Universidad de Christian-</a:t>
            </a:r>
            <a:r>
              <a:rPr lang="es-MX" dirty="0" err="1">
                <a:latin typeface="Century Gothic" panose="020B0502020202020204" pitchFamily="34" charset="0"/>
              </a:rPr>
              <a:t>Albretch</a:t>
            </a:r>
            <a:r>
              <a:rPr lang="es-MX" dirty="0">
                <a:latin typeface="Century Gothic" panose="020B0502020202020204" pitchFamily="34" charset="0"/>
              </a:rPr>
              <a:t> de Kiel, Alemania.</a:t>
            </a:r>
          </a:p>
        </p:txBody>
      </p:sp>
      <p:pic>
        <p:nvPicPr>
          <p:cNvPr id="4" name="Imagen 3">
            <a:extLst>
              <a:ext uri="{FF2B5EF4-FFF2-40B4-BE49-F238E27FC236}">
                <a16:creationId xmlns:a16="http://schemas.microsoft.com/office/drawing/2014/main" id="{DC31ABDE-DA4B-9D7F-2316-A81C7CE47E96}"/>
              </a:ext>
            </a:extLst>
          </p:cNvPr>
          <p:cNvPicPr>
            <a:picLocks noChangeAspect="1"/>
          </p:cNvPicPr>
          <p:nvPr/>
        </p:nvPicPr>
        <p:blipFill>
          <a:blip r:embed="rId2"/>
          <a:stretch>
            <a:fillRect/>
          </a:stretch>
        </p:blipFill>
        <p:spPr>
          <a:xfrm>
            <a:off x="2349239" y="324644"/>
            <a:ext cx="6534150" cy="3676650"/>
          </a:xfrm>
          <a:prstGeom prst="rect">
            <a:avLst/>
          </a:prstGeom>
        </p:spPr>
      </p:pic>
    </p:spTree>
    <p:extLst>
      <p:ext uri="{BB962C8B-B14F-4D97-AF65-F5344CB8AC3E}">
        <p14:creationId xmlns:p14="http://schemas.microsoft.com/office/powerpoint/2010/main" val="469539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0DE214D-F80D-3E2C-6465-97AF57CE5CE9}"/>
              </a:ext>
            </a:extLst>
          </p:cNvPr>
          <p:cNvSpPr>
            <a:spLocks noGrp="1"/>
          </p:cNvSpPr>
          <p:nvPr>
            <p:ph type="body" idx="1"/>
          </p:nvPr>
        </p:nvSpPr>
        <p:spPr>
          <a:xfrm>
            <a:off x="838200" y="479685"/>
            <a:ext cx="10515600" cy="5697278"/>
          </a:xfrm>
        </p:spPr>
        <p:txBody>
          <a:bodyPr anchor="ctr"/>
          <a:lstStyle/>
          <a:p>
            <a:pPr marL="0" indent="0" algn="just">
              <a:buNone/>
            </a:pPr>
            <a:r>
              <a:rPr lang="es-ES" sz="2400" dirty="0">
                <a:latin typeface="Century Gothic" panose="020B0502020202020204" pitchFamily="34" charset="0"/>
              </a:rPr>
              <a:t>Robert Alexy, en su obra “Tres Escritos sobre Derechos Fundamentales”, </a:t>
            </a:r>
            <a:r>
              <a:rPr lang="es-ES" dirty="0">
                <a:latin typeface="Century Gothic" panose="020B0502020202020204" pitchFamily="34" charset="0"/>
              </a:rPr>
              <a:t>sistematiza e incluso propone soluciones metódicas para enfrentar tensiones jurídicas relacionadas con la colisión de derechos y principios, así como para garantizar que ninguno se anule en favor de otro, en todo caso, que puedan optimizarse con una racionalidad que maximice lo justo de cada parte hasta donde sea posible.</a:t>
            </a:r>
          </a:p>
          <a:p>
            <a:pPr marL="0" indent="0" algn="just">
              <a:buNone/>
            </a:pPr>
            <a:r>
              <a:rPr lang="es-ES" dirty="0">
                <a:latin typeface="Century Gothic" panose="020B0502020202020204" pitchFamily="34" charset="0"/>
              </a:rPr>
              <a:t>Alexy pide que </a:t>
            </a:r>
            <a:r>
              <a:rPr lang="es-ES" b="1" dirty="0">
                <a:latin typeface="Century Gothic" panose="020B0502020202020204" pitchFamily="34" charset="0"/>
              </a:rPr>
              <a:t>se ponderen</a:t>
            </a:r>
            <a:r>
              <a:rPr lang="es-ES" dirty="0">
                <a:latin typeface="Century Gothic" panose="020B0502020202020204" pitchFamily="34" charset="0"/>
              </a:rPr>
              <a:t>, en casos concretos, </a:t>
            </a:r>
            <a:r>
              <a:rPr lang="es-ES" b="1" dirty="0">
                <a:latin typeface="Century Gothic" panose="020B0502020202020204" pitchFamily="34" charset="0"/>
              </a:rPr>
              <a:t>las colisiones, porque esa es la única forma de llevar derechos de la letra a la práctica.</a:t>
            </a:r>
            <a:endParaRPr lang="es-MX" b="1" dirty="0">
              <a:latin typeface="Century Gothic" panose="020B0502020202020204" pitchFamily="34" charset="0"/>
            </a:endParaRPr>
          </a:p>
        </p:txBody>
      </p:sp>
    </p:spTree>
    <p:extLst>
      <p:ext uri="{BB962C8B-B14F-4D97-AF65-F5344CB8AC3E}">
        <p14:creationId xmlns:p14="http://schemas.microsoft.com/office/powerpoint/2010/main" val="2269327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6C88EF-63B4-E9D1-474F-522FC63E7D5D}"/>
              </a:ext>
            </a:extLst>
          </p:cNvPr>
          <p:cNvSpPr>
            <a:spLocks noGrp="1"/>
          </p:cNvSpPr>
          <p:nvPr>
            <p:ph type="title"/>
          </p:nvPr>
        </p:nvSpPr>
        <p:spPr/>
        <p:txBody>
          <a:bodyPr/>
          <a:lstStyle/>
          <a:p>
            <a:pPr marR="0" algn="ctr" rtl="0"/>
            <a:r>
              <a:rPr lang="es-MX" b="0" i="0" u="none" strike="noStrike" kern="100" baseline="0" dirty="0">
                <a:solidFill>
                  <a:srgbClr val="0F4761"/>
                </a:solidFill>
                <a:latin typeface="Century Gothic" panose="020B0502020202020204" pitchFamily="34" charset="0"/>
              </a:rPr>
              <a:t>El Protagonista: Robert Alexy</a:t>
            </a:r>
          </a:p>
        </p:txBody>
      </p:sp>
      <p:sp>
        <p:nvSpPr>
          <p:cNvPr id="3" name="Marcador de texto 2">
            <a:extLst>
              <a:ext uri="{FF2B5EF4-FFF2-40B4-BE49-F238E27FC236}">
                <a16:creationId xmlns:a16="http://schemas.microsoft.com/office/drawing/2014/main" id="{DD93E016-8643-9D7D-4E4A-6838E61127DA}"/>
              </a:ext>
            </a:extLst>
          </p:cNvPr>
          <p:cNvSpPr>
            <a:spLocks noGrp="1"/>
          </p:cNvSpPr>
          <p:nvPr>
            <p:ph type="body" idx="1"/>
          </p:nvPr>
        </p:nvSpPr>
        <p:spPr/>
        <p:txBody>
          <a:bodyPr anchor="ctr"/>
          <a:lstStyle/>
          <a:p>
            <a:pPr marL="0" marR="0" lvl="0" indent="0" algn="ctr" rtl="0">
              <a:buNone/>
            </a:pPr>
            <a:r>
              <a:rPr lang="es-ES" b="0" i="0" u="none" strike="noStrike" kern="100" baseline="0" dirty="0">
                <a:solidFill>
                  <a:srgbClr val="0F4761"/>
                </a:solidFill>
                <a:latin typeface="Century Gothic" panose="020B0502020202020204" pitchFamily="34" charset="0"/>
              </a:rPr>
              <a:t>Alexy: El Ingeniero del Equilibrio ⚖️</a:t>
            </a:r>
          </a:p>
          <a:p>
            <a:pPr marR="0" lvl="0" algn="ctr" rtl="0"/>
            <a:endParaRPr lang="es-ES" b="0" i="0" u="none" strike="noStrike" kern="100" baseline="0" dirty="0">
              <a:solidFill>
                <a:srgbClr val="0F4761"/>
              </a:solidFill>
              <a:latin typeface="Century Gothic" panose="020B0502020202020204" pitchFamily="34" charset="0"/>
            </a:endParaRPr>
          </a:p>
          <a:p>
            <a:pPr marR="0" lvl="1" algn="ctr" rtl="0">
              <a:buFontTx/>
              <a:buChar char="-"/>
            </a:pPr>
            <a:r>
              <a:rPr lang="es-ES" b="0" i="0" u="none" strike="noStrike" kern="100" baseline="0" dirty="0">
                <a:solidFill>
                  <a:srgbClr val="0F4761"/>
                </a:solidFill>
                <a:latin typeface="Century Gothic" panose="020B0502020202020204" pitchFamily="34" charset="0"/>
              </a:rPr>
              <a:t>Robert Alexy sistematiza métodos para enfrentar estas tensiones jurídicas.  - Objetivo: Que NINGÚN derecho anule al otro, sino que se OPTIMICEN.</a:t>
            </a:r>
          </a:p>
          <a:p>
            <a:pPr marR="0" lvl="1" algn="ctr" rtl="0">
              <a:buFontTx/>
              <a:buChar char="-"/>
            </a:pPr>
            <a:endParaRPr lang="es-ES" b="0" i="0" u="none" strike="noStrike" kern="100" baseline="0" dirty="0">
              <a:solidFill>
                <a:srgbClr val="0F4761"/>
              </a:solidFill>
              <a:latin typeface="Century Gothic" panose="020B0502020202020204" pitchFamily="34" charset="0"/>
            </a:endParaRPr>
          </a:p>
          <a:p>
            <a:pPr marL="914400" marR="0" lvl="2" indent="0" algn="ctr" rtl="0">
              <a:buNone/>
            </a:pPr>
            <a:r>
              <a:rPr lang="es-ES" b="0" i="1" u="none" strike="noStrike" kern="100" baseline="0" dirty="0">
                <a:solidFill>
                  <a:srgbClr val="0F4761"/>
                </a:solidFill>
                <a:latin typeface="Century Gothic" panose="020B0502020202020204" pitchFamily="34" charset="0"/>
              </a:rPr>
              <a:t>Concepto Clave: Búsqueda de una racionalidad que maximice lo justo para cada parte.</a:t>
            </a:r>
          </a:p>
        </p:txBody>
      </p:sp>
    </p:spTree>
    <p:extLst>
      <p:ext uri="{BB962C8B-B14F-4D97-AF65-F5344CB8AC3E}">
        <p14:creationId xmlns:p14="http://schemas.microsoft.com/office/powerpoint/2010/main" val="2048030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B20FE3-03B0-4FBE-585E-A03E1E862F39}"/>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La Solución Metódica: Ponderación</a:t>
            </a:r>
          </a:p>
        </p:txBody>
      </p:sp>
      <p:sp>
        <p:nvSpPr>
          <p:cNvPr id="3" name="Marcador de texto 2">
            <a:extLst>
              <a:ext uri="{FF2B5EF4-FFF2-40B4-BE49-F238E27FC236}">
                <a16:creationId xmlns:a16="http://schemas.microsoft.com/office/drawing/2014/main" id="{1078EBAC-F608-50E3-B3E3-26B6906A7D98}"/>
              </a:ext>
            </a:extLst>
          </p:cNvPr>
          <p:cNvSpPr>
            <a:spLocks noGrp="1"/>
          </p:cNvSpPr>
          <p:nvPr>
            <p:ph type="body" idx="1"/>
          </p:nvPr>
        </p:nvSpPr>
        <p:spPr/>
        <p:txBody>
          <a:bodyPr anchor="ctr"/>
          <a:lstStyle/>
          <a:p>
            <a:pPr marR="0" lvl="0" algn="ctr" rtl="0"/>
            <a:r>
              <a:rPr lang="es-ES" b="0" i="0" u="none" strike="noStrike" kern="100" baseline="0" dirty="0">
                <a:solidFill>
                  <a:srgbClr val="0F4761"/>
                </a:solidFill>
                <a:latin typeface="Century Gothic" panose="020B0502020202020204" pitchFamily="34" charset="0"/>
              </a:rPr>
              <a:t>La Única Forma: Ponderar (El Acto de Medir)</a:t>
            </a:r>
          </a:p>
          <a:p>
            <a:pPr marR="0" lvl="0" algn="ctr" rtl="0"/>
            <a:endParaRPr lang="es-ES" b="0" i="0" u="none" strike="noStrike" kern="100" baseline="0" dirty="0">
              <a:solidFill>
                <a:srgbClr val="0F4761"/>
              </a:solidFill>
              <a:latin typeface="Century Gothic" panose="020B0502020202020204" pitchFamily="34" charset="0"/>
            </a:endParaRPr>
          </a:p>
          <a:p>
            <a:pPr marR="0" lvl="1" algn="ctr" rtl="0"/>
            <a:r>
              <a:rPr lang="es-ES" b="0" i="0" u="none" strike="noStrike" kern="100" baseline="0" dirty="0">
                <a:solidFill>
                  <a:srgbClr val="0F4761"/>
                </a:solidFill>
                <a:latin typeface="Century Gothic" panose="020B0502020202020204" pitchFamily="34" charset="0"/>
              </a:rPr>
              <a:t>Analogía: Ponderar es el arte de pesar la importancia de cada derecho en la situación específica.</a:t>
            </a:r>
          </a:p>
          <a:p>
            <a:pPr marR="0" lvl="1" algn="ctr" rtl="0"/>
            <a:endParaRPr lang="es-ES" b="0" i="0" u="none" strike="noStrike" kern="100" baseline="0" dirty="0">
              <a:solidFill>
                <a:srgbClr val="0F4761"/>
              </a:solidFill>
              <a:latin typeface="Century Gothic" panose="020B0502020202020204" pitchFamily="34" charset="0"/>
            </a:endParaRPr>
          </a:p>
          <a:p>
            <a:pPr marR="0" lvl="2" algn="ctr" rtl="0"/>
            <a:r>
              <a:rPr lang="es-ES" b="0" i="1" u="none" strike="noStrike" kern="100" baseline="0" dirty="0">
                <a:solidFill>
                  <a:srgbClr val="0F4761"/>
                </a:solidFill>
                <a:latin typeface="Century Gothic" panose="020B0502020202020204" pitchFamily="34" charset="0"/>
              </a:rPr>
              <a:t>- La colisión debe resolverse mediante ponderación en casos concretos.  - Solo así se lleva el derecho "de la letra a la práctica".</a:t>
            </a:r>
          </a:p>
        </p:txBody>
      </p:sp>
    </p:spTree>
    <p:extLst>
      <p:ext uri="{BB962C8B-B14F-4D97-AF65-F5344CB8AC3E}">
        <p14:creationId xmlns:p14="http://schemas.microsoft.com/office/powerpoint/2010/main" val="1420058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25D85F-B73B-875B-84BA-77B19522D96D}"/>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El Ejemplo Clásico de Colisión</a:t>
            </a:r>
          </a:p>
        </p:txBody>
      </p:sp>
      <p:sp>
        <p:nvSpPr>
          <p:cNvPr id="3" name="Marcador de texto 2">
            <a:extLst>
              <a:ext uri="{FF2B5EF4-FFF2-40B4-BE49-F238E27FC236}">
                <a16:creationId xmlns:a16="http://schemas.microsoft.com/office/drawing/2014/main" id="{45975CC5-C39A-34C1-E769-C44334409264}"/>
              </a:ext>
            </a:extLst>
          </p:cNvPr>
          <p:cNvSpPr>
            <a:spLocks noGrp="1"/>
          </p:cNvSpPr>
          <p:nvPr>
            <p:ph type="body" idx="1"/>
          </p:nvPr>
        </p:nvSpPr>
        <p:spPr/>
        <p:txBody>
          <a:bodyPr anchor="ctr"/>
          <a:lstStyle/>
          <a:p>
            <a:pPr marR="0" lvl="0" algn="ctr" rtl="0"/>
            <a:r>
              <a:rPr lang="es-ES" b="0" i="0" u="none" strike="noStrike" kern="100" baseline="0" dirty="0">
                <a:solidFill>
                  <a:srgbClr val="0F4761"/>
                </a:solidFill>
                <a:latin typeface="Century Gothic" panose="020B0502020202020204" pitchFamily="34" charset="0"/>
              </a:rPr>
              <a:t>Libertad de Expresión vs. Honra y Privacidad</a:t>
            </a:r>
          </a:p>
          <a:p>
            <a:pPr marR="0" lvl="0" algn="ctr" rtl="0"/>
            <a:endParaRPr lang="es-ES" b="0" i="0" u="none" strike="noStrike" kern="100" baseline="0" dirty="0">
              <a:solidFill>
                <a:srgbClr val="0F4761"/>
              </a:solidFill>
              <a:latin typeface="Century Gothic" panose="020B0502020202020204" pitchFamily="34" charset="0"/>
            </a:endParaRPr>
          </a:p>
          <a:p>
            <a:pPr marR="0" lvl="1" algn="ctr" rtl="0"/>
            <a:r>
              <a:rPr lang="es-ES" b="0" i="0" u="none" strike="noStrike" kern="100" baseline="0" dirty="0">
                <a:solidFill>
                  <a:srgbClr val="0F4761"/>
                </a:solidFill>
                <a:latin typeface="Century Gothic" panose="020B0502020202020204" pitchFamily="34" charset="0"/>
              </a:rPr>
              <a:t>Dilema Legal: Ambos derechos están al mismo nivel. La respuesta NUNCA es sencilla.</a:t>
            </a:r>
          </a:p>
          <a:p>
            <a:pPr marR="0" lvl="1" algn="ctr" rtl="0"/>
            <a:endParaRPr lang="es-ES" b="0" i="0" u="none" strike="noStrike" kern="100" baseline="0" dirty="0">
              <a:solidFill>
                <a:srgbClr val="0F4761"/>
              </a:solidFill>
              <a:latin typeface="Century Gothic" panose="020B0502020202020204" pitchFamily="34" charset="0"/>
            </a:endParaRPr>
          </a:p>
          <a:p>
            <a:pPr marR="0" lvl="2" algn="ctr" rtl="0"/>
            <a:r>
              <a:rPr lang="es-ES" b="0" i="1" u="none" strike="noStrike" kern="100" baseline="0" dirty="0">
                <a:solidFill>
                  <a:srgbClr val="0F4761"/>
                </a:solidFill>
                <a:latin typeface="Century Gothic" panose="020B0502020202020204" pitchFamily="34" charset="0"/>
              </a:rPr>
              <a:t>- Artículo 13 CADH: Libertad de buscar, recibir y difundir información.  - Artículo 11 CADH: Derecho al respeto de la honra y a la no injerencia arbitraria en la vida privada.</a:t>
            </a:r>
          </a:p>
        </p:txBody>
      </p:sp>
    </p:spTree>
    <p:extLst>
      <p:ext uri="{BB962C8B-B14F-4D97-AF65-F5344CB8AC3E}">
        <p14:creationId xmlns:p14="http://schemas.microsoft.com/office/powerpoint/2010/main" val="1072994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0A9DDF-C0B2-B7EC-83BC-96A6CF471E96}"/>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¿Qué es un Derecho Fundamental? (La Pregunta de Alexy)</a:t>
            </a:r>
          </a:p>
        </p:txBody>
      </p:sp>
      <p:sp>
        <p:nvSpPr>
          <p:cNvPr id="3" name="Marcador de texto 2">
            <a:extLst>
              <a:ext uri="{FF2B5EF4-FFF2-40B4-BE49-F238E27FC236}">
                <a16:creationId xmlns:a16="http://schemas.microsoft.com/office/drawing/2014/main" id="{2940736F-BE7E-8056-2E35-638C21C31B71}"/>
              </a:ext>
            </a:extLst>
          </p:cNvPr>
          <p:cNvSpPr>
            <a:spLocks noGrp="1"/>
          </p:cNvSpPr>
          <p:nvPr>
            <p:ph type="body" idx="1"/>
          </p:nvPr>
        </p:nvSpPr>
        <p:spPr/>
        <p:txBody>
          <a:bodyPr anchor="ctr"/>
          <a:lstStyle/>
          <a:p>
            <a:pPr marR="0" lvl="0" algn="ctr" rtl="0"/>
            <a:r>
              <a:rPr lang="es-ES" b="0" i="0" u="none" strike="noStrike" kern="100" baseline="0" dirty="0">
                <a:solidFill>
                  <a:srgbClr val="0F4761"/>
                </a:solidFill>
                <a:latin typeface="Century Gothic" panose="020B0502020202020204" pitchFamily="34" charset="0"/>
              </a:rPr>
              <a:t>¿Cómo Reconocer un 'Fundamental'? 🤔</a:t>
            </a:r>
          </a:p>
          <a:p>
            <a:pPr marR="0" lvl="0" algn="ctr" rtl="0"/>
            <a:endParaRPr lang="es-ES" b="0" i="0" u="none" strike="noStrike" kern="100" baseline="0" dirty="0">
              <a:solidFill>
                <a:srgbClr val="0F4761"/>
              </a:solidFill>
              <a:latin typeface="Century Gothic" panose="020B0502020202020204" pitchFamily="34" charset="0"/>
            </a:endParaRPr>
          </a:p>
          <a:p>
            <a:pPr marR="0" lvl="1" algn="ctr" rtl="0"/>
            <a:r>
              <a:rPr lang="es-ES" b="0" i="0" u="none" strike="noStrike" kern="100" baseline="0" dirty="0">
                <a:solidFill>
                  <a:srgbClr val="0F4761"/>
                </a:solidFill>
                <a:latin typeface="Century Gothic" panose="020B0502020202020204" pitchFamily="34" charset="0"/>
              </a:rPr>
              <a:t>Hoy veremos la visión Formal y Material.</a:t>
            </a:r>
          </a:p>
          <a:p>
            <a:pPr marR="0" lvl="1" algn="ctr" rtl="0"/>
            <a:endParaRPr lang="es-ES" b="0" i="0" u="none" strike="noStrike" kern="100" baseline="0" dirty="0">
              <a:solidFill>
                <a:srgbClr val="0F4761"/>
              </a:solidFill>
              <a:latin typeface="Century Gothic" panose="020B0502020202020204" pitchFamily="34" charset="0"/>
            </a:endParaRPr>
          </a:p>
          <a:p>
            <a:pPr marR="0" lvl="2" algn="ctr" rtl="0"/>
            <a:r>
              <a:rPr lang="es-ES" b="0" i="1" u="none" strike="noStrike" kern="100" baseline="0" dirty="0">
                <a:solidFill>
                  <a:srgbClr val="0F4761"/>
                </a:solidFill>
                <a:latin typeface="Century Gothic" panose="020B0502020202020204" pitchFamily="34" charset="0"/>
              </a:rPr>
              <a:t>- Alexy se pregunta: ¿Qué propiedades debe tener un derecho para ser Fundamental?  - Propiedades: Formales, Materiales y Procedimentales.</a:t>
            </a:r>
          </a:p>
        </p:txBody>
      </p:sp>
    </p:spTree>
    <p:extLst>
      <p:ext uri="{BB962C8B-B14F-4D97-AF65-F5344CB8AC3E}">
        <p14:creationId xmlns:p14="http://schemas.microsoft.com/office/powerpoint/2010/main" val="601780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C08F4F-27EE-1A2E-F25B-76DC57ED2DA9}"/>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La Visión Formal (Positiva)</a:t>
            </a:r>
          </a:p>
        </p:txBody>
      </p:sp>
      <p:sp>
        <p:nvSpPr>
          <p:cNvPr id="3" name="Marcador de texto 2">
            <a:extLst>
              <a:ext uri="{FF2B5EF4-FFF2-40B4-BE49-F238E27FC236}">
                <a16:creationId xmlns:a16="http://schemas.microsoft.com/office/drawing/2014/main" id="{C3238A82-D825-4AE1-FBA7-BB19ED0E1EEC}"/>
              </a:ext>
            </a:extLst>
          </p:cNvPr>
          <p:cNvSpPr>
            <a:spLocks noGrp="1"/>
          </p:cNvSpPr>
          <p:nvPr>
            <p:ph type="body" idx="1"/>
          </p:nvPr>
        </p:nvSpPr>
        <p:spPr/>
        <p:txBody>
          <a:bodyPr anchor="ctr"/>
          <a:lstStyle/>
          <a:p>
            <a:pPr marR="0" lvl="0" algn="ctr" rtl="0"/>
            <a:r>
              <a:rPr lang="es-ES" b="0" i="0" u="none" strike="noStrike" kern="100" baseline="0" dirty="0">
                <a:solidFill>
                  <a:srgbClr val="0F4761"/>
                </a:solidFill>
                <a:latin typeface="Century Gothic" panose="020B0502020202020204" pitchFamily="34" charset="0"/>
              </a:rPr>
              <a:t>Concepto Formal: El Sello Oficial ✅</a:t>
            </a:r>
          </a:p>
          <a:p>
            <a:pPr marR="0" lvl="0" algn="ctr" rtl="0"/>
            <a:endParaRPr lang="es-ES" b="0" i="0" u="none" strike="noStrike" kern="100" baseline="0" dirty="0">
              <a:solidFill>
                <a:srgbClr val="0F4761"/>
              </a:solidFill>
              <a:latin typeface="Century Gothic" panose="020B0502020202020204" pitchFamily="34" charset="0"/>
            </a:endParaRPr>
          </a:p>
          <a:p>
            <a:pPr marR="0" lvl="1" algn="ctr" rtl="0"/>
            <a:r>
              <a:rPr lang="es-ES" b="0" i="0" u="none" strike="noStrike" kern="100" baseline="0" dirty="0">
                <a:solidFill>
                  <a:srgbClr val="0F4761"/>
                </a:solidFill>
                <a:latin typeface="Century Gothic" panose="020B0502020202020204" pitchFamily="34" charset="0"/>
              </a:rPr>
              <a:t>Visión de Derecho Positivo.  - Es fundamental si está expresamente aludido como tal en una Constitución o Tratado.</a:t>
            </a:r>
          </a:p>
          <a:p>
            <a:pPr marR="0" lvl="1" algn="ctr" rtl="0"/>
            <a:endParaRPr lang="es-ES" b="0" i="0" u="none" strike="noStrike" kern="100" baseline="0" dirty="0">
              <a:solidFill>
                <a:srgbClr val="0F4761"/>
              </a:solidFill>
              <a:latin typeface="Century Gothic" panose="020B0502020202020204" pitchFamily="34" charset="0"/>
            </a:endParaRPr>
          </a:p>
          <a:p>
            <a:pPr marR="0" lvl="2" algn="ctr" rtl="0"/>
            <a:r>
              <a:rPr lang="es-ES" b="0" i="1" u="none" strike="noStrike" kern="100" baseline="0" dirty="0">
                <a:solidFill>
                  <a:srgbClr val="0F4761"/>
                </a:solidFill>
                <a:latin typeface="Century Gothic" panose="020B0502020202020204" pitchFamily="34" charset="0"/>
              </a:rPr>
              <a:t>Ventaja: Simplicidad. Desventaja: A veces las constituciones incluyen elementos que NO son derechos fundamentales (Ejemplo: status orgánico de diputados).</a:t>
            </a:r>
          </a:p>
        </p:txBody>
      </p:sp>
    </p:spTree>
    <p:extLst>
      <p:ext uri="{BB962C8B-B14F-4D97-AF65-F5344CB8AC3E}">
        <p14:creationId xmlns:p14="http://schemas.microsoft.com/office/powerpoint/2010/main" val="2334925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23A04A-DD2D-9DA7-0177-203749D15396}"/>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La Visión Material (Sustancial)</a:t>
            </a:r>
          </a:p>
        </p:txBody>
      </p:sp>
      <p:sp>
        <p:nvSpPr>
          <p:cNvPr id="3" name="Marcador de texto 2">
            <a:extLst>
              <a:ext uri="{FF2B5EF4-FFF2-40B4-BE49-F238E27FC236}">
                <a16:creationId xmlns:a16="http://schemas.microsoft.com/office/drawing/2014/main" id="{42F855DC-F5EC-75D0-DBE9-C4AC69040C4A}"/>
              </a:ext>
            </a:extLst>
          </p:cNvPr>
          <p:cNvSpPr>
            <a:spLocks noGrp="1"/>
          </p:cNvSpPr>
          <p:nvPr>
            <p:ph type="body" idx="1"/>
          </p:nvPr>
        </p:nvSpPr>
        <p:spPr/>
        <p:txBody>
          <a:bodyPr anchor="ctr"/>
          <a:lstStyle/>
          <a:p>
            <a:pPr marL="0" marR="0" lvl="0" indent="0" algn="ctr" rtl="0">
              <a:buNone/>
            </a:pPr>
            <a:r>
              <a:rPr lang="es-ES" b="0" i="0" u="none" strike="noStrike" kern="100" baseline="0" dirty="0">
                <a:solidFill>
                  <a:srgbClr val="0F4761"/>
                </a:solidFill>
                <a:latin typeface="Century Gothic" panose="020B0502020202020204" pitchFamily="34" charset="0"/>
              </a:rPr>
              <a:t>Concepto Material: La Esencia Humana 👤</a:t>
            </a:r>
          </a:p>
          <a:p>
            <a:pPr marR="0" lvl="0" algn="ctr" rtl="0"/>
            <a:endParaRPr lang="es-ES" b="0" i="0" u="none" strike="noStrike" kern="100" baseline="0" dirty="0">
              <a:solidFill>
                <a:srgbClr val="0F4761"/>
              </a:solidFill>
              <a:latin typeface="Century Gothic" panose="020B0502020202020204" pitchFamily="34" charset="0"/>
            </a:endParaRPr>
          </a:p>
          <a:p>
            <a:pPr marL="457200" marR="0" lvl="1" indent="0" algn="ctr" rtl="0">
              <a:buNone/>
            </a:pPr>
            <a:r>
              <a:rPr lang="es-ES" b="0" i="0" u="none" strike="noStrike" kern="100" baseline="0" dirty="0">
                <a:solidFill>
                  <a:srgbClr val="0F4761"/>
                </a:solidFill>
                <a:latin typeface="Century Gothic" panose="020B0502020202020204" pitchFamily="34" charset="0"/>
              </a:rPr>
              <a:t>No se trata de dónde está escrito, sino de si protege una libertad esencial de la persona.</a:t>
            </a:r>
          </a:p>
          <a:p>
            <a:pPr marR="0" lvl="1" algn="ctr" rtl="0"/>
            <a:endParaRPr lang="es-ES" b="0" i="0" u="none" strike="noStrike" kern="100" baseline="0" dirty="0">
              <a:solidFill>
                <a:srgbClr val="0F4761"/>
              </a:solidFill>
              <a:latin typeface="Century Gothic" panose="020B0502020202020204" pitchFamily="34" charset="0"/>
            </a:endParaRPr>
          </a:p>
          <a:p>
            <a:pPr marL="914400" marR="0" lvl="2" indent="0" algn="ctr" rtl="0">
              <a:buNone/>
            </a:pPr>
            <a:r>
              <a:rPr lang="es-ES" b="0" i="1" u="none" strike="noStrike" kern="100" baseline="0" dirty="0">
                <a:solidFill>
                  <a:srgbClr val="0F4761"/>
                </a:solidFill>
                <a:latin typeface="Century Gothic" panose="020B0502020202020204" pitchFamily="34" charset="0"/>
              </a:rPr>
              <a:t>- Para Carl Schmitt, solo pueden ser los Derechos Humanos Liberales del Individuo.  - El titular siempre es el individuo.</a:t>
            </a:r>
          </a:p>
        </p:txBody>
      </p:sp>
    </p:spTree>
    <p:extLst>
      <p:ext uri="{BB962C8B-B14F-4D97-AF65-F5344CB8AC3E}">
        <p14:creationId xmlns:p14="http://schemas.microsoft.com/office/powerpoint/2010/main" val="1265909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D899C3-8CDD-08E4-E77F-FD07EF2A27E0}"/>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El Método de Alexy (La Fórmula)</a:t>
            </a:r>
          </a:p>
        </p:txBody>
      </p:sp>
      <p:sp>
        <p:nvSpPr>
          <p:cNvPr id="3" name="Marcador de texto 2">
            <a:extLst>
              <a:ext uri="{FF2B5EF4-FFF2-40B4-BE49-F238E27FC236}">
                <a16:creationId xmlns:a16="http://schemas.microsoft.com/office/drawing/2014/main" id="{51B32C6F-2CF8-5B66-96A2-F2CDB610D978}"/>
              </a:ext>
            </a:extLst>
          </p:cNvPr>
          <p:cNvSpPr>
            <a:spLocks noGrp="1"/>
          </p:cNvSpPr>
          <p:nvPr>
            <p:ph type="body" idx="1"/>
          </p:nvPr>
        </p:nvSpPr>
        <p:spPr/>
        <p:txBody>
          <a:bodyPr anchor="ctr"/>
          <a:lstStyle/>
          <a:p>
            <a:pPr marR="0" lvl="0" algn="ctr" rtl="0"/>
            <a:r>
              <a:rPr lang="es-ES" b="0" i="0" u="none" strike="noStrike" kern="100" baseline="0" dirty="0">
                <a:solidFill>
                  <a:srgbClr val="0F4761"/>
                </a:solidFill>
                <a:latin typeface="Century Gothic" panose="020B0502020202020204" pitchFamily="34" charset="0"/>
              </a:rPr>
              <a:t>La Ley de la Ponderación (La "Fórmula" Guía)</a:t>
            </a:r>
          </a:p>
          <a:p>
            <a:pPr marR="0" lvl="0" algn="ctr" rtl="0"/>
            <a:endParaRPr lang="es-ES" b="0" i="0" u="none" strike="noStrike" kern="100" baseline="0" dirty="0">
              <a:solidFill>
                <a:srgbClr val="0F4761"/>
              </a:solidFill>
              <a:latin typeface="Century Gothic" panose="020B0502020202020204" pitchFamily="34" charset="0"/>
            </a:endParaRPr>
          </a:p>
          <a:p>
            <a:pPr marR="0" lvl="1" algn="ctr" rtl="0"/>
            <a:r>
              <a:rPr lang="es-ES" b="0" i="0" u="none" strike="noStrike" kern="100" baseline="0" dirty="0">
                <a:solidFill>
                  <a:srgbClr val="0F4761"/>
                </a:solidFill>
                <a:latin typeface="Century Gothic" panose="020B0502020202020204" pitchFamily="34" charset="0"/>
              </a:rPr>
              <a:t>Concepto: Busca un balance proporcional. Si afecto mucho A, debe ser porque B es MUY importante</a:t>
            </a:r>
          </a:p>
          <a:p>
            <a:pPr marR="0" lvl="1" algn="ctr" rtl="0"/>
            <a:endParaRPr lang="es-ES" b="0" i="0" u="none" strike="noStrike" kern="100" baseline="0" dirty="0">
              <a:solidFill>
                <a:srgbClr val="0F4761"/>
              </a:solidFill>
              <a:latin typeface="Century Gothic" panose="020B0502020202020204" pitchFamily="34" charset="0"/>
            </a:endParaRPr>
          </a:p>
          <a:p>
            <a:pPr marR="0" lvl="2" algn="ctr" rtl="0"/>
            <a:r>
              <a:rPr lang="es-ES" b="0" i="1" u="none" strike="noStrike" kern="100" baseline="0" dirty="0">
                <a:solidFill>
                  <a:srgbClr val="0F4761"/>
                </a:solidFill>
                <a:latin typeface="Century Gothic" panose="020B0502020202020204" pitchFamily="34" charset="0"/>
              </a:rPr>
              <a:t>- "Cuanto mayor sea el grado de afectación de un principio, tanto mayor debe ser la importancia del cumplimiento del otro."</a:t>
            </a:r>
          </a:p>
        </p:txBody>
      </p:sp>
    </p:spTree>
    <p:extLst>
      <p:ext uri="{BB962C8B-B14F-4D97-AF65-F5344CB8AC3E}">
        <p14:creationId xmlns:p14="http://schemas.microsoft.com/office/powerpoint/2010/main" val="888320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6F73D7-4EFE-CD2E-CF5B-3D6E6C52D88A}"/>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Ponderación ≠ Matemáticas</a:t>
            </a:r>
          </a:p>
        </p:txBody>
      </p:sp>
      <p:sp>
        <p:nvSpPr>
          <p:cNvPr id="3" name="Marcador de texto 2">
            <a:extLst>
              <a:ext uri="{FF2B5EF4-FFF2-40B4-BE49-F238E27FC236}">
                <a16:creationId xmlns:a16="http://schemas.microsoft.com/office/drawing/2014/main" id="{F67E04D9-5290-6632-D1C1-349A0DEE3EC0}"/>
              </a:ext>
            </a:extLst>
          </p:cNvPr>
          <p:cNvSpPr>
            <a:spLocks noGrp="1"/>
          </p:cNvSpPr>
          <p:nvPr>
            <p:ph type="body" idx="1"/>
          </p:nvPr>
        </p:nvSpPr>
        <p:spPr/>
        <p:txBody>
          <a:bodyPr anchor="ctr"/>
          <a:lstStyle/>
          <a:p>
            <a:pPr marL="0" marR="0" lvl="0" indent="0" algn="ctr" rtl="0">
              <a:buNone/>
            </a:pPr>
            <a:r>
              <a:rPr lang="es-MX" b="0" i="0" u="none" strike="noStrike" kern="100" baseline="0" dirty="0">
                <a:solidFill>
                  <a:srgbClr val="0F4761"/>
                </a:solidFill>
                <a:latin typeface="Century Gothic" panose="020B0502020202020204" pitchFamily="34" charset="0"/>
              </a:rPr>
              <a:t>¿Fórmula Matemática o Interpretación? ❓</a:t>
            </a:r>
          </a:p>
          <a:p>
            <a:pPr marR="0" lvl="0" algn="ctr" rtl="0"/>
            <a:endParaRPr lang="es-MX" b="0" i="0" u="none" strike="noStrike" kern="100" baseline="0" dirty="0">
              <a:solidFill>
                <a:srgbClr val="0F4761"/>
              </a:solidFill>
              <a:latin typeface="Century Gothic" panose="020B0502020202020204" pitchFamily="34" charset="0"/>
            </a:endParaRPr>
          </a:p>
          <a:p>
            <a:pPr marL="457200" marR="0" lvl="1" indent="0" algn="ctr" rtl="0">
              <a:buNone/>
            </a:pPr>
            <a:r>
              <a:rPr lang="es-ES" b="0" i="0" u="none" strike="noStrike" kern="100" baseline="0" dirty="0">
                <a:solidFill>
                  <a:srgbClr val="0F4761"/>
                </a:solidFill>
                <a:latin typeface="Century Gothic" panose="020B0502020202020204" pitchFamily="34" charset="0"/>
              </a:rPr>
              <a:t>- La ponderación implica INTERPRETACIÓN y no puede aplicarse en automático.  - El método de Alexy tiene una "zona de interpretación" que se traduce en argumentos.</a:t>
            </a:r>
          </a:p>
          <a:p>
            <a:pPr marR="0" lvl="1" algn="ctr" rtl="0"/>
            <a:endParaRPr lang="es-ES" b="0" i="0" u="none" strike="noStrike" kern="100" baseline="0" dirty="0">
              <a:solidFill>
                <a:srgbClr val="0F4761"/>
              </a:solidFill>
              <a:latin typeface="Century Gothic" panose="020B0502020202020204" pitchFamily="34" charset="0"/>
            </a:endParaRPr>
          </a:p>
          <a:p>
            <a:pPr marL="914400" marR="0" lvl="2" indent="0" algn="ctr" rtl="0">
              <a:buNone/>
            </a:pPr>
            <a:r>
              <a:rPr lang="es-ES" b="0" i="1" u="none" strike="noStrike" kern="100" baseline="0" dirty="0">
                <a:solidFill>
                  <a:srgbClr val="0F4761"/>
                </a:solidFill>
                <a:latin typeface="Century Gothic" panose="020B0502020202020204" pitchFamily="34" charset="0"/>
              </a:rPr>
              <a:t>Resultado: El resultado no siempre será el mismo incluso aplicando la misma guía.</a:t>
            </a:r>
          </a:p>
        </p:txBody>
      </p:sp>
    </p:spTree>
    <p:extLst>
      <p:ext uri="{BB962C8B-B14F-4D97-AF65-F5344CB8AC3E}">
        <p14:creationId xmlns:p14="http://schemas.microsoft.com/office/powerpoint/2010/main" val="1474529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FE5A068-D718-7E19-0282-071A2896C370}"/>
              </a:ext>
            </a:extLst>
          </p:cNvPr>
          <p:cNvPicPr>
            <a:picLocks noChangeAspect="1"/>
          </p:cNvPicPr>
          <p:nvPr/>
        </p:nvPicPr>
        <p:blipFill>
          <a:blip r:embed="rId2"/>
          <a:stretch>
            <a:fillRect/>
          </a:stretch>
        </p:blipFill>
        <p:spPr>
          <a:xfrm>
            <a:off x="2036006" y="1633929"/>
            <a:ext cx="8187285" cy="3619898"/>
          </a:xfrm>
          <a:prstGeom prst="rect">
            <a:avLst/>
          </a:prstGeom>
          <a:ln>
            <a:solidFill>
              <a:srgbClr val="FF0000"/>
            </a:solidFill>
          </a:ln>
        </p:spPr>
      </p:pic>
    </p:spTree>
    <p:extLst>
      <p:ext uri="{BB962C8B-B14F-4D97-AF65-F5344CB8AC3E}">
        <p14:creationId xmlns:p14="http://schemas.microsoft.com/office/powerpoint/2010/main" val="1160641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546F61-ACE4-6E4F-87C8-A7C47F36318B}"/>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El Peligro de la Ambigüedad</a:t>
            </a:r>
          </a:p>
        </p:txBody>
      </p:sp>
      <p:sp>
        <p:nvSpPr>
          <p:cNvPr id="3" name="Marcador de texto 2">
            <a:extLst>
              <a:ext uri="{FF2B5EF4-FFF2-40B4-BE49-F238E27FC236}">
                <a16:creationId xmlns:a16="http://schemas.microsoft.com/office/drawing/2014/main" id="{11D36A7E-DD5E-4962-2BEB-703756118AFD}"/>
              </a:ext>
            </a:extLst>
          </p:cNvPr>
          <p:cNvSpPr>
            <a:spLocks noGrp="1"/>
          </p:cNvSpPr>
          <p:nvPr>
            <p:ph type="body" idx="1"/>
          </p:nvPr>
        </p:nvSpPr>
        <p:spPr/>
        <p:txBody>
          <a:bodyPr anchor="ctr"/>
          <a:lstStyle/>
          <a:p>
            <a:pPr marR="0" lvl="0" algn="ctr" rtl="0"/>
            <a:r>
              <a:rPr lang="es-ES" b="0" i="0" u="none" strike="noStrike" kern="100" baseline="0" dirty="0">
                <a:solidFill>
                  <a:srgbClr val="0F4761"/>
                </a:solidFill>
                <a:latin typeface="Century Gothic" panose="020B0502020202020204" pitchFamily="34" charset="0"/>
              </a:rPr>
              <a:t>Kelsen y el "Papel Peligroso“</a:t>
            </a:r>
          </a:p>
          <a:p>
            <a:pPr marR="0" lvl="0" algn="ctr" rtl="0"/>
            <a:endParaRPr lang="es-ES" b="0" i="0" u="none" strike="noStrike" kern="100" baseline="0" dirty="0">
              <a:solidFill>
                <a:srgbClr val="0F4761"/>
              </a:solidFill>
              <a:latin typeface="Century Gothic" panose="020B0502020202020204" pitchFamily="34" charset="0"/>
            </a:endParaRPr>
          </a:p>
          <a:p>
            <a:pPr marL="457200" marR="0" lvl="1" indent="0" algn="ctr" rtl="0">
              <a:buNone/>
            </a:pPr>
            <a:r>
              <a:rPr lang="es-ES" b="0" i="0" u="none" strike="noStrike" kern="100" baseline="0" dirty="0">
                <a:solidFill>
                  <a:srgbClr val="0F4761"/>
                </a:solidFill>
                <a:latin typeface="Century Gothic" panose="020B0502020202020204" pitchFamily="34" charset="0"/>
              </a:rPr>
              <a:t>El Problema Hoy: </a:t>
            </a:r>
            <a:r>
              <a:rPr lang="es-ES" b="1" i="0" u="none" strike="noStrike" kern="100" baseline="0" dirty="0">
                <a:solidFill>
                  <a:srgbClr val="0F4761"/>
                </a:solidFill>
                <a:latin typeface="Century Gothic" panose="020B0502020202020204" pitchFamily="34" charset="0"/>
              </a:rPr>
              <a:t>Normas ambiguas</a:t>
            </a:r>
            <a:r>
              <a:rPr lang="es-ES" b="0" i="0" u="none" strike="noStrike" kern="100" baseline="0" dirty="0">
                <a:solidFill>
                  <a:srgbClr val="0F4761"/>
                </a:solidFill>
                <a:latin typeface="Century Gothic" panose="020B0502020202020204" pitchFamily="34" charset="0"/>
              </a:rPr>
              <a:t> pueden hacer que una opinión en Twitter sea tipificada como "acto terrorista" si afecta la "paz pública". ¡</a:t>
            </a:r>
            <a:r>
              <a:rPr lang="es-ES" b="1" i="0" u="none" strike="noStrike" kern="100" baseline="0" dirty="0">
                <a:solidFill>
                  <a:srgbClr val="0F4761"/>
                </a:solidFill>
                <a:latin typeface="Century Gothic" panose="020B0502020202020204" pitchFamily="34" charset="0"/>
              </a:rPr>
              <a:t>La ambigüedad mata la libertad</a:t>
            </a:r>
            <a:r>
              <a:rPr lang="es-ES" b="0" i="0" u="none" strike="noStrike" kern="100" baseline="0" dirty="0">
                <a:solidFill>
                  <a:srgbClr val="0F4761"/>
                </a:solidFill>
                <a:latin typeface="Century Gothic" panose="020B0502020202020204" pitchFamily="34" charset="0"/>
              </a:rPr>
              <a:t>!</a:t>
            </a:r>
          </a:p>
          <a:p>
            <a:pPr marL="914400" marR="0" lvl="2" indent="0" algn="ctr" rtl="0">
              <a:buNone/>
            </a:pPr>
            <a:endParaRPr lang="es-ES" b="0" i="1" u="none" strike="noStrike" kern="100" baseline="0" dirty="0">
              <a:solidFill>
                <a:srgbClr val="0F4761"/>
              </a:solidFill>
              <a:latin typeface="Century Gothic" panose="020B0502020202020204" pitchFamily="34" charset="0"/>
            </a:endParaRPr>
          </a:p>
          <a:p>
            <a:pPr marL="914400" marR="0" lvl="2" indent="0" algn="ctr" rtl="0">
              <a:buNone/>
            </a:pPr>
            <a:r>
              <a:rPr lang="es-ES" b="0" i="1" u="none" strike="noStrike" kern="100" baseline="0" dirty="0">
                <a:solidFill>
                  <a:srgbClr val="0F4761"/>
                </a:solidFill>
                <a:latin typeface="Century Gothic" panose="020B0502020202020204" pitchFamily="34" charset="0"/>
              </a:rPr>
              <a:t>- Hans Kelsen (1928) ya advertía el "papel altamente peligroso" de la falta de precisión en normas constitucionales.  - Los valores/principios (como la libertad) necesitan una determinación precisa.</a:t>
            </a:r>
          </a:p>
        </p:txBody>
      </p:sp>
    </p:spTree>
    <p:extLst>
      <p:ext uri="{BB962C8B-B14F-4D97-AF65-F5344CB8AC3E}">
        <p14:creationId xmlns:p14="http://schemas.microsoft.com/office/powerpoint/2010/main" val="2522353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3BFEAD-F4F1-DF57-9910-FE8D077DA896}"/>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El Reto Humano (La Intervención)</a:t>
            </a:r>
          </a:p>
        </p:txBody>
      </p:sp>
      <p:sp>
        <p:nvSpPr>
          <p:cNvPr id="3" name="Marcador de texto 2">
            <a:extLst>
              <a:ext uri="{FF2B5EF4-FFF2-40B4-BE49-F238E27FC236}">
                <a16:creationId xmlns:a16="http://schemas.microsoft.com/office/drawing/2014/main" id="{F735FF03-89E6-2CDE-7D8F-819B914646DB}"/>
              </a:ext>
            </a:extLst>
          </p:cNvPr>
          <p:cNvSpPr>
            <a:spLocks noGrp="1"/>
          </p:cNvSpPr>
          <p:nvPr>
            <p:ph type="body" idx="1"/>
          </p:nvPr>
        </p:nvSpPr>
        <p:spPr/>
        <p:txBody>
          <a:bodyPr/>
          <a:lstStyle/>
          <a:p>
            <a:pPr marL="0" marR="0" lvl="0" indent="0" algn="ctr" rtl="0">
              <a:buNone/>
            </a:pPr>
            <a:r>
              <a:rPr lang="es-ES" b="0" i="0" u="none" strike="noStrike" kern="100" baseline="0" dirty="0">
                <a:solidFill>
                  <a:srgbClr val="0F4761"/>
                </a:solidFill>
                <a:latin typeface="Century Gothic" panose="020B0502020202020204" pitchFamily="34" charset="0"/>
              </a:rPr>
              <a:t>El Desafío: El Factor Humano 🧠</a:t>
            </a:r>
          </a:p>
          <a:p>
            <a:pPr marR="0" lvl="0" algn="ctr" rtl="0"/>
            <a:endParaRPr lang="es-ES" b="0" i="0" u="none" strike="noStrike" kern="100" baseline="0" dirty="0">
              <a:solidFill>
                <a:srgbClr val="0F4761"/>
              </a:solidFill>
              <a:latin typeface="Century Gothic" panose="020B0502020202020204" pitchFamily="34" charset="0"/>
            </a:endParaRPr>
          </a:p>
          <a:p>
            <a:pPr marL="457200" marR="0" lvl="1" indent="0" algn="ctr" rtl="0">
              <a:buNone/>
            </a:pPr>
            <a:r>
              <a:rPr lang="es-ES" b="0" i="0" u="none" strike="noStrike" kern="100" baseline="0" dirty="0">
                <a:solidFill>
                  <a:srgbClr val="0F4761"/>
                </a:solidFill>
                <a:latin typeface="Century Gothic" panose="020B0502020202020204" pitchFamily="34" charset="0"/>
              </a:rPr>
              <a:t>- La ponderación requiere INTERVENCIÓN HUMANA (jueces, autoridades).  - Deben definir cómo OPTIMIZAR ambos derechos sin que uno "</a:t>
            </a:r>
            <a:r>
              <a:rPr lang="es-ES" b="0" i="1" u="none" strike="noStrike" kern="100" baseline="0" dirty="0">
                <a:solidFill>
                  <a:srgbClr val="0F4761"/>
                </a:solidFill>
                <a:latin typeface="Century Gothic" panose="020B0502020202020204" pitchFamily="34" charset="0"/>
              </a:rPr>
              <a:t>avasalle</a:t>
            </a:r>
            <a:r>
              <a:rPr lang="es-ES" b="0" i="0" u="none" strike="noStrike" kern="100" baseline="0" dirty="0">
                <a:solidFill>
                  <a:srgbClr val="0F4761"/>
                </a:solidFill>
                <a:latin typeface="Century Gothic" panose="020B0502020202020204" pitchFamily="34" charset="0"/>
              </a:rPr>
              <a:t>" al otro.</a:t>
            </a:r>
          </a:p>
          <a:p>
            <a:pPr marR="0" lvl="1" algn="ctr" rtl="0"/>
            <a:endParaRPr lang="es-ES" b="0" i="0" u="none" strike="noStrike" kern="100" baseline="0" dirty="0">
              <a:solidFill>
                <a:srgbClr val="0F4761"/>
              </a:solidFill>
              <a:latin typeface="Century Gothic" panose="020B0502020202020204" pitchFamily="34" charset="0"/>
            </a:endParaRPr>
          </a:p>
          <a:p>
            <a:pPr marL="914400" marR="0" lvl="2" indent="0" algn="ctr" rtl="0">
              <a:buNone/>
            </a:pPr>
            <a:r>
              <a:rPr lang="es-ES" b="0" i="1" u="none" strike="noStrike" kern="100" baseline="0" dirty="0">
                <a:solidFill>
                  <a:srgbClr val="0F4761"/>
                </a:solidFill>
                <a:latin typeface="Century Gothic" panose="020B0502020202020204" pitchFamily="34" charset="0"/>
              </a:rPr>
              <a:t>Reflexión: Los derechos fundamentales "pueden ser relevantes en cualquier asunto jurídico".</a:t>
            </a:r>
          </a:p>
        </p:txBody>
      </p:sp>
    </p:spTree>
    <p:extLst>
      <p:ext uri="{BB962C8B-B14F-4D97-AF65-F5344CB8AC3E}">
        <p14:creationId xmlns:p14="http://schemas.microsoft.com/office/powerpoint/2010/main" val="2088919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591781-37BE-DF44-512E-69C251618B07}"/>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Conclusión</a:t>
            </a:r>
          </a:p>
        </p:txBody>
      </p:sp>
      <p:sp>
        <p:nvSpPr>
          <p:cNvPr id="3" name="Marcador de texto 2">
            <a:extLst>
              <a:ext uri="{FF2B5EF4-FFF2-40B4-BE49-F238E27FC236}">
                <a16:creationId xmlns:a16="http://schemas.microsoft.com/office/drawing/2014/main" id="{8533AC75-5D25-4988-BCDB-301A1997CFCF}"/>
              </a:ext>
            </a:extLst>
          </p:cNvPr>
          <p:cNvSpPr>
            <a:spLocks noGrp="1"/>
          </p:cNvSpPr>
          <p:nvPr>
            <p:ph type="body" idx="1"/>
          </p:nvPr>
        </p:nvSpPr>
        <p:spPr/>
        <p:txBody>
          <a:bodyPr anchor="ctr"/>
          <a:lstStyle/>
          <a:p>
            <a:pPr marR="0" lvl="0" algn="ctr" rtl="0"/>
            <a:r>
              <a:rPr lang="es-ES" b="0" i="0" u="none" strike="noStrike" kern="100" baseline="0" dirty="0">
                <a:solidFill>
                  <a:srgbClr val="0F4761"/>
                </a:solidFill>
                <a:latin typeface="Century Gothic" panose="020B0502020202020204" pitchFamily="34" charset="0"/>
              </a:rPr>
              <a:t>Sentando las Bases: Leyes Claras</a:t>
            </a:r>
          </a:p>
          <a:p>
            <a:pPr marL="457200" marR="0" lvl="1" indent="0" algn="ctr" rtl="0">
              <a:buNone/>
            </a:pPr>
            <a:r>
              <a:rPr lang="es-ES" b="0" i="0" u="none" strike="noStrike" kern="100" baseline="0" dirty="0">
                <a:solidFill>
                  <a:srgbClr val="0F4761"/>
                </a:solidFill>
                <a:latin typeface="Century Gothic" panose="020B0502020202020204" pitchFamily="34" charset="0"/>
              </a:rPr>
              <a:t>.</a:t>
            </a:r>
          </a:p>
          <a:p>
            <a:pPr marR="0" lvl="2" algn="ctr" rtl="0"/>
            <a:r>
              <a:rPr lang="es-ES" b="0" i="1" u="none" strike="noStrike" kern="100" baseline="0" dirty="0">
                <a:solidFill>
                  <a:srgbClr val="0F4761"/>
                </a:solidFill>
                <a:latin typeface="Century Gothic" panose="020B0502020202020204" pitchFamily="34" charset="0"/>
              </a:rPr>
              <a:t>- La solución a largo plazo: Evitar dilemas creando leyes claras y consecuentes con DD.HH.  - No usar reglas genéricas, sin precisión, o abiertas a una interpretación discrecional.</a:t>
            </a:r>
          </a:p>
        </p:txBody>
      </p:sp>
    </p:spTree>
    <p:extLst>
      <p:ext uri="{BB962C8B-B14F-4D97-AF65-F5344CB8AC3E}">
        <p14:creationId xmlns:p14="http://schemas.microsoft.com/office/powerpoint/2010/main" val="72440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F97CC6-3F47-E2B0-1B99-4D50DB45BF5B}"/>
              </a:ext>
            </a:extLst>
          </p:cNvPr>
          <p:cNvSpPr>
            <a:spLocks noGrp="1"/>
          </p:cNvSpPr>
          <p:nvPr>
            <p:ph type="title"/>
          </p:nvPr>
        </p:nvSpPr>
        <p:spPr/>
        <p:txBody>
          <a:bodyPr/>
          <a:lstStyle/>
          <a:p>
            <a:pPr algn="ctr"/>
            <a:r>
              <a:rPr lang="es-MX" dirty="0">
                <a:latin typeface="Century Gothic" panose="020B0502020202020204" pitchFamily="34" charset="0"/>
              </a:rPr>
              <a:t>PREGUNTAS</a:t>
            </a:r>
          </a:p>
        </p:txBody>
      </p:sp>
      <p:sp>
        <p:nvSpPr>
          <p:cNvPr id="3" name="Marcador de texto 2">
            <a:extLst>
              <a:ext uri="{FF2B5EF4-FFF2-40B4-BE49-F238E27FC236}">
                <a16:creationId xmlns:a16="http://schemas.microsoft.com/office/drawing/2014/main" id="{CD6954C8-08E7-67BA-401B-9639B71815ED}"/>
              </a:ext>
            </a:extLst>
          </p:cNvPr>
          <p:cNvSpPr>
            <a:spLocks noGrp="1"/>
          </p:cNvSpPr>
          <p:nvPr>
            <p:ph type="body" idx="1"/>
          </p:nvPr>
        </p:nvSpPr>
        <p:spPr/>
        <p:txBody>
          <a:bodyPr anchor="ctr"/>
          <a:lstStyle/>
          <a:p>
            <a:pPr marL="0" indent="0" algn="just">
              <a:lnSpc>
                <a:spcPct val="107000"/>
              </a:lnSpc>
              <a:spcAft>
                <a:spcPts val="800"/>
              </a:spcAft>
              <a:buNone/>
            </a:pPr>
            <a:r>
              <a:rPr lang="es-MX" sz="1800" kern="100" dirty="0">
                <a:effectLst/>
                <a:latin typeface="Century Gothic" panose="020B0502020202020204" pitchFamily="34" charset="0"/>
                <a:ea typeface="Aptos" panose="020B0004020202020204" pitchFamily="34" charset="0"/>
                <a:cs typeface="Times New Roman" panose="02020603050405020304" pitchFamily="18" charset="0"/>
              </a:rPr>
              <a:t>Según Robert Alexy, ¿cuál es el objetivo principal de sistematizar y proponer soluciones metódicas para enfrentar la colisión de derechos y principios? </a:t>
            </a:r>
            <a:endParaRPr lang="es-MX"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s-MX" sz="1800" kern="100" dirty="0">
                <a:effectLst/>
                <a:latin typeface="Century Gothic" panose="020B0502020202020204" pitchFamily="34" charset="0"/>
                <a:ea typeface="Aptos" panose="020B0004020202020204" pitchFamily="34" charset="0"/>
                <a:cs typeface="Times New Roman" panose="02020603050405020304" pitchFamily="18" charset="0"/>
              </a:rPr>
              <a:t>a) Anular un derecho en favor del otro que se considere más importante.</a:t>
            </a:r>
            <a:endParaRPr lang="es-MX"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s-MX" sz="1800" b="1" kern="100" dirty="0">
                <a:effectLst/>
                <a:latin typeface="Century Gothic" panose="020B0502020202020204" pitchFamily="34" charset="0"/>
                <a:ea typeface="Aptos" panose="020B0004020202020204" pitchFamily="34" charset="0"/>
                <a:cs typeface="Times New Roman" panose="02020603050405020304" pitchFamily="18" charset="0"/>
              </a:rPr>
              <a:t>b) Garantizar que se puedan optimizar los derechos con una racionalidad que maximice lo justo de cada parte hasta donde sea posible.</a:t>
            </a:r>
            <a:endParaRPr lang="es-MX" sz="18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s-MX" sz="1800" kern="100" dirty="0">
                <a:effectLst/>
                <a:latin typeface="Century Gothic" panose="020B0502020202020204" pitchFamily="34" charset="0"/>
                <a:ea typeface="Aptos" panose="020B0004020202020204" pitchFamily="34" charset="0"/>
                <a:cs typeface="Times New Roman" panose="02020603050405020304" pitchFamily="18" charset="0"/>
              </a:rPr>
              <a:t>c) Establecer una fórmula matemática que siempre arroje el mismo resultado.</a:t>
            </a:r>
            <a:endParaRPr lang="es-MX"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s-MX" sz="1800" kern="100" dirty="0">
                <a:effectLst/>
                <a:latin typeface="Century Gothic" panose="020B0502020202020204" pitchFamily="34" charset="0"/>
                <a:ea typeface="Aptos" panose="020B0004020202020204" pitchFamily="34" charset="0"/>
                <a:cs typeface="Times New Roman" panose="02020603050405020304" pitchFamily="18" charset="0"/>
              </a:rPr>
              <a:t>d) Dejar la solución exclusivamente a la interpretación discrecional de la autoridad.</a:t>
            </a:r>
            <a:endParaRPr lang="es-MX"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39686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A083F2-3FAB-0ECD-9E81-C9F8A3B2AE12}"/>
              </a:ext>
            </a:extLst>
          </p:cNvPr>
          <p:cNvSpPr>
            <a:spLocks noGrp="1"/>
          </p:cNvSpPr>
          <p:nvPr>
            <p:ph type="title"/>
          </p:nvPr>
        </p:nvSpPr>
        <p:spPr/>
        <p:txBody>
          <a:bodyPr/>
          <a:lstStyle/>
          <a:p>
            <a:pPr algn="ctr"/>
            <a:r>
              <a:rPr lang="es-MX" dirty="0">
                <a:latin typeface="Century Gothic" panose="020B0502020202020204" pitchFamily="34" charset="0"/>
              </a:rPr>
              <a:t>PREGUNTAS</a:t>
            </a:r>
            <a:endParaRPr lang="es-MX" dirty="0"/>
          </a:p>
        </p:txBody>
      </p:sp>
      <p:sp>
        <p:nvSpPr>
          <p:cNvPr id="3" name="Marcador de texto 2">
            <a:extLst>
              <a:ext uri="{FF2B5EF4-FFF2-40B4-BE49-F238E27FC236}">
                <a16:creationId xmlns:a16="http://schemas.microsoft.com/office/drawing/2014/main" id="{5B700A9E-67F4-6C87-AEC5-F4E28B5D3EC2}"/>
              </a:ext>
            </a:extLst>
          </p:cNvPr>
          <p:cNvSpPr>
            <a:spLocks noGrp="1"/>
          </p:cNvSpPr>
          <p:nvPr>
            <p:ph type="body" idx="1"/>
          </p:nvPr>
        </p:nvSpPr>
        <p:spPr>
          <a:xfrm>
            <a:off x="838200" y="1690688"/>
            <a:ext cx="10515600" cy="4486275"/>
          </a:xfrm>
        </p:spPr>
        <p:txBody>
          <a:bodyPr anchor="ctr">
            <a:normAutofit fontScale="85000" lnSpcReduction="10000"/>
          </a:bodyPr>
          <a:lstStyle/>
          <a:p>
            <a:pPr marL="0" indent="0" algn="just">
              <a:buNone/>
            </a:pPr>
            <a:r>
              <a:rPr lang="es-MX" kern="100" dirty="0">
                <a:effectLst/>
                <a:latin typeface="Century Gothic" panose="020B0502020202020204" pitchFamily="34" charset="0"/>
                <a:ea typeface="Aptos" panose="020B0004020202020204" pitchFamily="34" charset="0"/>
                <a:cs typeface="Times New Roman" panose="02020603050405020304" pitchFamily="18" charset="0"/>
              </a:rPr>
              <a:t>¿Cuál es un ejemplo de colisión de derechos que se menciona en el texto, utilizando la Convención Americana de Derechos Humanos (CADH)?</a:t>
            </a:r>
          </a:p>
          <a:p>
            <a:pPr marL="0" indent="0" algn="just">
              <a:buNone/>
            </a:pPr>
            <a:r>
              <a:rPr lang="es-MX" b="1" dirty="0">
                <a:solidFill>
                  <a:srgbClr val="FF0000"/>
                </a:solidFill>
                <a:effectLst/>
                <a:latin typeface="Century Gothic" panose="020B0502020202020204" pitchFamily="34" charset="0"/>
                <a:ea typeface="Aptos" panose="020B0004020202020204" pitchFamily="34" charset="0"/>
                <a:cs typeface="Times New Roman" panose="02020603050405020304" pitchFamily="18" charset="0"/>
              </a:rPr>
              <a:t>LA LIBERTAD DE PENSAMIENTO Y EXPRESIÓN (ART. 13 CADH) CONTRA EL RESPETO A LA HONRA Y VIDA PRIVADA (ART. 11 CADH).</a:t>
            </a:r>
            <a:endParaRPr lang="es-MX" kern="100" dirty="0">
              <a:solidFill>
                <a:srgbClr val="FF0000"/>
              </a:solidFill>
              <a:effectLst/>
              <a:latin typeface="Century Gothic" panose="020B0502020202020204" pitchFamily="34" charset="0"/>
              <a:ea typeface="Aptos" panose="020B0004020202020204" pitchFamily="34" charset="0"/>
              <a:cs typeface="Times New Roman" panose="02020603050405020304" pitchFamily="18" charset="0"/>
            </a:endParaRPr>
          </a:p>
          <a:p>
            <a:pPr marL="0" indent="0" algn="just">
              <a:buNone/>
            </a:pPr>
            <a:endParaRPr lang="es-MX" kern="100" dirty="0">
              <a:latin typeface="Century Gothic" panose="020B0502020202020204" pitchFamily="34" charset="0"/>
              <a:ea typeface="Aptos" panose="020B0004020202020204" pitchFamily="34" charset="0"/>
              <a:cs typeface="Times New Roman" panose="02020603050405020304" pitchFamily="18" charset="0"/>
            </a:endParaRPr>
          </a:p>
          <a:p>
            <a:pPr marL="0" indent="0" algn="just">
              <a:buNone/>
            </a:pPr>
            <a:r>
              <a:rPr lang="es-MX" kern="100" dirty="0">
                <a:effectLst/>
                <a:latin typeface="Century Gothic" panose="020B0502020202020204" pitchFamily="34" charset="0"/>
                <a:ea typeface="Aptos" panose="020B0004020202020204" pitchFamily="34" charset="0"/>
                <a:cs typeface="Times New Roman" panose="02020603050405020304" pitchFamily="18" charset="0"/>
              </a:rPr>
              <a:t>La "Ley de la Ponderación" de Alexy establece que, "cuanto mayor sea el grado de no cumplimiento o de afectación de un principio, tanto mayor debe ser...“:</a:t>
            </a:r>
          </a:p>
          <a:p>
            <a:pPr marL="0" indent="0" algn="just">
              <a:buNone/>
            </a:pPr>
            <a:r>
              <a:rPr lang="es-ES" b="0" i="1" u="none" strike="noStrike" kern="100" baseline="0" dirty="0">
                <a:solidFill>
                  <a:srgbClr val="0F4761"/>
                </a:solidFill>
                <a:latin typeface="Century Gothic" panose="020B0502020202020204" pitchFamily="34" charset="0"/>
              </a:rPr>
              <a:t>- "Cuanto mayor sea el grado de afectación de un principio, tanto mayor debe ser la importancia del cumplimiento del otro."</a:t>
            </a:r>
            <a:endParaRPr lang="es-MX" kern="100" dirty="0">
              <a:effectLst/>
              <a:latin typeface="Century Gothic" panose="020B0502020202020204" pitchFamily="34" charset="0"/>
              <a:ea typeface="Aptos" panose="020B0004020202020204" pitchFamily="34" charset="0"/>
              <a:cs typeface="Times New Roman" panose="02020603050405020304" pitchFamily="18" charset="0"/>
            </a:endParaRPr>
          </a:p>
          <a:p>
            <a:pPr marL="0" indent="0" algn="just">
              <a:buNone/>
            </a:pPr>
            <a:r>
              <a:rPr lang="es-MX" b="1" dirty="0">
                <a:solidFill>
                  <a:srgbClr val="FF0000"/>
                </a:solidFill>
                <a:effectLst/>
                <a:latin typeface="Century Gothic" panose="020B0502020202020204" pitchFamily="34" charset="0"/>
                <a:ea typeface="Aptos" panose="020B0004020202020204" pitchFamily="34" charset="0"/>
                <a:cs typeface="Times New Roman" panose="02020603050405020304" pitchFamily="18" charset="0"/>
              </a:rPr>
              <a:t>LA IMPORTANCIA DEL CUMPLIMIENTO DEL OTRO PRINCIPIO.</a:t>
            </a:r>
            <a:r>
              <a:rPr lang="es-MX" kern="100" dirty="0">
                <a:solidFill>
                  <a:srgbClr val="FF0000"/>
                </a:solidFill>
                <a:effectLst/>
                <a:latin typeface="Century Gothic" panose="020B0502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394337984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4 Diapos 2.1 10 10 25 Viernes</Template>
  <TotalTime>215</TotalTime>
  <Words>1199</Words>
  <Application>Microsoft Office PowerPoint</Application>
  <PresentationFormat>Panorámica</PresentationFormat>
  <Paragraphs>103</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Aptos</vt:lpstr>
      <vt:lpstr>Aptos Display</vt:lpstr>
      <vt:lpstr>Arial</vt:lpstr>
      <vt:lpstr>Century Gothic</vt:lpstr>
      <vt:lpstr>Tema de Office</vt:lpstr>
      <vt:lpstr>Presentación de PowerPoint</vt:lpstr>
      <vt:lpstr>Presentación de PowerPoint</vt:lpstr>
      <vt:lpstr>Un Dilema Mediático Real</vt:lpstr>
      <vt:lpstr>El Desafío: Choque de Titanes</vt:lpstr>
      <vt:lpstr>Presentación de PowerPoint</vt:lpstr>
      <vt:lpstr>Presentación de PowerPoint</vt:lpstr>
      <vt:lpstr>El Protagonista: Robert Alexy</vt:lpstr>
      <vt:lpstr>La Solución Metódica: Ponderación</vt:lpstr>
      <vt:lpstr>El Ejemplo Clásico de Colisión</vt:lpstr>
      <vt:lpstr>¿Qué es un Derecho Fundamental? (La Pregunta de Alexy)</vt:lpstr>
      <vt:lpstr>La Visión Formal (Positiva)</vt:lpstr>
      <vt:lpstr>La Visión Material (Sustancial)</vt:lpstr>
      <vt:lpstr>El Método de Alexy (La Fórmula)</vt:lpstr>
      <vt:lpstr>Ponderación ≠ Matemáticas</vt:lpstr>
      <vt:lpstr>Presentación de PowerPoint</vt:lpstr>
      <vt:lpstr>El Peligro de la Ambigüedad</vt:lpstr>
      <vt:lpstr>El Reto Humano (La Intervención)</vt:lpstr>
      <vt:lpstr>Conclusión</vt:lpstr>
      <vt:lpstr>PREGUNTAS</vt:lpstr>
      <vt:lpstr>PREGUNTAS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Armando Corona Arvizu, diputado del partido Movimiento Regeneración Nacional (Morena), presentó una iniciativa para sancionar hasta con seis años de cárcel y de 300 a 600 días de multa a quien realice stickers, memes y contenido con inteligencia artificial sin autorización de quien aparezca en ellos.</dc:title>
  <dc:creator>GERARDO ROBERTO ARAGÓN GONZÁLEZ</dc:creator>
  <cp:lastModifiedBy>GERARDO ROBERTO ARAGÓN GONZÁLEZ</cp:lastModifiedBy>
  <cp:revision>39</cp:revision>
  <dcterms:created xsi:type="dcterms:W3CDTF">2025-10-10T12:33:07Z</dcterms:created>
  <dcterms:modified xsi:type="dcterms:W3CDTF">2025-10-10T23:44:17Z</dcterms:modified>
</cp:coreProperties>
</file>