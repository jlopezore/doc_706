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FD5D20-CF4F-3FC6-9CF2-69A4B6A55C9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57E7F19-CFCF-3982-7CE5-031BD37D4F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DFD1B347-6450-F680-7EB1-1D28EF8A600D}"/>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5" name="Marcador de pie de página 4">
            <a:extLst>
              <a:ext uri="{FF2B5EF4-FFF2-40B4-BE49-F238E27FC236}">
                <a16:creationId xmlns:a16="http://schemas.microsoft.com/office/drawing/2014/main" id="{98026BCD-C077-A16C-8E05-E357259F14C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59BC3A3-D886-2D0D-062C-9E6AC91C179A}"/>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799058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4A933D-BF36-F1DE-0FD4-47053B28BF9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54BB947-F296-969F-3528-289E4759797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129F315-DFF5-7BBA-505B-BE790E6AC4D0}"/>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5" name="Marcador de pie de página 4">
            <a:extLst>
              <a:ext uri="{FF2B5EF4-FFF2-40B4-BE49-F238E27FC236}">
                <a16:creationId xmlns:a16="http://schemas.microsoft.com/office/drawing/2014/main" id="{EECA9604-957D-234E-C36A-11491510484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F252C9D-C6BB-BC39-391D-A999F6C49A1A}"/>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1123266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0B8A6B-2442-E4D0-DB32-86772A60D1A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BF39CAD-2FA1-E5B0-275F-23631AFC8A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9E0C929-D8BD-8D3A-E941-955094ED90EA}"/>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5" name="Marcador de pie de página 4">
            <a:extLst>
              <a:ext uri="{FF2B5EF4-FFF2-40B4-BE49-F238E27FC236}">
                <a16:creationId xmlns:a16="http://schemas.microsoft.com/office/drawing/2014/main" id="{9F8C9183-EFBF-62DB-F8F3-4463F5A8AF8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8D9B9ED-7A97-C0B6-D470-FB6D5D48FD1C}"/>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2449886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7BF06-E16B-1A50-C005-F0C19150E98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65A1027-8CB6-DE82-6047-5D7134A9DAB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2263F80-3564-51A7-0477-AD9C2CFEBEB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AF2E5C4-23C3-32D5-4328-92BF221CD8F6}"/>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6" name="Marcador de pie de página 5">
            <a:extLst>
              <a:ext uri="{FF2B5EF4-FFF2-40B4-BE49-F238E27FC236}">
                <a16:creationId xmlns:a16="http://schemas.microsoft.com/office/drawing/2014/main" id="{27C43FE1-3CB3-54EC-6D29-C233D777840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8937456-3FBE-FF39-5E09-F9164423013B}"/>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3239018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86D6F-99E7-37AE-FDAA-72EE191A2E6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A3233AC-6238-A3FC-895E-8024CD5C1E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B62EAA0-2684-9178-8ACE-FCBD45E4AF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33B150F-A5C1-6106-4ADA-C0B871D25E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4EA660C-71F3-71DC-9C1A-AAE28F65BEA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440E7D6-C682-D779-1E3E-825F78F28946}"/>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8" name="Marcador de pie de página 7">
            <a:extLst>
              <a:ext uri="{FF2B5EF4-FFF2-40B4-BE49-F238E27FC236}">
                <a16:creationId xmlns:a16="http://schemas.microsoft.com/office/drawing/2014/main" id="{8482924B-CBE3-A182-6970-A36A9D7F1D75}"/>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EED7DB4-547D-2E90-AE46-1F22E6ADB73F}"/>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4251511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86E170-6BF4-6052-40F9-9A514100DAF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462FBA6-16FA-5B10-3F92-0FEC538232D2}"/>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4" name="Marcador de pie de página 3">
            <a:extLst>
              <a:ext uri="{FF2B5EF4-FFF2-40B4-BE49-F238E27FC236}">
                <a16:creationId xmlns:a16="http://schemas.microsoft.com/office/drawing/2014/main" id="{A9B12E56-55B8-AA92-3761-D0B7F504385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39472FF1-E0E4-66DA-1651-39BCC3BD7001}"/>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3219512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6EFA940-2E27-E37F-88E5-4198EFA209E8}"/>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3" name="Marcador de pie de página 2">
            <a:extLst>
              <a:ext uri="{FF2B5EF4-FFF2-40B4-BE49-F238E27FC236}">
                <a16:creationId xmlns:a16="http://schemas.microsoft.com/office/drawing/2014/main" id="{24CA57F2-F396-77D4-7F6D-D9CDFF8ED14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D3440458-D162-F2FB-C9B8-94ECF77EF77B}"/>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2741980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469D26-A244-9E1D-EA9D-F11A7E06853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162D456-42FC-C9DA-5A15-09D52E1571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841551D-A432-8E1E-2205-522D00AEA2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18FC9F5-3C3F-ECC5-05D1-19FC14C757D8}"/>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6" name="Marcador de pie de página 5">
            <a:extLst>
              <a:ext uri="{FF2B5EF4-FFF2-40B4-BE49-F238E27FC236}">
                <a16:creationId xmlns:a16="http://schemas.microsoft.com/office/drawing/2014/main" id="{8EC96373-9DD8-3DC4-CEFC-66C68E9E443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B9037BF-D639-272F-A810-C97DB95C5837}"/>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2950027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C3B47A-C276-1912-6C95-840376A24B2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88949AA2-27EF-B432-2F2B-C861075097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MX"/>
          </a:p>
        </p:txBody>
      </p:sp>
      <p:sp>
        <p:nvSpPr>
          <p:cNvPr id="4" name="Marcador de texto 3">
            <a:extLst>
              <a:ext uri="{FF2B5EF4-FFF2-40B4-BE49-F238E27FC236}">
                <a16:creationId xmlns:a16="http://schemas.microsoft.com/office/drawing/2014/main" id="{6C9A1539-97DA-92D9-F31D-E9A260C089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928DBC1-DF0E-C810-0E4C-35F4960B6981}"/>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6" name="Marcador de pie de página 5">
            <a:extLst>
              <a:ext uri="{FF2B5EF4-FFF2-40B4-BE49-F238E27FC236}">
                <a16:creationId xmlns:a16="http://schemas.microsoft.com/office/drawing/2014/main" id="{BBD46181-585C-6A4A-BEBB-F1C281344C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2207D6E-60D7-1EC0-8E43-B710D79F87C7}"/>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1885103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AD0F56-AF82-C839-BEEA-05B6312750C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5DBFDA0-84F8-77A2-3759-D433DA37B4F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5A7163A-A7F1-49AE-683D-39ECFC13E504}"/>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5" name="Marcador de pie de página 4">
            <a:extLst>
              <a:ext uri="{FF2B5EF4-FFF2-40B4-BE49-F238E27FC236}">
                <a16:creationId xmlns:a16="http://schemas.microsoft.com/office/drawing/2014/main" id="{0620AD53-C9A8-34C3-7FFD-F0FC7E74B77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953577E-6C8F-815D-986C-5D163CB1ACF8}"/>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2575089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7086DF-A51F-0E49-CC53-3D62CFF0052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0341ECB-ED11-498F-5539-CF412AADFC3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58EB336-6910-8E66-FCA2-798DA9BA9F8E}"/>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5" name="Marcador de pie de página 4">
            <a:extLst>
              <a:ext uri="{FF2B5EF4-FFF2-40B4-BE49-F238E27FC236}">
                <a16:creationId xmlns:a16="http://schemas.microsoft.com/office/drawing/2014/main" id="{A32C489E-EFAB-C9F5-977D-A3C036CB9BC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699F04F-5EA8-0E6E-C671-BA49C7529968}"/>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2081972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ítulo y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62D9C-817C-8681-3ADF-22FA6FEF644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6F6E58C-CDCD-E3B0-B696-F30B210F250B}"/>
              </a:ext>
            </a:extLst>
          </p:cNvPr>
          <p:cNvSpPr>
            <a:spLocks noGrp="1"/>
          </p:cNvSpPr>
          <p:nvPr>
            <p:ph type="body"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574682-A17C-8541-5CBA-CB3C90BB81D5}"/>
              </a:ext>
            </a:extLst>
          </p:cNvPr>
          <p:cNvSpPr>
            <a:spLocks noGrp="1"/>
          </p:cNvSpPr>
          <p:nvPr>
            <p:ph type="dt" sz="half" idx="10"/>
          </p:nvPr>
        </p:nvSpPr>
        <p:spPr/>
        <p:txBody>
          <a:bodyPr/>
          <a:lstStyle/>
          <a:p>
            <a:fld id="{109748B1-508F-497F-B2E3-34473F6BB47C}" type="datetimeFigureOut">
              <a:rPr lang="es-MX" smtClean="0"/>
              <a:t>28/10/2025</a:t>
            </a:fld>
            <a:endParaRPr lang="es-MX"/>
          </a:p>
        </p:txBody>
      </p:sp>
      <p:sp>
        <p:nvSpPr>
          <p:cNvPr id="5" name="Marcador de pie de página 4">
            <a:extLst>
              <a:ext uri="{FF2B5EF4-FFF2-40B4-BE49-F238E27FC236}">
                <a16:creationId xmlns:a16="http://schemas.microsoft.com/office/drawing/2014/main" id="{2C851E1D-05E2-361B-40C7-72E2BE54EB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88B036C-C454-362C-FE35-7F091EB7EA97}"/>
              </a:ext>
            </a:extLst>
          </p:cNvPr>
          <p:cNvSpPr>
            <a:spLocks noGrp="1"/>
          </p:cNvSpPr>
          <p:nvPr>
            <p:ph type="sldNum" sz="quarter" idx="12"/>
          </p:nvPr>
        </p:nvSpPr>
        <p:spPr/>
        <p:txBody>
          <a:bodyPr/>
          <a:lstStyle/>
          <a:p>
            <a:fld id="{CD89458F-C78B-477C-ABE1-0AA80E7993A5}" type="slidenum">
              <a:rPr lang="es-MX" smtClean="0"/>
              <a:t>‹Nº›</a:t>
            </a:fld>
            <a:endParaRPr lang="es-MX"/>
          </a:p>
        </p:txBody>
      </p:sp>
    </p:spTree>
    <p:extLst>
      <p:ext uri="{BB962C8B-B14F-4D97-AF65-F5344CB8AC3E}">
        <p14:creationId xmlns:p14="http://schemas.microsoft.com/office/powerpoint/2010/main" val="28553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265242F-F542-20FD-BFC6-E96D5A5C4E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3878C6B-5548-2F52-F69B-A129AB0B99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8DEBCE6-742B-B5E3-A75E-769E786C50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9748B1-508F-497F-B2E3-34473F6BB47C}" type="datetimeFigureOut">
              <a:rPr lang="es-MX" smtClean="0"/>
              <a:t>28/10/2025</a:t>
            </a:fld>
            <a:endParaRPr lang="es-MX"/>
          </a:p>
        </p:txBody>
      </p:sp>
      <p:sp>
        <p:nvSpPr>
          <p:cNvPr id="5" name="Marcador de pie de página 4">
            <a:extLst>
              <a:ext uri="{FF2B5EF4-FFF2-40B4-BE49-F238E27FC236}">
                <a16:creationId xmlns:a16="http://schemas.microsoft.com/office/drawing/2014/main" id="{C28D4393-01D9-29FA-9E22-34544E586D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A1A110D3-B382-0D91-C5D4-2D201DDEDA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89458F-C78B-477C-ABE1-0AA80E7993A5}" type="slidenum">
              <a:rPr lang="es-MX" smtClean="0"/>
              <a:t>‹Nº›</a:t>
            </a:fld>
            <a:endParaRPr lang="es-MX"/>
          </a:p>
        </p:txBody>
      </p:sp>
    </p:spTree>
    <p:extLst>
      <p:ext uri="{BB962C8B-B14F-4D97-AF65-F5344CB8AC3E}">
        <p14:creationId xmlns:p14="http://schemas.microsoft.com/office/powerpoint/2010/main" val="1339031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545006-5772-6685-F9B7-B1DE987E8EE7}"/>
              </a:ext>
            </a:extLst>
          </p:cNvPr>
          <p:cNvSpPr>
            <a:spLocks noGrp="1"/>
          </p:cNvSpPr>
          <p:nvPr>
            <p:ph type="title"/>
          </p:nvPr>
        </p:nvSpPr>
        <p:spPr/>
        <p:txBody>
          <a:bodyPr/>
          <a:lstStyle/>
          <a:p>
            <a:pPr marR="0" algn="ctr" rtl="0"/>
            <a:r>
              <a:rPr lang="es-ES" b="0" i="0" u="none" strike="noStrike" kern="100" baseline="0" dirty="0">
                <a:solidFill>
                  <a:schemeClr val="bg1">
                    <a:lumMod val="50000"/>
                  </a:schemeClr>
                </a:solidFill>
                <a:latin typeface="Century Gothic" panose="020B0502020202020204" pitchFamily="34" charset="0"/>
              </a:rPr>
              <a:t>D1</a:t>
            </a:r>
            <a:r>
              <a:rPr lang="es-ES" b="0" i="0" u="none" strike="noStrike" kern="100" baseline="0" dirty="0">
                <a:solidFill>
                  <a:srgbClr val="0F4761"/>
                </a:solidFill>
                <a:latin typeface="Century Gothic" panose="020B0502020202020204" pitchFamily="34" charset="0"/>
              </a:rPr>
              <a:t>	Título: Tecnología, Datos Abiertos y Litigio (45 min)</a:t>
            </a:r>
          </a:p>
        </p:txBody>
      </p:sp>
      <p:sp>
        <p:nvSpPr>
          <p:cNvPr id="3" name="Marcador de texto 2">
            <a:extLst>
              <a:ext uri="{FF2B5EF4-FFF2-40B4-BE49-F238E27FC236}">
                <a16:creationId xmlns:a16="http://schemas.microsoft.com/office/drawing/2014/main" id="{1C7D2882-ACA9-352A-0447-9285F2898A83}"/>
              </a:ext>
            </a:extLst>
          </p:cNvPr>
          <p:cNvSpPr>
            <a:spLocks noGrp="1"/>
          </p:cNvSpPr>
          <p:nvPr>
            <p:ph type="body" idx="1"/>
          </p:nvPr>
        </p:nvSpPr>
        <p:spPr/>
        <p:txBody>
          <a:bodyPr anchor="ctr">
            <a:normAutofit fontScale="70000" lnSpcReduction="20000"/>
          </a:bodyPr>
          <a:lstStyle/>
          <a:p>
            <a:pPr marL="514350" indent="-514350" algn="just">
              <a:buFont typeface="+mj-lt"/>
              <a:buAutoNum type="arabicPeriod"/>
            </a:pPr>
            <a:r>
              <a:rPr lang="es-ES" sz="3200" i="0" u="none" strike="noStrike" kern="100" baseline="0" dirty="0">
                <a:solidFill>
                  <a:schemeClr val="accent4">
                    <a:lumMod val="50000"/>
                  </a:schemeClr>
                </a:solidFill>
                <a:latin typeface="Century Gothic" panose="020B0502020202020204" pitchFamily="34" charset="0"/>
              </a:rPr>
              <a:t>TAREA Práctica (Indicada con anterioridad en esta misma clase): Acceder a la PNT. Ubicar el SIPOT de un Sujeto Obligado y encontrar la información del Directorio (Art. 70, Fracc. X) y los Sueldos (Art. 70, Fracc. VIII) y consulta el Periódico Oficial del Estado de Oaxaca de fecha 24 de octubre de 2025, páginas 1 y 2. </a:t>
            </a:r>
            <a:r>
              <a:rPr lang="es-ES" sz="3200" b="1" i="0" u="none" strike="noStrike" kern="100" baseline="0" dirty="0">
                <a:solidFill>
                  <a:srgbClr val="0F4761"/>
                </a:solidFill>
                <a:latin typeface="Century Gothic" panose="020B0502020202020204" pitchFamily="34" charset="0"/>
              </a:rPr>
              <a:t>¿Cuál es el formato encontrado? (PDF vs. Excel). Cumple legalmente el propósito?</a:t>
            </a:r>
            <a:endParaRPr lang="es-ES" sz="3200" b="1" i="0" u="none" strike="noStrike" kern="100" baseline="0" dirty="0">
              <a:solidFill>
                <a:schemeClr val="accent4">
                  <a:lumMod val="50000"/>
                </a:schemeClr>
              </a:solidFill>
              <a:latin typeface="Century Gothic" panose="020B0502020202020204" pitchFamily="34" charset="0"/>
            </a:endParaRPr>
          </a:p>
          <a:p>
            <a:pPr marL="514350" indent="-514350" algn="just">
              <a:buFont typeface="+mj-lt"/>
              <a:buAutoNum type="arabicPeriod"/>
            </a:pPr>
            <a:endParaRPr lang="es-ES" sz="3200" i="0" u="none" strike="noStrike" kern="100" baseline="0" dirty="0">
              <a:solidFill>
                <a:schemeClr val="accent4">
                  <a:lumMod val="50000"/>
                </a:schemeClr>
              </a:solidFill>
              <a:latin typeface="Century Gothic" panose="020B0502020202020204" pitchFamily="34" charset="0"/>
            </a:endParaRPr>
          </a:p>
          <a:p>
            <a:pPr marL="514350" indent="-514350" algn="just">
              <a:buFont typeface="+mj-lt"/>
              <a:buAutoNum type="arabicPeriod"/>
            </a:pPr>
            <a:r>
              <a:rPr lang="es-ES" sz="3200" kern="100" dirty="0">
                <a:solidFill>
                  <a:schemeClr val="accent4">
                    <a:lumMod val="50000"/>
                  </a:schemeClr>
                </a:solidFill>
                <a:latin typeface="Century Gothic" panose="020B0502020202020204" pitchFamily="34" charset="0"/>
              </a:rPr>
              <a:t>Informe de Lectura del documento base, mismo formato, identificando los conceptos clave.</a:t>
            </a:r>
          </a:p>
          <a:p>
            <a:pPr marL="514350" indent="-514350" algn="just">
              <a:buFont typeface="+mj-lt"/>
              <a:buAutoNum type="arabicPeriod"/>
            </a:pPr>
            <a:endParaRPr lang="es-ES" sz="3200" i="0" u="none" strike="noStrike" kern="100" baseline="0" dirty="0">
              <a:solidFill>
                <a:schemeClr val="accent4">
                  <a:lumMod val="50000"/>
                </a:schemeClr>
              </a:solidFill>
              <a:latin typeface="Century Gothic" panose="020B0502020202020204" pitchFamily="34" charset="0"/>
            </a:endParaRPr>
          </a:p>
          <a:p>
            <a:pPr marL="514350" indent="-514350" algn="just">
              <a:buFont typeface="+mj-lt"/>
              <a:buAutoNum type="arabicPeriod"/>
            </a:pPr>
            <a:r>
              <a:rPr lang="es-ES" sz="3200" kern="100" dirty="0">
                <a:solidFill>
                  <a:schemeClr val="accent4">
                    <a:lumMod val="50000"/>
                  </a:schemeClr>
                </a:solidFill>
                <a:latin typeface="Century Gothic" panose="020B0502020202020204" pitchFamily="34" charset="0"/>
              </a:rPr>
              <a:t>Los recursos (art. 144 a 190) de la LGTAIP</a:t>
            </a:r>
          </a:p>
          <a:p>
            <a:pPr marL="514350" indent="-514350" algn="just">
              <a:buFont typeface="+mj-lt"/>
              <a:buAutoNum type="arabicPeriod"/>
            </a:pPr>
            <a:endParaRPr lang="es-ES" sz="3200" kern="100" dirty="0">
              <a:solidFill>
                <a:schemeClr val="accent4">
                  <a:lumMod val="50000"/>
                </a:schemeClr>
              </a:solidFill>
              <a:latin typeface="Century Gothic" panose="020B0502020202020204" pitchFamily="34" charset="0"/>
            </a:endParaRPr>
          </a:p>
          <a:p>
            <a:pPr marL="514350" indent="-514350" algn="just">
              <a:buFont typeface="+mj-lt"/>
              <a:buAutoNum type="arabicPeriod"/>
            </a:pPr>
            <a:r>
              <a:rPr lang="es-ES" sz="3200" i="0" u="none" strike="noStrike" kern="100" baseline="0" dirty="0">
                <a:solidFill>
                  <a:schemeClr val="accent4">
                    <a:lumMod val="50000"/>
                  </a:schemeClr>
                </a:solidFill>
                <a:latin typeface="Century Gothic" panose="020B0502020202020204" pitchFamily="34" charset="0"/>
              </a:rPr>
              <a:t>Representación </a:t>
            </a:r>
            <a:r>
              <a:rPr lang="es-ES" sz="3200" kern="100" dirty="0">
                <a:solidFill>
                  <a:schemeClr val="accent4">
                    <a:lumMod val="50000"/>
                  </a:schemeClr>
                </a:solidFill>
                <a:latin typeface="Century Gothic" panose="020B0502020202020204" pitchFamily="34" charset="0"/>
              </a:rPr>
              <a:t>esquematizada de la LGTAIP</a:t>
            </a:r>
            <a:endParaRPr lang="es-ES" sz="3200" i="0" u="none" strike="noStrike" kern="100" baseline="0" dirty="0">
              <a:solidFill>
                <a:schemeClr val="accent4">
                  <a:lumMod val="50000"/>
                </a:schemeClr>
              </a:solidFill>
              <a:latin typeface="Century Gothic" panose="020B0502020202020204" pitchFamily="34" charset="0"/>
            </a:endParaRPr>
          </a:p>
        </p:txBody>
      </p:sp>
    </p:spTree>
    <p:extLst>
      <p:ext uri="{BB962C8B-B14F-4D97-AF65-F5344CB8AC3E}">
        <p14:creationId xmlns:p14="http://schemas.microsoft.com/office/powerpoint/2010/main" val="1436555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65F0F8-4238-2C89-3F95-055C4AE4788F}"/>
              </a:ext>
            </a:extLst>
          </p:cNvPr>
          <p:cNvSpPr>
            <a:spLocks noGrp="1"/>
          </p:cNvSpPr>
          <p:nvPr>
            <p:ph type="title"/>
          </p:nvPr>
        </p:nvSpPr>
        <p:spPr/>
        <p:txBody>
          <a:bodyPr/>
          <a:lstStyle/>
          <a:p>
            <a:pPr marR="0" algn="ctr" rtl="0"/>
            <a:r>
              <a:rPr lang="es-ES" b="0" i="0" u="none" strike="noStrike" kern="100" baseline="0" dirty="0">
                <a:solidFill>
                  <a:schemeClr val="bg1">
                    <a:lumMod val="50000"/>
                  </a:schemeClr>
                </a:solidFill>
                <a:latin typeface="Century Gothic" panose="020B0502020202020204" pitchFamily="34" charset="0"/>
              </a:rPr>
              <a:t>D2</a:t>
            </a:r>
            <a:r>
              <a:rPr lang="es-ES" b="0" i="0" u="none" strike="noStrike" kern="100" baseline="0" dirty="0">
                <a:solidFill>
                  <a:srgbClr val="0F4761"/>
                </a:solidFill>
                <a:latin typeface="Century Gothic" panose="020B0502020202020204" pitchFamily="34" charset="0"/>
              </a:rPr>
              <a:t> Revisión de la PNT: Del Acceso al </a:t>
            </a:r>
            <a:r>
              <a:rPr lang="es-ES" b="0" i="1" u="none" strike="noStrike" kern="100" baseline="0" dirty="0">
                <a:solidFill>
                  <a:srgbClr val="0F4761"/>
                </a:solidFill>
                <a:latin typeface="Century Gothic" panose="020B0502020202020204" pitchFamily="34" charset="0"/>
              </a:rPr>
              <a:t>Uso</a:t>
            </a:r>
          </a:p>
        </p:txBody>
      </p:sp>
      <p:sp>
        <p:nvSpPr>
          <p:cNvPr id="3" name="Marcador de texto 2">
            <a:extLst>
              <a:ext uri="{FF2B5EF4-FFF2-40B4-BE49-F238E27FC236}">
                <a16:creationId xmlns:a16="http://schemas.microsoft.com/office/drawing/2014/main" id="{99C790C8-AFC5-5E45-9F11-C80B2544CB15}"/>
              </a:ext>
            </a:extLst>
          </p:cNvPr>
          <p:cNvSpPr>
            <a:spLocks noGrp="1"/>
          </p:cNvSpPr>
          <p:nvPr>
            <p:ph type="body" idx="1"/>
          </p:nvPr>
        </p:nvSpPr>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Mostrar la frustración de la </a:t>
            </a:r>
            <a:r>
              <a:rPr lang="es-ES" b="1" i="0" u="none" strike="noStrike" kern="100" baseline="0" dirty="0">
                <a:solidFill>
                  <a:srgbClr val="0F4761"/>
                </a:solidFill>
                <a:latin typeface="Century Gothic" panose="020B0502020202020204" pitchFamily="34" charset="0"/>
              </a:rPr>
              <a:t>opacidad tecnológica</a:t>
            </a:r>
            <a:r>
              <a:rPr lang="es-ES" b="0" i="0" u="none" strike="noStrike" kern="100" baseline="0" dirty="0">
                <a:solidFill>
                  <a:srgbClr val="0F4761"/>
                </a:solidFill>
                <a:latin typeface="Century Gothic" panose="020B0502020202020204" pitchFamily="34" charset="0"/>
              </a:rPr>
              <a:t>.</a:t>
            </a:r>
          </a:p>
          <a:p>
            <a:pPr marR="0" lvl="0" algn="just" rtl="0"/>
            <a:endParaRPr lang="es-ES" b="0" i="0" u="none" strike="noStrike" kern="100" baseline="0" dirty="0">
              <a:solidFill>
                <a:srgbClr val="0F4761"/>
              </a:solidFill>
              <a:latin typeface="Century Gothic" panose="020B0502020202020204" pitchFamily="34" charset="0"/>
            </a:endParaRPr>
          </a:p>
          <a:p>
            <a:pPr marL="0" marR="0" lvl="0" indent="0" algn="just" rtl="0">
              <a:buNone/>
            </a:pPr>
            <a:r>
              <a:rPr lang="es-ES" b="0" i="0" u="none" strike="noStrike" kern="100" baseline="0" dirty="0">
                <a:solidFill>
                  <a:srgbClr val="0F4761"/>
                </a:solidFill>
                <a:latin typeface="Century Gothic" panose="020B0502020202020204" pitchFamily="34" charset="0"/>
              </a:rPr>
              <a:t>Un PDF escaneado (Imagen) es "información" pero no es "datos útiles". La LGTAIP exige más que solo publicar.</a:t>
            </a:r>
          </a:p>
        </p:txBody>
      </p:sp>
    </p:spTree>
    <p:extLst>
      <p:ext uri="{BB962C8B-B14F-4D97-AF65-F5344CB8AC3E}">
        <p14:creationId xmlns:p14="http://schemas.microsoft.com/office/powerpoint/2010/main" val="2943380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516283-4D5C-3EEB-EDB6-1F76464A4B9E}"/>
              </a:ext>
            </a:extLst>
          </p:cNvPr>
          <p:cNvSpPr>
            <a:spLocks noGrp="1"/>
          </p:cNvSpPr>
          <p:nvPr>
            <p:ph type="title"/>
          </p:nvPr>
        </p:nvSpPr>
        <p:spPr/>
        <p:txBody>
          <a:bodyPr/>
          <a:lstStyle/>
          <a:p>
            <a:pPr marR="0" algn="ctr" rtl="0"/>
            <a:r>
              <a:rPr lang="es-ES" b="0" i="0" u="none" strike="noStrike" kern="100" baseline="0" dirty="0">
                <a:solidFill>
                  <a:schemeClr val="bg1">
                    <a:lumMod val="50000"/>
                  </a:schemeClr>
                </a:solidFill>
                <a:latin typeface="Century Gothic" panose="020B0502020202020204" pitchFamily="34" charset="0"/>
              </a:rPr>
              <a:t>D3</a:t>
            </a:r>
            <a:r>
              <a:rPr lang="es-ES" b="0" i="0" u="none" strike="noStrike" kern="100" baseline="0" dirty="0">
                <a:solidFill>
                  <a:srgbClr val="0F4761"/>
                </a:solidFill>
                <a:latin typeface="Century Gothic" panose="020B0502020202020204" pitchFamily="34" charset="0"/>
              </a:rPr>
              <a:t> La Columna Vertebral Digital: Datos Abiertos</a:t>
            </a:r>
          </a:p>
        </p:txBody>
      </p:sp>
      <p:sp>
        <p:nvSpPr>
          <p:cNvPr id="3" name="Marcador de texto 2">
            <a:extLst>
              <a:ext uri="{FF2B5EF4-FFF2-40B4-BE49-F238E27FC236}">
                <a16:creationId xmlns:a16="http://schemas.microsoft.com/office/drawing/2014/main" id="{D9DFF669-0F59-ED97-C390-81FF72A8728E}"/>
              </a:ext>
            </a:extLst>
          </p:cNvPr>
          <p:cNvSpPr>
            <a:spLocks noGrp="1"/>
          </p:cNvSpPr>
          <p:nvPr>
            <p:ph type="body" idx="1"/>
          </p:nvPr>
        </p:nvSpPr>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Definición de </a:t>
            </a:r>
            <a:r>
              <a:rPr lang="es-ES" b="1" i="0" u="none" strike="noStrike" kern="100" baseline="0" dirty="0">
                <a:solidFill>
                  <a:srgbClr val="0F4761"/>
                </a:solidFill>
                <a:latin typeface="Century Gothic" panose="020B0502020202020204" pitchFamily="34" charset="0"/>
              </a:rPr>
              <a:t>Datos Abiertos (Art. 3, Fracc. VIII)</a:t>
            </a:r>
            <a:r>
              <a:rPr lang="es-ES" b="0" i="0" u="none" strike="noStrike" kern="100" baseline="0" dirty="0">
                <a:solidFill>
                  <a:srgbClr val="0F4761"/>
                </a:solidFill>
                <a:latin typeface="Century Gothic" panose="020B0502020202020204" pitchFamily="34" charset="0"/>
              </a:rPr>
              <a:t>:</a:t>
            </a:r>
            <a:endParaRPr lang="es-ES" kern="100" dirty="0">
              <a:solidFill>
                <a:srgbClr val="0F4761"/>
              </a:solidFill>
              <a:latin typeface="Century Gothic" panose="020B0502020202020204" pitchFamily="34" charset="0"/>
            </a:endParaRPr>
          </a:p>
          <a:p>
            <a:pPr marL="0" marR="0" lvl="0" indent="0" algn="just" rtl="0">
              <a:buNone/>
            </a:pPr>
            <a:r>
              <a:rPr lang="es-ES" b="0" i="0" u="none" strike="noStrike" kern="100" baseline="0" dirty="0">
                <a:solidFill>
                  <a:srgbClr val="0F4761"/>
                </a:solidFill>
                <a:latin typeface="Century Gothic" panose="020B0502020202020204" pitchFamily="34" charset="0"/>
              </a:rPr>
              <a:t>Los datos digitales de carácter público que son accesibles en línea, que pueden ser usados, reutilizados y redistribuidos por cualquier persona interesada.</a:t>
            </a:r>
          </a:p>
          <a:p>
            <a:pPr marL="0" marR="0" lvl="0" indent="0" algn="just" rtl="0">
              <a:buNone/>
            </a:pPr>
            <a:endParaRPr lang="es-ES" kern="100" dirty="0">
              <a:solidFill>
                <a:srgbClr val="0F4761"/>
              </a:solidFill>
              <a:latin typeface="Century Gothic" panose="020B0502020202020204" pitchFamily="34" charset="0"/>
            </a:endParaRPr>
          </a:p>
          <a:p>
            <a:pPr marL="0" marR="0" lvl="0" indent="0" algn="just" rtl="0">
              <a:buNone/>
            </a:pPr>
            <a:r>
              <a:rPr lang="es-ES" b="0" i="0" u="none" strike="noStrike" kern="100" baseline="0" dirty="0">
                <a:solidFill>
                  <a:srgbClr val="0F4761"/>
                </a:solidFill>
                <a:latin typeface="Century Gothic" panose="020B0502020202020204" pitchFamily="34" charset="0"/>
              </a:rPr>
              <a:t>(Anteriormente: “datos digitales, accesibles en línea, </a:t>
            </a:r>
            <a:r>
              <a:rPr lang="es-ES" sz="3200" b="1" i="0" u="none" strike="sngStrike" kern="100" baseline="0" dirty="0">
                <a:solidFill>
                  <a:srgbClr val="0F4761"/>
                </a:solidFill>
                <a:latin typeface="Century Gothic" panose="020B0502020202020204" pitchFamily="34" charset="0"/>
              </a:rPr>
              <a:t>sin restricción de uso</a:t>
            </a:r>
            <a:r>
              <a:rPr lang="es-ES" b="0" i="0" u="none" strike="noStrike" kern="100" baseline="0" dirty="0">
                <a:solidFill>
                  <a:srgbClr val="0F4761"/>
                </a:solidFill>
                <a:latin typeface="Century Gothic" panose="020B0502020202020204" pitchFamily="34" charset="0"/>
              </a:rPr>
              <a:t>, que facilitan el</a:t>
            </a:r>
            <a:r>
              <a:rPr lang="es-ES" i="0" u="none" strike="noStrike" kern="100" baseline="0" dirty="0">
                <a:solidFill>
                  <a:srgbClr val="0F4761"/>
                </a:solidFill>
                <a:latin typeface="Century Gothic" panose="020B0502020202020204" pitchFamily="34" charset="0"/>
              </a:rPr>
              <a:t> procesamiento digital</a:t>
            </a:r>
            <a:r>
              <a:rPr lang="es-ES" b="0" i="0" u="none" strike="noStrike" kern="100" baseline="0" dirty="0">
                <a:solidFill>
                  <a:srgbClr val="0F4761"/>
                </a:solidFill>
                <a:latin typeface="Century Gothic" panose="020B0502020202020204" pitchFamily="34" charset="0"/>
              </a:rPr>
              <a:t>. Es la base de la rendición de cuentas automatizada”.)</a:t>
            </a:r>
          </a:p>
        </p:txBody>
      </p:sp>
    </p:spTree>
    <p:extLst>
      <p:ext uri="{BB962C8B-B14F-4D97-AF65-F5344CB8AC3E}">
        <p14:creationId xmlns:p14="http://schemas.microsoft.com/office/powerpoint/2010/main" val="2448757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447310-CC5C-34F3-E840-0559FBBAA6FD}"/>
              </a:ext>
            </a:extLst>
          </p:cNvPr>
          <p:cNvSpPr>
            <a:spLocks noGrp="1"/>
          </p:cNvSpPr>
          <p:nvPr>
            <p:ph type="title"/>
          </p:nvPr>
        </p:nvSpPr>
        <p:spPr/>
        <p:txBody>
          <a:bodyPr/>
          <a:lstStyle/>
          <a:p>
            <a:pPr marR="0" algn="ctr" rtl="0"/>
            <a:r>
              <a:rPr lang="es-ES" i="0" u="none" strike="noStrike" kern="100" baseline="0" dirty="0">
                <a:solidFill>
                  <a:schemeClr val="bg1">
                    <a:lumMod val="50000"/>
                  </a:schemeClr>
                </a:solidFill>
                <a:latin typeface="Century Gothic" panose="020B0502020202020204" pitchFamily="34" charset="0"/>
              </a:rPr>
              <a:t>D4</a:t>
            </a:r>
            <a:r>
              <a:rPr lang="es-ES" b="0" i="0" u="none" strike="noStrike" kern="100" baseline="0" dirty="0">
                <a:solidFill>
                  <a:srgbClr val="0F4761"/>
                </a:solidFill>
                <a:latin typeface="Century Gothic" panose="020B0502020202020204" pitchFamily="34" charset="0"/>
              </a:rPr>
              <a:t>	Principios de los Datos Abiertos</a:t>
            </a:r>
          </a:p>
        </p:txBody>
      </p:sp>
      <p:sp>
        <p:nvSpPr>
          <p:cNvPr id="3" name="Marcador de texto 2">
            <a:extLst>
              <a:ext uri="{FF2B5EF4-FFF2-40B4-BE49-F238E27FC236}">
                <a16:creationId xmlns:a16="http://schemas.microsoft.com/office/drawing/2014/main" id="{62B12B53-FBB2-0641-0C5B-4A615CEAF086}"/>
              </a:ext>
            </a:extLst>
          </p:cNvPr>
          <p:cNvSpPr>
            <a:spLocks noGrp="1"/>
          </p:cNvSpPr>
          <p:nvPr>
            <p:ph type="body" idx="1"/>
          </p:nvPr>
        </p:nvSpPr>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Destacar los 3 pilares tecnológicos:</a:t>
            </a:r>
          </a:p>
          <a:p>
            <a:pPr marL="0" marR="0" lvl="0" indent="0" algn="just" rtl="0">
              <a:buNone/>
            </a:pPr>
            <a:endParaRPr lang="es-ES" b="0" i="0" u="none" strike="noStrike" kern="100" baseline="0" dirty="0">
              <a:solidFill>
                <a:srgbClr val="0F4761"/>
              </a:solidFill>
              <a:latin typeface="Century Gothic" panose="020B0502020202020204" pitchFamily="34" charset="0"/>
            </a:endParaRPr>
          </a:p>
          <a:p>
            <a:pPr marR="0" lvl="0" algn="just" rtl="0"/>
            <a:r>
              <a:rPr lang="es-ES" b="0" i="0" u="none" strike="noStrike" kern="100" baseline="0" dirty="0">
                <a:solidFill>
                  <a:srgbClr val="0F4761"/>
                </a:solidFill>
                <a:latin typeface="Century Gothic" panose="020B0502020202020204" pitchFamily="34" charset="0"/>
              </a:rPr>
              <a:t>1. </a:t>
            </a:r>
            <a:r>
              <a:rPr lang="es-ES" b="1" i="0" u="none" strike="noStrike" kern="100" baseline="0" dirty="0">
                <a:solidFill>
                  <a:srgbClr val="0F4761"/>
                </a:solidFill>
                <a:latin typeface="Century Gothic" panose="020B0502020202020204" pitchFamily="34" charset="0"/>
              </a:rPr>
              <a:t>Completos</a:t>
            </a:r>
            <a:r>
              <a:rPr lang="es-ES" b="0" i="0" u="none" strike="noStrike" kern="100" baseline="0" dirty="0">
                <a:solidFill>
                  <a:srgbClr val="0F4761"/>
                </a:solidFill>
                <a:latin typeface="Century Gothic" panose="020B0502020202020204" pitchFamily="34" charset="0"/>
              </a:rPr>
              <a:t> (no parciales);</a:t>
            </a:r>
          </a:p>
          <a:p>
            <a:pPr marR="0" lvl="0" algn="just" rtl="0"/>
            <a:r>
              <a:rPr lang="es-ES" b="0" i="0" u="none" strike="noStrike" kern="100" baseline="0" dirty="0">
                <a:solidFill>
                  <a:srgbClr val="0F4761"/>
                </a:solidFill>
                <a:latin typeface="Century Gothic" panose="020B0502020202020204" pitchFamily="34" charset="0"/>
              </a:rPr>
              <a:t>2. </a:t>
            </a:r>
            <a:r>
              <a:rPr lang="es-ES" b="1" i="0" u="none" strike="noStrike" kern="100" baseline="0" dirty="0">
                <a:solidFill>
                  <a:srgbClr val="0F4761"/>
                </a:solidFill>
                <a:latin typeface="Century Gothic" panose="020B0502020202020204" pitchFamily="34" charset="0"/>
              </a:rPr>
              <a:t>Oportunos</a:t>
            </a:r>
            <a:r>
              <a:rPr lang="es-ES" b="0" i="0" u="none" strike="noStrike" kern="100" baseline="0" dirty="0">
                <a:solidFill>
                  <a:srgbClr val="0F4761"/>
                </a:solidFill>
                <a:latin typeface="Century Gothic" panose="020B0502020202020204" pitchFamily="34" charset="0"/>
              </a:rPr>
              <a:t> (actualizados);</a:t>
            </a:r>
          </a:p>
          <a:p>
            <a:pPr marR="0" lvl="0" algn="just" rtl="0"/>
            <a:r>
              <a:rPr lang="es-ES" b="0" i="0" u="none" strike="noStrike" kern="100" baseline="0" dirty="0">
                <a:solidFill>
                  <a:srgbClr val="0F4761"/>
                </a:solidFill>
                <a:latin typeface="Century Gothic" panose="020B0502020202020204" pitchFamily="34" charset="0"/>
              </a:rPr>
              <a:t>3. </a:t>
            </a:r>
            <a:r>
              <a:rPr lang="es-ES" b="1" i="0" u="none" strike="noStrike" kern="100" baseline="0" dirty="0">
                <a:solidFill>
                  <a:srgbClr val="0F4761"/>
                </a:solidFill>
                <a:latin typeface="Century Gothic" panose="020B0502020202020204" pitchFamily="34" charset="0"/>
              </a:rPr>
              <a:t>No Propietarios</a:t>
            </a:r>
            <a:r>
              <a:rPr lang="es-ES" b="0" i="0" u="none" strike="noStrike" kern="100" baseline="0" dirty="0">
                <a:solidFill>
                  <a:srgbClr val="0F4761"/>
                </a:solidFill>
                <a:latin typeface="Century Gothic" panose="020B0502020202020204" pitchFamily="34" charset="0"/>
              </a:rPr>
              <a:t> (CSV, JSON, XML, no formatos cerrados). El formato es un asunto legal.</a:t>
            </a:r>
          </a:p>
        </p:txBody>
      </p:sp>
    </p:spTree>
    <p:extLst>
      <p:ext uri="{BB962C8B-B14F-4D97-AF65-F5344CB8AC3E}">
        <p14:creationId xmlns:p14="http://schemas.microsoft.com/office/powerpoint/2010/main" val="185359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24378-8E10-2D62-821E-AC2FA2E5AD43}"/>
              </a:ext>
            </a:extLst>
          </p:cNvPr>
          <p:cNvSpPr>
            <a:spLocks noGrp="1"/>
          </p:cNvSpPr>
          <p:nvPr>
            <p:ph type="title"/>
          </p:nvPr>
        </p:nvSpPr>
        <p:spPr/>
        <p:txBody>
          <a:bodyPr/>
          <a:lstStyle/>
          <a:p>
            <a:pPr marR="0" algn="ctr" rtl="0"/>
            <a:r>
              <a:rPr lang="es-MX" b="0" i="0" u="none" strike="noStrike" kern="100" baseline="0" dirty="0">
                <a:solidFill>
                  <a:schemeClr val="bg1">
                    <a:lumMod val="50000"/>
                  </a:schemeClr>
                </a:solidFill>
                <a:latin typeface="Century Gothic" panose="020B0502020202020204" pitchFamily="34" charset="0"/>
              </a:rPr>
              <a:t>D5</a:t>
            </a:r>
            <a:r>
              <a:rPr lang="es-MX" b="0" i="0" u="none" strike="noStrike" kern="100" baseline="0" dirty="0">
                <a:solidFill>
                  <a:srgbClr val="0F4761"/>
                </a:solidFill>
                <a:latin typeface="Century Gothic" panose="020B0502020202020204" pitchFamily="34" charset="0"/>
              </a:rPr>
              <a:t>	La Accesibilidad: Un Mandato Legal (Art. 3, Fracc. XIII)</a:t>
            </a:r>
          </a:p>
        </p:txBody>
      </p:sp>
      <p:sp>
        <p:nvSpPr>
          <p:cNvPr id="3" name="Marcador de texto 2">
            <a:extLst>
              <a:ext uri="{FF2B5EF4-FFF2-40B4-BE49-F238E27FC236}">
                <a16:creationId xmlns:a16="http://schemas.microsoft.com/office/drawing/2014/main" id="{6613D3A1-C74B-F7E6-D0E4-5AECF278D33E}"/>
              </a:ext>
            </a:extLst>
          </p:cNvPr>
          <p:cNvSpPr>
            <a:spLocks noGrp="1"/>
          </p:cNvSpPr>
          <p:nvPr>
            <p:ph type="body" idx="1"/>
          </p:nvPr>
        </p:nvSpPr>
        <p:spPr/>
        <p:txBody>
          <a:bodyPr anchor="ctr">
            <a:normAutofit fontScale="92500" lnSpcReduction="10000"/>
          </a:bodyPr>
          <a:lstStyle/>
          <a:p>
            <a:pPr marL="0" marR="0" lvl="0" indent="0" algn="just" rtl="0">
              <a:buNone/>
            </a:pPr>
            <a:r>
              <a:rPr lang="es-ES" b="0" i="0" u="none" strike="noStrike" kern="100" baseline="0" dirty="0">
                <a:solidFill>
                  <a:srgbClr val="0F4761"/>
                </a:solidFill>
                <a:latin typeface="Century Gothic" panose="020B0502020202020204" pitchFamily="34" charset="0"/>
              </a:rPr>
              <a:t>Definir Formatos Accesibles como cualquier forma alternativa que dé acceso a personas con discapacidad (</a:t>
            </a:r>
            <a:r>
              <a:rPr lang="es-ES" b="1" i="0" u="none" strike="noStrike" kern="100" baseline="0" dirty="0">
                <a:solidFill>
                  <a:srgbClr val="0F4761"/>
                </a:solidFill>
                <a:latin typeface="Century Gothic" panose="020B0502020202020204" pitchFamily="34" charset="0"/>
              </a:rPr>
              <a:t>Ajustes Razonables ~ art 3, f I</a:t>
            </a:r>
            <a:r>
              <a:rPr lang="es-ES" b="0" i="0" u="none" strike="noStrike" kern="100" baseline="0" dirty="0">
                <a:solidFill>
                  <a:srgbClr val="0F4761"/>
                </a:solidFill>
                <a:latin typeface="Century Gothic" panose="020B0502020202020204" pitchFamily="34" charset="0"/>
              </a:rPr>
              <a:t>). Hablar de estándares </a:t>
            </a:r>
            <a:r>
              <a:rPr lang="es-ES" b="0" i="1" u="none" strike="noStrike" kern="100" baseline="0" dirty="0">
                <a:solidFill>
                  <a:srgbClr val="0F4761"/>
                </a:solidFill>
                <a:latin typeface="Century Gothic" panose="020B0502020202020204" pitchFamily="34" charset="0"/>
              </a:rPr>
              <a:t>WCAG</a:t>
            </a:r>
            <a:r>
              <a:rPr lang="es-ES" b="0" i="0" u="none" strike="noStrike" kern="100" baseline="0" dirty="0">
                <a:solidFill>
                  <a:srgbClr val="0F4761"/>
                </a:solidFill>
                <a:latin typeface="Century Gothic" panose="020B0502020202020204" pitchFamily="34" charset="0"/>
              </a:rPr>
              <a:t> y la necesidad de </a:t>
            </a:r>
            <a:r>
              <a:rPr lang="es-ES" b="0" i="1" u="none" strike="noStrike" kern="100" baseline="0" dirty="0">
                <a:solidFill>
                  <a:srgbClr val="0F4761"/>
                </a:solidFill>
                <a:latin typeface="Century Gothic" panose="020B0502020202020204" pitchFamily="34" charset="0"/>
              </a:rPr>
              <a:t>tags</a:t>
            </a:r>
            <a:r>
              <a:rPr lang="es-ES" b="0" i="0" u="none" strike="noStrike" kern="100" baseline="0" dirty="0">
                <a:solidFill>
                  <a:srgbClr val="0F4761"/>
                </a:solidFill>
                <a:latin typeface="Century Gothic" panose="020B0502020202020204" pitchFamily="34" charset="0"/>
              </a:rPr>
              <a:t> y descripciones en documentos digitales.</a:t>
            </a:r>
          </a:p>
          <a:p>
            <a:pPr marL="0" marR="0" lvl="0" indent="0" algn="just" rtl="0">
              <a:buNone/>
            </a:pPr>
            <a:endParaRPr lang="es-ES" kern="100" dirty="0">
              <a:solidFill>
                <a:srgbClr val="0F4761"/>
              </a:solidFill>
              <a:latin typeface="Century Gothic" panose="020B0502020202020204" pitchFamily="34" charset="0"/>
            </a:endParaRPr>
          </a:p>
          <a:p>
            <a:pPr marL="0" marR="0" lvl="0" indent="0" algn="just" rtl="0">
              <a:buNone/>
            </a:pPr>
            <a:r>
              <a:rPr lang="es-ES" b="1" kern="100" dirty="0">
                <a:solidFill>
                  <a:srgbClr val="0F4761"/>
                </a:solidFill>
                <a:latin typeface="Century Gothic" panose="020B0502020202020204" pitchFamily="34" charset="0"/>
              </a:rPr>
              <a:t>Formatos Abiertos</a:t>
            </a:r>
            <a:r>
              <a:rPr lang="es-ES" kern="100" dirty="0">
                <a:solidFill>
                  <a:srgbClr val="0F4761"/>
                </a:solidFill>
                <a:latin typeface="Century Gothic" panose="020B0502020202020204" pitchFamily="34" charset="0"/>
              </a:rPr>
              <a:t>: </a:t>
            </a:r>
            <a:r>
              <a:rPr lang="es-ES" b="0" i="0" u="none" strike="noStrike" kern="100" baseline="0" dirty="0">
                <a:solidFill>
                  <a:srgbClr val="0F4761"/>
                </a:solidFill>
                <a:latin typeface="Century Gothic" panose="020B0502020202020204" pitchFamily="34" charset="0"/>
              </a:rPr>
              <a:t>Estarán disponibles con el conjunto de características técnicas y de presentación que corresponden a la estructura lógica usada para almacenar datos en un archivo digital, cuyas especificaciones técnicas están disponibles públicamente, que no suponen una dificultad de acceso y que su aplicación y reproducción no estén condicionadas a contraprestación alguna.</a:t>
            </a:r>
          </a:p>
        </p:txBody>
      </p:sp>
    </p:spTree>
    <p:extLst>
      <p:ext uri="{BB962C8B-B14F-4D97-AF65-F5344CB8AC3E}">
        <p14:creationId xmlns:p14="http://schemas.microsoft.com/office/powerpoint/2010/main" val="922484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F17968-BB83-FAE9-39B5-7309C8B6CDA3}"/>
              </a:ext>
            </a:extLst>
          </p:cNvPr>
          <p:cNvSpPr>
            <a:spLocks noGrp="1"/>
          </p:cNvSpPr>
          <p:nvPr>
            <p:ph type="title"/>
          </p:nvPr>
        </p:nvSpPr>
        <p:spPr/>
        <p:txBody>
          <a:bodyPr/>
          <a:lstStyle/>
          <a:p>
            <a:pPr marR="0" algn="ctr" rtl="0"/>
            <a:r>
              <a:rPr lang="es-ES" b="0" i="0" u="none" strike="noStrike" kern="100" baseline="0" dirty="0">
                <a:solidFill>
                  <a:schemeClr val="bg1">
                    <a:lumMod val="50000"/>
                  </a:schemeClr>
                </a:solidFill>
                <a:latin typeface="Century Gothic" panose="020B0502020202020204" pitchFamily="34" charset="0"/>
              </a:rPr>
              <a:t>D6</a:t>
            </a:r>
            <a:r>
              <a:rPr lang="es-ES" b="0" i="0" u="none" strike="noStrike" kern="100" baseline="0" dirty="0">
                <a:solidFill>
                  <a:srgbClr val="0F4761"/>
                </a:solidFill>
                <a:latin typeface="Century Gothic" panose="020B0502020202020204" pitchFamily="34" charset="0"/>
              </a:rPr>
              <a:t>	El SIRR: El Jurista como Litigante Informático</a:t>
            </a:r>
          </a:p>
        </p:txBody>
      </p:sp>
      <p:sp>
        <p:nvSpPr>
          <p:cNvPr id="3" name="Marcador de texto 2">
            <a:extLst>
              <a:ext uri="{FF2B5EF4-FFF2-40B4-BE49-F238E27FC236}">
                <a16:creationId xmlns:a16="http://schemas.microsoft.com/office/drawing/2014/main" id="{F7FE5CBE-15C7-8767-CE34-F3D57A7A16B6}"/>
              </a:ext>
            </a:extLst>
          </p:cNvPr>
          <p:cNvSpPr>
            <a:spLocks noGrp="1"/>
          </p:cNvSpPr>
          <p:nvPr>
            <p:ph type="body" idx="1"/>
          </p:nvPr>
        </p:nvSpPr>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El Recurso de Revisión (PNT). Es la acción legal contra la respuesta insatisfactoria del Sujeto Obligado. Un recurso es fundado si la información no es accesible, completa o en el formato solicitado. Se interpone a través de la PNT.</a:t>
            </a:r>
          </a:p>
          <a:p>
            <a:pPr marL="0" marR="0" lvl="0" indent="0" algn="just" rtl="0">
              <a:buNone/>
            </a:pPr>
            <a:endParaRPr lang="es-ES" kern="100" dirty="0">
              <a:solidFill>
                <a:srgbClr val="0F4761"/>
              </a:solidFill>
              <a:latin typeface="Century Gothic" panose="020B0502020202020204" pitchFamily="34" charset="0"/>
            </a:endParaRPr>
          </a:p>
          <a:p>
            <a:pPr marL="0" marR="0" lvl="0" indent="0" algn="just" rtl="0">
              <a:buNone/>
            </a:pPr>
            <a:r>
              <a:rPr lang="es-ES" b="1" i="0" u="none" strike="noStrike" kern="100" baseline="0" dirty="0">
                <a:solidFill>
                  <a:srgbClr val="0F4761"/>
                </a:solidFill>
                <a:latin typeface="Century Gothic" panose="020B0502020202020204" pitchFamily="34" charset="0"/>
              </a:rPr>
              <a:t>Artículos 144 a 161 Ley General de Transparencia y Acceso a la Información Pública.</a:t>
            </a:r>
          </a:p>
        </p:txBody>
      </p:sp>
    </p:spTree>
    <p:extLst>
      <p:ext uri="{BB962C8B-B14F-4D97-AF65-F5344CB8AC3E}">
        <p14:creationId xmlns:p14="http://schemas.microsoft.com/office/powerpoint/2010/main" val="4274529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B986B-AE37-3811-2682-BE2154A4ADCE}"/>
              </a:ext>
            </a:extLst>
          </p:cNvPr>
          <p:cNvSpPr>
            <a:spLocks noGrp="1"/>
          </p:cNvSpPr>
          <p:nvPr>
            <p:ph type="title"/>
          </p:nvPr>
        </p:nvSpPr>
        <p:spPr/>
        <p:txBody>
          <a:bodyPr/>
          <a:lstStyle/>
          <a:p>
            <a:pPr marR="0" algn="ctr" rtl="0"/>
            <a:r>
              <a:rPr lang="es-ES" b="0" i="0" u="none" strike="noStrike" kern="100" baseline="0" dirty="0">
                <a:solidFill>
                  <a:schemeClr val="bg1">
                    <a:lumMod val="50000"/>
                  </a:schemeClr>
                </a:solidFill>
                <a:latin typeface="Century Gothic" panose="020B0502020202020204" pitchFamily="34" charset="0"/>
              </a:rPr>
              <a:t>D7</a:t>
            </a:r>
            <a:r>
              <a:rPr lang="es-ES" b="0" i="0" u="none" strike="noStrike" kern="100" baseline="0" dirty="0">
                <a:solidFill>
                  <a:srgbClr val="0F4761"/>
                </a:solidFill>
                <a:latin typeface="Century Gothic" panose="020B0502020202020204" pitchFamily="34" charset="0"/>
              </a:rPr>
              <a:t>	Tipos de Litigio en Derecho Informático</a:t>
            </a:r>
          </a:p>
        </p:txBody>
      </p:sp>
      <p:sp>
        <p:nvSpPr>
          <p:cNvPr id="3" name="Marcador de texto 2">
            <a:extLst>
              <a:ext uri="{FF2B5EF4-FFF2-40B4-BE49-F238E27FC236}">
                <a16:creationId xmlns:a16="http://schemas.microsoft.com/office/drawing/2014/main" id="{D8DE4685-0CA8-3E32-BC56-5C50D7E582B4}"/>
              </a:ext>
            </a:extLst>
          </p:cNvPr>
          <p:cNvSpPr>
            <a:spLocks noGrp="1"/>
          </p:cNvSpPr>
          <p:nvPr>
            <p:ph type="body" idx="1"/>
          </p:nvPr>
        </p:nvSpPr>
        <p:spPr/>
        <p:txBody>
          <a:bodyPr anchor="ctr">
            <a:normAutofit lnSpcReduction="10000"/>
          </a:bodyPr>
          <a:lstStyle/>
          <a:p>
            <a:pPr marR="0" lvl="0" algn="just" rtl="0"/>
            <a:r>
              <a:rPr lang="es-ES" b="0" i="0" u="none" strike="noStrike" kern="100" baseline="0" dirty="0">
                <a:solidFill>
                  <a:srgbClr val="0F4761"/>
                </a:solidFill>
                <a:latin typeface="Century Gothic" panose="020B0502020202020204" pitchFamily="34" charset="0"/>
              </a:rPr>
              <a:t>Enfocarse en qué supuestos del Recurso de Revisión los casos (</a:t>
            </a:r>
            <a:r>
              <a:rPr lang="es-ES" b="1" i="0" u="none" strike="noStrike" kern="100" baseline="0" dirty="0">
                <a:solidFill>
                  <a:srgbClr val="0F4761"/>
                </a:solidFill>
                <a:latin typeface="Century Gothic" panose="020B0502020202020204" pitchFamily="34" charset="0"/>
              </a:rPr>
              <a:t>causales</a:t>
            </a:r>
            <a:r>
              <a:rPr lang="es-ES" b="0" i="0" u="none" strike="noStrike" kern="100" baseline="0" dirty="0">
                <a:solidFill>
                  <a:srgbClr val="0F4761"/>
                </a:solidFill>
                <a:latin typeface="Century Gothic" panose="020B0502020202020204" pitchFamily="34" charset="0"/>
              </a:rPr>
              <a:t>) siguientes:</a:t>
            </a:r>
          </a:p>
          <a:p>
            <a:pPr marR="0" lvl="0" algn="just" rtl="0"/>
            <a:endParaRPr lang="es-ES" b="0" i="0" u="none" strike="noStrike" kern="100" baseline="0" dirty="0">
              <a:solidFill>
                <a:srgbClr val="0F4761"/>
              </a:solidFill>
              <a:latin typeface="Century Gothic" panose="020B0502020202020204" pitchFamily="34" charset="0"/>
            </a:endParaRPr>
          </a:p>
          <a:p>
            <a:pPr marL="0" marR="0" lvl="0" indent="0" algn="just" rtl="0">
              <a:buNone/>
            </a:pPr>
            <a:r>
              <a:rPr lang="es-ES" b="0" i="0" u="none" strike="noStrike" kern="100" baseline="0" dirty="0">
                <a:solidFill>
                  <a:srgbClr val="0F4761"/>
                </a:solidFill>
                <a:latin typeface="Century Gothic" panose="020B0502020202020204" pitchFamily="34" charset="0"/>
              </a:rPr>
              <a:t>1. Por Inexistencia o Negativa Falsa: Desmentir que el dato no existe, usando la lógica de funciones del Sujeto Obligado. </a:t>
            </a:r>
            <a:r>
              <a:rPr lang="es-ES" b="0" i="0" u="none" strike="noStrike" kern="100" baseline="0" dirty="0" err="1">
                <a:solidFill>
                  <a:srgbClr val="FF0000"/>
                </a:solidFill>
                <a:latin typeface="Century Gothic" panose="020B0502020202020204" pitchFamily="34" charset="0"/>
              </a:rPr>
              <a:t>Fracción:_II</a:t>
            </a:r>
            <a:r>
              <a:rPr lang="es-ES" b="0" i="0" u="none" strike="noStrike" kern="100" baseline="0" dirty="0">
                <a:solidFill>
                  <a:srgbClr val="FF0000"/>
                </a:solidFill>
                <a:latin typeface="Century Gothic" panose="020B0502020202020204" pitchFamily="34" charset="0"/>
              </a:rPr>
              <a:t>____________</a:t>
            </a:r>
          </a:p>
          <a:p>
            <a:pPr marL="0" marR="0" lvl="0" indent="0" algn="just" rtl="0">
              <a:buNone/>
            </a:pPr>
            <a:endParaRPr lang="es-ES" b="0" i="0" u="none" strike="noStrike" kern="100" baseline="0" dirty="0">
              <a:solidFill>
                <a:srgbClr val="0F4761"/>
              </a:solidFill>
              <a:latin typeface="Century Gothic" panose="020B0502020202020204" pitchFamily="34" charset="0"/>
            </a:endParaRPr>
          </a:p>
          <a:p>
            <a:pPr marL="0" marR="0" lvl="0" indent="0" algn="just" rtl="0">
              <a:buNone/>
            </a:pPr>
            <a:r>
              <a:rPr lang="es-ES" b="0" i="0" u="none" strike="noStrike" kern="100" baseline="0" dirty="0">
                <a:solidFill>
                  <a:srgbClr val="0F4761"/>
                </a:solidFill>
                <a:latin typeface="Century Gothic" panose="020B0502020202020204" pitchFamily="34" charset="0"/>
              </a:rPr>
              <a:t>2. Por Deficiencia en el Formato: Litigar específicamente que el PDF escaneado viola los principios de Máxima Publicidad y Datos Abiertos. </a:t>
            </a:r>
            <a:r>
              <a:rPr lang="es-ES" b="0" i="0" u="none" strike="noStrike" kern="100" baseline="0" dirty="0" err="1">
                <a:solidFill>
                  <a:srgbClr val="FF0000"/>
                </a:solidFill>
                <a:latin typeface="Century Gothic" panose="020B0502020202020204" pitchFamily="34" charset="0"/>
              </a:rPr>
              <a:t>Fracción:_____VIII</a:t>
            </a:r>
            <a:r>
              <a:rPr lang="es-ES" b="0" i="0" u="none" strike="noStrike" kern="100" baseline="0" dirty="0">
                <a:solidFill>
                  <a:srgbClr val="FF0000"/>
                </a:solidFill>
                <a:latin typeface="Century Gothic" panose="020B0502020202020204" pitchFamily="34" charset="0"/>
              </a:rPr>
              <a:t>________</a:t>
            </a:r>
          </a:p>
        </p:txBody>
      </p:sp>
    </p:spTree>
    <p:extLst>
      <p:ext uri="{BB962C8B-B14F-4D97-AF65-F5344CB8AC3E}">
        <p14:creationId xmlns:p14="http://schemas.microsoft.com/office/powerpoint/2010/main" val="1522591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C58F9D-739E-ED1C-4566-D947C85AF8E8}"/>
              </a:ext>
            </a:extLst>
          </p:cNvPr>
          <p:cNvSpPr>
            <a:spLocks noGrp="1"/>
          </p:cNvSpPr>
          <p:nvPr>
            <p:ph type="title"/>
          </p:nvPr>
        </p:nvSpPr>
        <p:spPr/>
        <p:txBody>
          <a:bodyPr/>
          <a:lstStyle/>
          <a:p>
            <a:pPr marR="0" algn="ctr" rtl="0"/>
            <a:r>
              <a:rPr lang="es-ES" b="0" i="0" u="none" strike="noStrike" kern="100" baseline="0" dirty="0">
                <a:solidFill>
                  <a:schemeClr val="bg1">
                    <a:lumMod val="50000"/>
                  </a:schemeClr>
                </a:solidFill>
                <a:latin typeface="Century Gothic" panose="020B0502020202020204" pitchFamily="34" charset="0"/>
              </a:rPr>
              <a:t>D8</a:t>
            </a:r>
            <a:r>
              <a:rPr lang="es-ES" b="0" i="0" u="none" strike="noStrike" kern="100" baseline="0" dirty="0">
                <a:solidFill>
                  <a:srgbClr val="0F4761"/>
                </a:solidFill>
                <a:latin typeface="Century Gothic" panose="020B0502020202020204" pitchFamily="34" charset="0"/>
              </a:rPr>
              <a:t>	Intersección Crítica: Transparencia vs. Datos Personales</a:t>
            </a:r>
          </a:p>
        </p:txBody>
      </p:sp>
      <p:sp>
        <p:nvSpPr>
          <p:cNvPr id="3" name="Marcador de texto 2">
            <a:extLst>
              <a:ext uri="{FF2B5EF4-FFF2-40B4-BE49-F238E27FC236}">
                <a16:creationId xmlns:a16="http://schemas.microsoft.com/office/drawing/2014/main" id="{A9531BEC-BC40-E337-404D-EC32B56212A3}"/>
              </a:ext>
            </a:extLst>
          </p:cNvPr>
          <p:cNvSpPr>
            <a:spLocks noGrp="1"/>
          </p:cNvSpPr>
          <p:nvPr>
            <p:ph type="body" idx="1"/>
          </p:nvPr>
        </p:nvSpPr>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El conflicto LGTAIP (Máxima Publicidad-</a:t>
            </a:r>
            <a:r>
              <a:rPr lang="es-ES" b="1" i="0" u="none" strike="noStrike" kern="100" baseline="0" dirty="0">
                <a:solidFill>
                  <a:srgbClr val="0F4761"/>
                </a:solidFill>
                <a:latin typeface="Century Gothic" panose="020B0502020202020204" pitchFamily="34" charset="0"/>
              </a:rPr>
              <a:t>art. 8 </a:t>
            </a:r>
            <a:r>
              <a:rPr lang="es-ES" b="1" i="0" u="none" strike="noStrike" kern="100" baseline="0" dirty="0" err="1">
                <a:solidFill>
                  <a:srgbClr val="0F4761"/>
                </a:solidFill>
                <a:latin typeface="Century Gothic" panose="020B0502020202020204" pitchFamily="34" charset="0"/>
              </a:rPr>
              <a:t>fracc</a:t>
            </a:r>
            <a:r>
              <a:rPr lang="es-ES" b="1" i="0" u="none" strike="noStrike" kern="100" baseline="0" dirty="0">
                <a:solidFill>
                  <a:srgbClr val="0F4761"/>
                </a:solidFill>
                <a:latin typeface="Century Gothic" panose="020B0502020202020204" pitchFamily="34" charset="0"/>
              </a:rPr>
              <a:t> X</a:t>
            </a:r>
            <a:r>
              <a:rPr lang="es-ES" b="0" i="0" u="none" strike="noStrike" kern="100" baseline="0" dirty="0">
                <a:solidFill>
                  <a:srgbClr val="0F4761"/>
                </a:solidFill>
                <a:latin typeface="Century Gothic" panose="020B0502020202020204" pitchFamily="34" charset="0"/>
              </a:rPr>
              <a:t>) vs. LGPDPPSO (Protección de Datos-</a:t>
            </a:r>
            <a:r>
              <a:rPr lang="es-ES" b="1" i="0" u="none" strike="noStrike" kern="100" baseline="0" dirty="0">
                <a:solidFill>
                  <a:srgbClr val="0F4761"/>
                </a:solidFill>
                <a:latin typeface="Century Gothic" panose="020B0502020202020204" pitchFamily="34" charset="0"/>
              </a:rPr>
              <a:t>art 66</a:t>
            </a:r>
            <a:r>
              <a:rPr lang="es-ES" b="0" i="0" u="none" strike="noStrike" kern="100" baseline="0" dirty="0">
                <a:solidFill>
                  <a:srgbClr val="0F4761"/>
                </a:solidFill>
                <a:latin typeface="Century Gothic" panose="020B0502020202020204" pitchFamily="34" charset="0"/>
              </a:rPr>
              <a:t>).</a:t>
            </a:r>
          </a:p>
          <a:p>
            <a:pPr marL="0" marR="0" lvl="0" indent="0" algn="just" rtl="0">
              <a:buNone/>
            </a:pPr>
            <a:endParaRPr lang="es-ES" kern="100" dirty="0">
              <a:solidFill>
                <a:srgbClr val="0F4761"/>
              </a:solidFill>
              <a:latin typeface="Century Gothic" panose="020B0502020202020204" pitchFamily="34" charset="0"/>
            </a:endParaRPr>
          </a:p>
          <a:p>
            <a:pPr marL="0" marR="0" lvl="0" indent="0" algn="just" rtl="0">
              <a:buNone/>
            </a:pPr>
            <a:r>
              <a:rPr lang="es-ES" b="0" i="0" u="none" strike="noStrike" kern="100" baseline="0" dirty="0">
                <a:solidFill>
                  <a:srgbClr val="0F4761"/>
                </a:solidFill>
                <a:latin typeface="Century Gothic" panose="020B0502020202020204" pitchFamily="34" charset="0"/>
              </a:rPr>
              <a:t>La labor del jurista es balancear estos derechos: Testar (eliminar) lo confidencial sin dañar el valor público de la información.</a:t>
            </a:r>
            <a:endParaRPr lang="es-ES" b="0" i="0" u="none" strike="noStrike" kern="100" baseline="0" dirty="0">
              <a:solidFill>
                <a:srgbClr val="FF0000"/>
              </a:solidFill>
              <a:highlight>
                <a:srgbClr val="000000"/>
              </a:highlight>
              <a:latin typeface="Century Gothic" panose="020B0502020202020204" pitchFamily="34" charset="0"/>
            </a:endParaRPr>
          </a:p>
          <a:p>
            <a:pPr marL="0" marR="0" lvl="0" indent="0" algn="ctr" rtl="0">
              <a:buNone/>
            </a:pPr>
            <a:r>
              <a:rPr lang="es-ES" strike="sngStrike" kern="100" dirty="0">
                <a:solidFill>
                  <a:srgbClr val="0F4761"/>
                </a:solidFill>
                <a:latin typeface="Century Gothic" panose="020B0502020202020204" pitchFamily="34" charset="0"/>
              </a:rPr>
              <a:t>Testar</a:t>
            </a:r>
          </a:p>
          <a:p>
            <a:pPr marL="0" marR="0" lvl="0" indent="0" algn="ctr" rtl="0">
              <a:buNone/>
            </a:pPr>
            <a:r>
              <a:rPr lang="es-ES" b="0" i="0" u="none" strike="sngStrike" kern="100" baseline="0" dirty="0">
                <a:solidFill>
                  <a:schemeClr val="tx1">
                    <a:lumMod val="95000"/>
                    <a:lumOff val="5000"/>
                  </a:schemeClr>
                </a:solidFill>
                <a:highlight>
                  <a:srgbClr val="000000"/>
                </a:highlight>
                <a:latin typeface="Century Gothic" panose="020B0502020202020204" pitchFamily="34" charset="0"/>
              </a:rPr>
              <a:t>Testar</a:t>
            </a:r>
          </a:p>
        </p:txBody>
      </p:sp>
    </p:spTree>
    <p:extLst>
      <p:ext uri="{BB962C8B-B14F-4D97-AF65-F5344CB8AC3E}">
        <p14:creationId xmlns:p14="http://schemas.microsoft.com/office/powerpoint/2010/main" val="3881024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C58F9D-739E-ED1C-4566-D947C85AF8E8}"/>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Ejemplo de testado de Datos Personales (VERSIÓN PÚBLICA)</a:t>
            </a:r>
          </a:p>
        </p:txBody>
      </p:sp>
      <p:pic>
        <p:nvPicPr>
          <p:cNvPr id="5" name="Imagen 4">
            <a:extLst>
              <a:ext uri="{FF2B5EF4-FFF2-40B4-BE49-F238E27FC236}">
                <a16:creationId xmlns:a16="http://schemas.microsoft.com/office/drawing/2014/main" id="{34125312-FF4D-8FE2-1DC4-963FC4E163B5}"/>
              </a:ext>
            </a:extLst>
          </p:cNvPr>
          <p:cNvPicPr>
            <a:picLocks noChangeAspect="1"/>
          </p:cNvPicPr>
          <p:nvPr/>
        </p:nvPicPr>
        <p:blipFill rotWithShape="1">
          <a:blip r:embed="rId2"/>
          <a:srcRect l="29754" t="24640" r="29057" b="6865"/>
          <a:stretch/>
        </p:blipFill>
        <p:spPr>
          <a:xfrm>
            <a:off x="3627619" y="1690687"/>
            <a:ext cx="5171607" cy="4835275"/>
          </a:xfrm>
          <a:prstGeom prst="rect">
            <a:avLst/>
          </a:prstGeom>
          <a:ln w="19050">
            <a:solidFill>
              <a:schemeClr val="accent3">
                <a:lumMod val="60000"/>
                <a:lumOff val="40000"/>
              </a:schemeClr>
            </a:solidFill>
          </a:ln>
        </p:spPr>
      </p:pic>
    </p:spTree>
    <p:extLst>
      <p:ext uri="{BB962C8B-B14F-4D97-AF65-F5344CB8AC3E}">
        <p14:creationId xmlns:p14="http://schemas.microsoft.com/office/powerpoint/2010/main" val="1992757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ED227A-58C8-9777-8595-A834BDF725DB}"/>
              </a:ext>
            </a:extLst>
          </p:cNvPr>
          <p:cNvSpPr>
            <a:spLocks noGrp="1"/>
          </p:cNvSpPr>
          <p:nvPr>
            <p:ph type="title"/>
          </p:nvPr>
        </p:nvSpPr>
        <p:spPr/>
        <p:txBody>
          <a:bodyPr/>
          <a:lstStyle/>
          <a:p>
            <a:pPr marR="0" algn="ctr" rtl="0"/>
            <a:r>
              <a:rPr lang="es-ES" b="0" i="0" u="none" strike="noStrike" kern="100" baseline="0" dirty="0">
                <a:solidFill>
                  <a:schemeClr val="bg1">
                    <a:lumMod val="50000"/>
                  </a:schemeClr>
                </a:solidFill>
                <a:latin typeface="Century Gothic" panose="020B0502020202020204" pitchFamily="34" charset="0"/>
              </a:rPr>
              <a:t>D9</a:t>
            </a:r>
            <a:r>
              <a:rPr lang="es-ES" b="0" i="0" u="none" strike="noStrike" kern="100" baseline="0" dirty="0">
                <a:solidFill>
                  <a:srgbClr val="0F4761"/>
                </a:solidFill>
                <a:latin typeface="Century Gothic" panose="020B0502020202020204" pitchFamily="34" charset="0"/>
              </a:rPr>
              <a:t> Conclusiones: El Jurista Informático como Garante</a:t>
            </a:r>
          </a:p>
        </p:txBody>
      </p:sp>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El abogado informático es quien tiene las herramientas para exigir y auditar que la tecnología se use para abrir el gobierno, y no para crear nuevas barreras de opacidad.</a:t>
            </a:r>
          </a:p>
        </p:txBody>
      </p:sp>
    </p:spTree>
    <p:extLst>
      <p:ext uri="{BB962C8B-B14F-4D97-AF65-F5344CB8AC3E}">
        <p14:creationId xmlns:p14="http://schemas.microsoft.com/office/powerpoint/2010/main" val="2261845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1253331"/>
            <a:ext cx="10515600" cy="4351338"/>
          </a:xfrm>
          <a:solidFill>
            <a:schemeClr val="accent1">
              <a:lumMod val="40000"/>
              <a:lumOff val="60000"/>
            </a:schemeClr>
          </a:solidFill>
          <a:ln w="38100">
            <a:solidFill>
              <a:schemeClr val="accent1"/>
            </a:solidFill>
          </a:ln>
        </p:spPr>
        <p:txBody>
          <a:bodyPr anchor="ctr">
            <a:normAutofit/>
          </a:bodyPr>
          <a:lstStyle/>
          <a:p>
            <a:pPr marL="0" marR="0" lvl="0" indent="0" algn="ctr" rtl="0">
              <a:buNone/>
            </a:pPr>
            <a:r>
              <a:rPr lang="es-ES" sz="6000" b="0" i="0" u="none" strike="noStrike" kern="100" baseline="0" dirty="0">
                <a:solidFill>
                  <a:srgbClr val="0F4761"/>
                </a:solidFill>
                <a:latin typeface="Century Gothic" panose="020B0502020202020204" pitchFamily="34" charset="0"/>
              </a:rPr>
              <a:t>REFLEXIONES</a:t>
            </a:r>
          </a:p>
        </p:txBody>
      </p:sp>
    </p:spTree>
    <p:extLst>
      <p:ext uri="{BB962C8B-B14F-4D97-AF65-F5344CB8AC3E}">
        <p14:creationId xmlns:p14="http://schemas.microsoft.com/office/powerpoint/2010/main" val="2698002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1</a:t>
            </a:r>
            <a:r>
              <a:rPr lang="es-ES" i="0" u="none" strike="noStrike" kern="100" baseline="0" dirty="0">
                <a:solidFill>
                  <a:srgbClr val="0F4761"/>
                </a:solidFill>
                <a:latin typeface="Century Gothic" panose="020B0502020202020204" pitchFamily="34" charset="0"/>
              </a:rPr>
              <a:t> de 6 </a:t>
            </a:r>
            <a:r>
              <a:rPr lang="es-ES" b="1" i="0" u="none" strike="noStrike" kern="100" baseline="0" dirty="0">
                <a:solidFill>
                  <a:srgbClr val="0F4761"/>
                </a:solidFill>
                <a:latin typeface="Century Gothic" panose="020B0502020202020204" pitchFamily="34" charset="0"/>
              </a:rPr>
              <a:t>El Ghosting Legal: La Declaración de Inexistencia:</a:t>
            </a:r>
          </a:p>
          <a:p>
            <a:pPr marL="0" marR="0" lvl="0" indent="0" algn="just" rtl="0">
              <a:buNone/>
            </a:pPr>
            <a:endParaRPr lang="es-ES" b="0" i="0" u="none" strike="noStrike" kern="100" baseline="0" dirty="0">
              <a:solidFill>
                <a:srgbClr val="0F4761"/>
              </a:solidFill>
              <a:latin typeface="Century Gothic" panose="020B0502020202020204" pitchFamily="34" charset="0"/>
            </a:endParaRPr>
          </a:p>
          <a:p>
            <a:pPr marL="0" marR="0" lvl="0" indent="0" algn="just" rtl="0">
              <a:buNone/>
            </a:pPr>
            <a:r>
              <a:rPr lang="es-ES" b="1" i="0" u="none" strike="noStrike" kern="100" baseline="0" dirty="0">
                <a:solidFill>
                  <a:srgbClr val="0F4761"/>
                </a:solidFill>
                <a:latin typeface="Century Gothic" panose="020B0502020202020204" pitchFamily="34" charset="0"/>
              </a:rPr>
              <a:t>Reflexión:</a:t>
            </a:r>
            <a:endParaRPr lang="es-ES" b="0" i="0" u="none" strike="noStrike" kern="100" baseline="0" dirty="0">
              <a:solidFill>
                <a:srgbClr val="0F4761"/>
              </a:solidFill>
              <a:latin typeface="Century Gothic" panose="020B0502020202020204" pitchFamily="34" charset="0"/>
            </a:endParaRPr>
          </a:p>
          <a:p>
            <a:pPr marL="0" marR="0" lvl="0" indent="0" algn="just" rtl="0">
              <a:buNone/>
            </a:pPr>
            <a:r>
              <a:rPr lang="es-ES" b="0" i="0" u="none" strike="noStrike" kern="100" baseline="0" dirty="0">
                <a:solidFill>
                  <a:srgbClr val="0F4761"/>
                </a:solidFill>
                <a:latin typeface="Century Gothic" panose="020B0502020202020204" pitchFamily="34" charset="0"/>
              </a:rPr>
              <a:t>Cuando un sujeto obligado declara que la información "no existe" (Art. 145, </a:t>
            </a:r>
            <a:r>
              <a:rPr lang="es-ES" b="0" i="0" u="none" strike="noStrike" kern="100" baseline="0" dirty="0" err="1">
                <a:solidFill>
                  <a:srgbClr val="0F4761"/>
                </a:solidFill>
                <a:latin typeface="Century Gothic" panose="020B0502020202020204" pitchFamily="34" charset="0"/>
              </a:rPr>
              <a:t>fracc</a:t>
            </a:r>
            <a:r>
              <a:rPr lang="es-ES" b="0" i="0" u="none" strike="noStrike" kern="100" baseline="0" dirty="0">
                <a:solidFill>
                  <a:srgbClr val="0F4761"/>
                </a:solidFill>
                <a:latin typeface="Century Gothic" panose="020B0502020202020204" pitchFamily="34" charset="0"/>
              </a:rPr>
              <a:t> II), pero es una información que debería existir por su función (p.ej., el inventario de bienes), está recurriendo a una figura legal para evadir la transparencia. El jurista informático debe usar la lógica de Sistemas de Información Gubernamentales para probar que la información necesariamente fue capturada o documentada.</a:t>
            </a:r>
          </a:p>
          <a:p>
            <a:pPr marL="0" marR="0" lvl="0" indent="0" algn="just" rtl="0">
              <a:buNone/>
            </a:pPr>
            <a:endParaRPr lang="es-ES" b="0" i="0" u="none" strike="noStrike" kern="100" baseline="0" dirty="0">
              <a:solidFill>
                <a:srgbClr val="0F4761"/>
              </a:solidFill>
              <a:latin typeface="Century Gothic" panose="020B0502020202020204" pitchFamily="34" charset="0"/>
            </a:endParaRPr>
          </a:p>
        </p:txBody>
      </p:sp>
    </p:spTree>
    <p:extLst>
      <p:ext uri="{BB962C8B-B14F-4D97-AF65-F5344CB8AC3E}">
        <p14:creationId xmlns:p14="http://schemas.microsoft.com/office/powerpoint/2010/main" val="3045797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2</a:t>
            </a:r>
            <a:r>
              <a:rPr lang="es-ES" i="0" u="none" strike="noStrike" kern="100" baseline="0" dirty="0">
                <a:solidFill>
                  <a:srgbClr val="0F4761"/>
                </a:solidFill>
                <a:latin typeface="Century Gothic" panose="020B0502020202020204" pitchFamily="34" charset="0"/>
              </a:rPr>
              <a:t> de 6 </a:t>
            </a:r>
            <a:r>
              <a:rPr lang="es-ES" b="1" i="0" u="none" strike="noStrike" kern="100" baseline="0" dirty="0">
                <a:solidFill>
                  <a:srgbClr val="0F4761"/>
                </a:solidFill>
                <a:latin typeface="Century Gothic" panose="020B0502020202020204" pitchFamily="34" charset="0"/>
              </a:rPr>
              <a:t>El Firewall Burocrático: No hay Interoperabilidad::</a:t>
            </a:r>
          </a:p>
          <a:p>
            <a:pPr marL="0" marR="0" lvl="0" indent="0" algn="just" rtl="0">
              <a:buNone/>
            </a:pPr>
            <a:r>
              <a:rPr lang="es-ES" b="0" i="0" u="none" strike="noStrike" kern="100" baseline="0" dirty="0">
                <a:solidFill>
                  <a:srgbClr val="0F4761"/>
                </a:solidFill>
                <a:latin typeface="Century Gothic" panose="020B0502020202020204" pitchFamily="34" charset="0"/>
              </a:rPr>
              <a:t> </a:t>
            </a:r>
          </a:p>
          <a:p>
            <a:pPr marL="0" marR="0" lvl="0" indent="0" algn="just" rtl="0">
              <a:buNone/>
            </a:pPr>
            <a:r>
              <a:rPr lang="es-ES" b="1" i="0" u="none" strike="noStrike" kern="100" baseline="0" dirty="0">
                <a:solidFill>
                  <a:srgbClr val="0F4761"/>
                </a:solidFill>
                <a:latin typeface="Century Gothic" panose="020B0502020202020204" pitchFamily="34" charset="0"/>
              </a:rPr>
              <a:t>Reflexión:</a:t>
            </a:r>
          </a:p>
          <a:p>
            <a:pPr marL="0" marR="0" lvl="0" indent="0" algn="just" rtl="0">
              <a:buNone/>
            </a:pPr>
            <a:r>
              <a:rPr lang="es-ES" b="0" i="0" u="none" strike="noStrike" kern="100" baseline="0" dirty="0">
                <a:solidFill>
                  <a:srgbClr val="0F4761"/>
                </a:solidFill>
                <a:latin typeface="Century Gothic" panose="020B0502020202020204" pitchFamily="34" charset="0"/>
              </a:rPr>
              <a:t>Los datos sobre gasto de nómina existen en el sistema de Recursos Humanos, los contratos en el sistema de Adquisiciones, y los planes en el de Planeación. Cuando los sistemas de la misma dependencia no "hablan" entre sí (falta de interoperabilidad), se vuelve imposible cumplir con el Art. 70 completo en la PNT, resultando en datos incompletos o desactualizados. La ley obliga a la coordinación interna.</a:t>
            </a:r>
          </a:p>
        </p:txBody>
      </p:sp>
    </p:spTree>
    <p:extLst>
      <p:ext uri="{BB962C8B-B14F-4D97-AF65-F5344CB8AC3E}">
        <p14:creationId xmlns:p14="http://schemas.microsoft.com/office/powerpoint/2010/main" val="3366916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3</a:t>
            </a:r>
            <a:r>
              <a:rPr lang="es-ES" i="0" u="none" strike="noStrike" kern="100" baseline="0" dirty="0">
                <a:solidFill>
                  <a:srgbClr val="0F4761"/>
                </a:solidFill>
                <a:latin typeface="Century Gothic" panose="020B0502020202020204" pitchFamily="34" charset="0"/>
              </a:rPr>
              <a:t> de 6 </a:t>
            </a:r>
            <a:r>
              <a:rPr lang="es-ES" b="1" i="0" u="none" strike="noStrike" kern="100" baseline="0" dirty="0">
                <a:solidFill>
                  <a:srgbClr val="0F4761"/>
                </a:solidFill>
                <a:latin typeface="Century Gothic" panose="020B0502020202020204" pitchFamily="34" charset="0"/>
              </a:rPr>
              <a:t>La Auditoría con Scripts (El Valor del CSV):</a:t>
            </a:r>
          </a:p>
          <a:p>
            <a:pPr marL="0" marR="0" lvl="0" indent="0" algn="just" rtl="0">
              <a:buNone/>
            </a:pPr>
            <a:endParaRPr lang="es-ES" b="1" i="0" u="none" strike="noStrike" kern="100" baseline="0" dirty="0">
              <a:solidFill>
                <a:srgbClr val="0F4761"/>
              </a:solidFill>
              <a:latin typeface="Century Gothic" panose="020B0502020202020204" pitchFamily="34" charset="0"/>
            </a:endParaRPr>
          </a:p>
          <a:p>
            <a:pPr marL="0" marR="0" lvl="0" indent="0" algn="just" rtl="0">
              <a:buNone/>
            </a:pPr>
            <a:r>
              <a:rPr lang="es-ES" b="1" i="0" u="none" strike="noStrike" kern="100" baseline="0" dirty="0">
                <a:solidFill>
                  <a:srgbClr val="0F4761"/>
                </a:solidFill>
                <a:latin typeface="Century Gothic" panose="020B0502020202020204" pitchFamily="34" charset="0"/>
              </a:rPr>
              <a:t>Reflexión:</a:t>
            </a:r>
            <a:r>
              <a:rPr lang="es-ES" i="0" u="none" strike="noStrike" kern="100" baseline="0" dirty="0">
                <a:solidFill>
                  <a:srgbClr val="0F4761"/>
                </a:solidFill>
                <a:latin typeface="Century Gothic" panose="020B0502020202020204" pitchFamily="34" charset="0"/>
              </a:rPr>
              <a:t> Una organización de la sociedad civil pide un padrón de beneficiarios. Si el sujeto obligado lo entrega como CSV (</a:t>
            </a:r>
            <a:r>
              <a:rPr lang="es-ES" i="1" u="none" strike="noStrike" kern="100" baseline="0" dirty="0" err="1">
                <a:solidFill>
                  <a:srgbClr val="0F4761"/>
                </a:solidFill>
                <a:latin typeface="Century Gothic" panose="020B0502020202020204" pitchFamily="34" charset="0"/>
              </a:rPr>
              <a:t>Comma</a:t>
            </a:r>
            <a:r>
              <a:rPr lang="es-ES" i="1" u="none" strike="noStrike" kern="100" baseline="0" dirty="0">
                <a:solidFill>
                  <a:srgbClr val="0F4761"/>
                </a:solidFill>
                <a:latin typeface="Century Gothic" panose="020B0502020202020204" pitchFamily="34" charset="0"/>
              </a:rPr>
              <a:t> </a:t>
            </a:r>
            <a:r>
              <a:rPr lang="es-ES" i="1" u="none" strike="noStrike" kern="100" baseline="0" dirty="0" err="1">
                <a:solidFill>
                  <a:srgbClr val="0F4761"/>
                </a:solidFill>
                <a:latin typeface="Century Gothic" panose="020B0502020202020204" pitchFamily="34" charset="0"/>
              </a:rPr>
              <a:t>Separated</a:t>
            </a:r>
            <a:r>
              <a:rPr lang="es-ES" i="1" u="none" strike="noStrike" kern="100" baseline="0" dirty="0">
                <a:solidFill>
                  <a:srgbClr val="0F4761"/>
                </a:solidFill>
                <a:latin typeface="Century Gothic" panose="020B0502020202020204" pitchFamily="34" charset="0"/>
              </a:rPr>
              <a:t> </a:t>
            </a:r>
            <a:r>
              <a:rPr lang="es-ES" i="1" u="none" strike="noStrike" kern="100" baseline="0" dirty="0" err="1">
                <a:solidFill>
                  <a:srgbClr val="0F4761"/>
                </a:solidFill>
                <a:latin typeface="Century Gothic" panose="020B0502020202020204" pitchFamily="34" charset="0"/>
              </a:rPr>
              <a:t>Values</a:t>
            </a:r>
            <a:r>
              <a:rPr lang="es-ES" i="0" u="none" strike="noStrike" kern="100" baseline="0" dirty="0">
                <a:solidFill>
                  <a:srgbClr val="0F4761"/>
                </a:solidFill>
                <a:latin typeface="Century Gothic" panose="020B0502020202020204" pitchFamily="34" charset="0"/>
              </a:rPr>
              <a:t>) o Excel, un analista puede procesar miles de registros en minutos, detectando duplicidades o "beneficiarios fantasma". Si lo entrega en un PDF de 500 páginas, el análisis es casi imposible. El formato de datos es el campo de batalla entre la auditoría y la opacidad.</a:t>
            </a:r>
          </a:p>
        </p:txBody>
      </p:sp>
    </p:spTree>
    <p:extLst>
      <p:ext uri="{BB962C8B-B14F-4D97-AF65-F5344CB8AC3E}">
        <p14:creationId xmlns:p14="http://schemas.microsoft.com/office/powerpoint/2010/main" val="3900132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4</a:t>
            </a:r>
            <a:r>
              <a:rPr lang="es-ES" i="0" u="none" strike="noStrike" kern="100" baseline="0" dirty="0">
                <a:solidFill>
                  <a:srgbClr val="0F4761"/>
                </a:solidFill>
                <a:latin typeface="Century Gothic" panose="020B0502020202020204" pitchFamily="34" charset="0"/>
              </a:rPr>
              <a:t> de 6 </a:t>
            </a:r>
            <a:r>
              <a:rPr lang="es-ES" b="1" i="0" u="none" strike="noStrike" kern="100" baseline="0" dirty="0">
                <a:solidFill>
                  <a:srgbClr val="0F4761"/>
                </a:solidFill>
                <a:latin typeface="Century Gothic" panose="020B0502020202020204" pitchFamily="34" charset="0"/>
              </a:rPr>
              <a:t>Litigio por Datos Incompletos (Redacción Ininteligible):</a:t>
            </a:r>
          </a:p>
          <a:p>
            <a:pPr marL="0" marR="0" lvl="0" indent="0" algn="just" rtl="0">
              <a:buNone/>
            </a:pPr>
            <a:endParaRPr lang="es-ES" b="1" i="0" u="none" strike="noStrike" kern="100" baseline="0" dirty="0">
              <a:solidFill>
                <a:srgbClr val="0F4761"/>
              </a:solidFill>
              <a:latin typeface="Century Gothic" panose="020B0502020202020204" pitchFamily="34" charset="0"/>
            </a:endParaRPr>
          </a:p>
          <a:p>
            <a:pPr marL="0" marR="0" lvl="0" indent="0" algn="just" rtl="0">
              <a:buNone/>
            </a:pPr>
            <a:r>
              <a:rPr lang="es-ES" b="1" i="0" u="none" strike="noStrike" kern="100" baseline="0" dirty="0">
                <a:solidFill>
                  <a:srgbClr val="0F4761"/>
                </a:solidFill>
                <a:latin typeface="Century Gothic" panose="020B0502020202020204" pitchFamily="34" charset="0"/>
              </a:rPr>
              <a:t>Reflexión:</a:t>
            </a:r>
            <a:r>
              <a:rPr lang="es-ES" i="0" u="none" strike="noStrike" kern="100" baseline="0" dirty="0">
                <a:solidFill>
                  <a:srgbClr val="0F4761"/>
                </a:solidFill>
                <a:latin typeface="Century Gothic" panose="020B0502020202020204" pitchFamily="34" charset="0"/>
              </a:rPr>
              <a:t> Un sujeto obligado responde una solicitud, pero testa o elimina demasiada información, dejando el documento ininteligible (ej. "Se contrató a [TACHADO] por un monto de [TACHADO] pesos"). El recurso de revisión se litiga porque la protección de datos personales no debe anular el interés público, argumentando que la testadura fue excesiva y arbitraria.</a:t>
            </a:r>
          </a:p>
        </p:txBody>
      </p:sp>
    </p:spTree>
    <p:extLst>
      <p:ext uri="{BB962C8B-B14F-4D97-AF65-F5344CB8AC3E}">
        <p14:creationId xmlns:p14="http://schemas.microsoft.com/office/powerpoint/2010/main" val="2143987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5</a:t>
            </a:r>
            <a:r>
              <a:rPr lang="es-ES" i="0" u="none" strike="noStrike" kern="100" baseline="0" dirty="0">
                <a:solidFill>
                  <a:srgbClr val="0F4761"/>
                </a:solidFill>
                <a:latin typeface="Century Gothic" panose="020B0502020202020204" pitchFamily="34" charset="0"/>
              </a:rPr>
              <a:t> de 6 </a:t>
            </a:r>
            <a:r>
              <a:rPr lang="es-ES" b="1" i="0" u="none" strike="noStrike" kern="100" baseline="0" dirty="0">
                <a:solidFill>
                  <a:srgbClr val="0F4761"/>
                </a:solidFill>
                <a:latin typeface="Century Gothic" panose="020B0502020202020204" pitchFamily="34" charset="0"/>
              </a:rPr>
              <a:t>El Riesgo de la IA y el Uso Público de Datos:</a:t>
            </a:r>
          </a:p>
          <a:p>
            <a:pPr marL="0" marR="0" lvl="0" indent="0" algn="just" rtl="0">
              <a:buNone/>
            </a:pPr>
            <a:endParaRPr lang="es-ES" b="1" i="0" u="none" strike="noStrike" kern="100" baseline="0" dirty="0">
              <a:solidFill>
                <a:srgbClr val="0F4761"/>
              </a:solidFill>
              <a:latin typeface="Century Gothic" panose="020B0502020202020204" pitchFamily="34" charset="0"/>
            </a:endParaRPr>
          </a:p>
          <a:p>
            <a:pPr marL="0" marR="0" lvl="0" indent="0" algn="just" rtl="0">
              <a:buNone/>
            </a:pPr>
            <a:r>
              <a:rPr lang="es-ES" b="1" i="0" u="none" strike="noStrike" kern="100" baseline="0" dirty="0">
                <a:solidFill>
                  <a:srgbClr val="0F4761"/>
                </a:solidFill>
                <a:latin typeface="Century Gothic" panose="020B0502020202020204" pitchFamily="34" charset="0"/>
              </a:rPr>
              <a:t>Reflexión:</a:t>
            </a:r>
            <a:r>
              <a:rPr lang="es-ES" i="0" u="none" strike="noStrike" kern="100" baseline="0" dirty="0">
                <a:solidFill>
                  <a:srgbClr val="0F4761"/>
                </a:solidFill>
                <a:latin typeface="Century Gothic" panose="020B0502020202020204" pitchFamily="34" charset="0"/>
              </a:rPr>
              <a:t> En el futuro, los abogados y la ciudadanía usarán la IA para analizar automáticamente los grandes volúmenes de datos abiertos del gobierno. Esto solo será posible si el gobierno cumple con la LGTAIP y publica datos estructurados y estandarizados. Si no lo hace, el beneficio de la IA para la rendición de cuentas queda anulado.</a:t>
            </a:r>
          </a:p>
          <a:p>
            <a:pPr marL="0" marR="0" lvl="0" indent="0" algn="just" rtl="0">
              <a:buNone/>
            </a:pPr>
            <a:endParaRPr lang="es-ES" i="0" u="none" strike="noStrike" kern="100" baseline="0" dirty="0">
              <a:solidFill>
                <a:srgbClr val="0F4761"/>
              </a:solidFill>
              <a:latin typeface="Century Gothic" panose="020B0502020202020204" pitchFamily="34" charset="0"/>
            </a:endParaRPr>
          </a:p>
        </p:txBody>
      </p:sp>
    </p:spTree>
    <p:extLst>
      <p:ext uri="{BB962C8B-B14F-4D97-AF65-F5344CB8AC3E}">
        <p14:creationId xmlns:p14="http://schemas.microsoft.com/office/powerpoint/2010/main" val="1296874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6</a:t>
            </a:r>
            <a:r>
              <a:rPr lang="es-ES" i="0" u="none" strike="noStrike" kern="100" baseline="0" dirty="0">
                <a:solidFill>
                  <a:srgbClr val="0F4761"/>
                </a:solidFill>
                <a:latin typeface="Century Gothic" panose="020B0502020202020204" pitchFamily="34" charset="0"/>
              </a:rPr>
              <a:t> de </a:t>
            </a:r>
            <a:r>
              <a:rPr lang="es-ES" b="1" i="0" u="none" strike="noStrike" kern="100" baseline="0" dirty="0">
                <a:solidFill>
                  <a:srgbClr val="0F4761"/>
                </a:solidFill>
                <a:latin typeface="Century Gothic" panose="020B0502020202020204" pitchFamily="34" charset="0"/>
              </a:rPr>
              <a:t>6</a:t>
            </a:r>
            <a:r>
              <a:rPr lang="es-ES" i="0" u="none" strike="noStrike" kern="100" baseline="0" dirty="0">
                <a:solidFill>
                  <a:srgbClr val="0F4761"/>
                </a:solidFill>
                <a:latin typeface="Century Gothic" panose="020B0502020202020204" pitchFamily="34" charset="0"/>
              </a:rPr>
              <a:t> </a:t>
            </a:r>
            <a:r>
              <a:rPr lang="es-ES" b="1" i="0" u="none" strike="noStrike" kern="100" baseline="0" dirty="0">
                <a:solidFill>
                  <a:srgbClr val="0F4761"/>
                </a:solidFill>
                <a:latin typeface="Century Gothic" panose="020B0502020202020204" pitchFamily="34" charset="0"/>
              </a:rPr>
              <a:t>El Caso de la Seguridad Nacional como Escudo (Art. 112</a:t>
            </a:r>
            <a:r>
              <a:rPr lang="es-ES" i="0" u="none" strike="noStrike" kern="100" baseline="0" dirty="0">
                <a:solidFill>
                  <a:srgbClr val="0F4761"/>
                </a:solidFill>
                <a:latin typeface="Century Gothic" panose="020B0502020202020204" pitchFamily="34" charset="0"/>
              </a:rPr>
              <a:t> y </a:t>
            </a:r>
            <a:r>
              <a:rPr lang="es-ES" b="1" i="0" u="sng" strike="noStrike" kern="100" baseline="0" dirty="0">
                <a:solidFill>
                  <a:srgbClr val="0F4761"/>
                </a:solidFill>
                <a:latin typeface="Century Gothic" panose="020B0502020202020204" pitchFamily="34" charset="0"/>
              </a:rPr>
              <a:t>113</a:t>
            </a:r>
            <a:r>
              <a:rPr lang="es-ES" b="1" i="0" u="none" strike="noStrike" kern="100" baseline="0" dirty="0">
                <a:solidFill>
                  <a:srgbClr val="0F4761"/>
                </a:solidFill>
                <a:latin typeface="Century Gothic" panose="020B0502020202020204" pitchFamily="34" charset="0"/>
              </a:rPr>
              <a:t>):</a:t>
            </a:r>
          </a:p>
          <a:p>
            <a:pPr marL="0" marR="0" lvl="0" indent="0" algn="just" rtl="0">
              <a:buNone/>
            </a:pPr>
            <a:endParaRPr lang="es-ES" b="1" i="0" u="none" strike="noStrike" kern="100" baseline="0" dirty="0">
              <a:solidFill>
                <a:srgbClr val="0F4761"/>
              </a:solidFill>
              <a:latin typeface="Century Gothic" panose="020B0502020202020204" pitchFamily="34" charset="0"/>
            </a:endParaRPr>
          </a:p>
          <a:p>
            <a:pPr marL="0" marR="0" lvl="0" indent="0" algn="just" rtl="0">
              <a:buNone/>
            </a:pPr>
            <a:r>
              <a:rPr lang="es-ES" b="1" i="0" u="none" strike="noStrike" kern="100" baseline="0" dirty="0">
                <a:solidFill>
                  <a:srgbClr val="0F4761"/>
                </a:solidFill>
                <a:latin typeface="Century Gothic" panose="020B0502020202020204" pitchFamily="34" charset="0"/>
              </a:rPr>
              <a:t>Reflexión:</a:t>
            </a:r>
            <a:r>
              <a:rPr lang="es-ES" i="0" u="none" strike="noStrike" kern="100" baseline="0" dirty="0">
                <a:solidFill>
                  <a:srgbClr val="0F4761"/>
                </a:solidFill>
                <a:latin typeface="Century Gothic" panose="020B0502020202020204" pitchFamily="34" charset="0"/>
              </a:rPr>
              <a:t> La ley permite clasificar información como reservada por seguridad nacional. Sin embargo, este supuesto ha sido históricamente usado de forma amplia para proteger proyectos polémicos o megaproyectos. El jurista informático debe desafiar la reserva, demostrando que el interés público en conocer el gasto y el impacto ambiental supera el supuesto riesgo de seguridad nacional (Principio de Interés Público Mayor).</a:t>
            </a:r>
          </a:p>
        </p:txBody>
      </p:sp>
    </p:spTree>
    <p:extLst>
      <p:ext uri="{BB962C8B-B14F-4D97-AF65-F5344CB8AC3E}">
        <p14:creationId xmlns:p14="http://schemas.microsoft.com/office/powerpoint/2010/main" val="2175840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1253331"/>
            <a:ext cx="10515600" cy="4351338"/>
          </a:xfrm>
          <a:solidFill>
            <a:schemeClr val="accent1">
              <a:lumMod val="40000"/>
              <a:lumOff val="60000"/>
            </a:schemeClr>
          </a:solidFill>
          <a:ln w="38100">
            <a:solidFill>
              <a:schemeClr val="accent1"/>
            </a:solidFill>
          </a:ln>
        </p:spPr>
        <p:txBody>
          <a:bodyPr anchor="ctr">
            <a:normAutofit/>
          </a:bodyPr>
          <a:lstStyle/>
          <a:p>
            <a:pPr marL="0" marR="0" lvl="0" indent="0" algn="ctr" rtl="0">
              <a:buNone/>
            </a:pPr>
            <a:r>
              <a:rPr lang="es-ES" sz="6000" b="1" i="0" u="none" strike="noStrike" kern="100" baseline="0" dirty="0">
                <a:solidFill>
                  <a:srgbClr val="0F4761"/>
                </a:solidFill>
                <a:latin typeface="Century Gothic" panose="020B0502020202020204" pitchFamily="34" charset="0"/>
              </a:rPr>
              <a:t>C</a:t>
            </a:r>
            <a:r>
              <a:rPr lang="es-ES" sz="6000" b="0" i="0" u="none" strike="noStrike" kern="100" baseline="0" dirty="0">
                <a:solidFill>
                  <a:srgbClr val="0F4761"/>
                </a:solidFill>
                <a:latin typeface="Century Gothic" panose="020B0502020202020204" pitchFamily="34" charset="0"/>
              </a:rPr>
              <a:t>RÍTICAS</a:t>
            </a:r>
          </a:p>
          <a:p>
            <a:pPr marL="0" marR="0" lvl="0" indent="0" algn="ctr" rtl="0">
              <a:buNone/>
            </a:pPr>
            <a:r>
              <a:rPr lang="es-ES" sz="6000" b="1" i="0" u="none" strike="noStrike" kern="100" baseline="0" dirty="0">
                <a:solidFill>
                  <a:srgbClr val="0F4761"/>
                </a:solidFill>
                <a:latin typeface="Century Gothic" panose="020B0502020202020204" pitchFamily="34" charset="0"/>
              </a:rPr>
              <a:t>A</a:t>
            </a:r>
            <a:r>
              <a:rPr lang="es-ES" sz="6000" b="0" i="0" u="none" strike="noStrike" kern="100" baseline="0" dirty="0">
                <a:solidFill>
                  <a:srgbClr val="0F4761"/>
                </a:solidFill>
                <a:latin typeface="Century Gothic" panose="020B0502020202020204" pitchFamily="34" charset="0"/>
              </a:rPr>
              <a:t>CADÉMICAS</a:t>
            </a:r>
          </a:p>
          <a:p>
            <a:pPr marL="0" marR="0" lvl="0" indent="0" algn="ctr" rtl="0">
              <a:buNone/>
            </a:pPr>
            <a:r>
              <a:rPr lang="es-ES" sz="6000" b="0" i="0" u="none" strike="noStrike" kern="100" baseline="0" dirty="0">
                <a:solidFill>
                  <a:srgbClr val="0F4761"/>
                </a:solidFill>
                <a:latin typeface="Century Gothic" panose="020B0502020202020204" pitchFamily="34" charset="0"/>
              </a:rPr>
              <a:t>Y</a:t>
            </a:r>
          </a:p>
          <a:p>
            <a:pPr marL="0" marR="0" lvl="0" indent="0" algn="ctr" rtl="0">
              <a:buNone/>
            </a:pPr>
            <a:r>
              <a:rPr lang="es-ES" sz="6000" b="1" i="0" u="none" strike="noStrike" kern="100" baseline="0" dirty="0">
                <a:solidFill>
                  <a:srgbClr val="0F4761"/>
                </a:solidFill>
                <a:latin typeface="Century Gothic" panose="020B0502020202020204" pitchFamily="34" charset="0"/>
              </a:rPr>
              <a:t>P</a:t>
            </a:r>
            <a:r>
              <a:rPr lang="es-ES" sz="6000" b="0" i="0" u="none" strike="noStrike" kern="100" baseline="0" dirty="0">
                <a:solidFill>
                  <a:srgbClr val="0F4761"/>
                </a:solidFill>
                <a:latin typeface="Century Gothic" panose="020B0502020202020204" pitchFamily="34" charset="0"/>
              </a:rPr>
              <a:t>OLÍTICAS</a:t>
            </a:r>
          </a:p>
        </p:txBody>
      </p:sp>
    </p:spTree>
    <p:extLst>
      <p:ext uri="{BB962C8B-B14F-4D97-AF65-F5344CB8AC3E}">
        <p14:creationId xmlns:p14="http://schemas.microsoft.com/office/powerpoint/2010/main" val="3441158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1</a:t>
            </a:r>
            <a:r>
              <a:rPr lang="es-ES" i="0" u="none" strike="noStrike" kern="100" baseline="0" dirty="0">
                <a:solidFill>
                  <a:srgbClr val="0F4761"/>
                </a:solidFill>
                <a:latin typeface="Century Gothic" panose="020B0502020202020204" pitchFamily="34" charset="0"/>
              </a:rPr>
              <a:t> de </a:t>
            </a:r>
            <a:r>
              <a:rPr lang="es-ES" b="1" i="0" u="none" strike="noStrike" kern="100" baseline="0" dirty="0">
                <a:solidFill>
                  <a:srgbClr val="0F4761"/>
                </a:solidFill>
                <a:latin typeface="Century Gothic" panose="020B0502020202020204" pitchFamily="34" charset="0"/>
              </a:rPr>
              <a:t>4	Ernesto Villanueva (Investigador UNAM, Especialista en Derecho a la Información):</a:t>
            </a:r>
          </a:p>
          <a:p>
            <a:pPr marL="0" marR="0" lvl="0" indent="0" algn="just" rtl="0">
              <a:buNone/>
            </a:pPr>
            <a:endParaRPr lang="es-ES" b="1" kern="100" dirty="0">
              <a:solidFill>
                <a:srgbClr val="0F4761"/>
              </a:solidFill>
              <a:latin typeface="Century Gothic" panose="020B0502020202020204" pitchFamily="34" charset="0"/>
            </a:endParaRPr>
          </a:p>
          <a:p>
            <a:pPr marL="0" marR="0" lvl="0" indent="0" algn="just" rtl="0">
              <a:buNone/>
            </a:pPr>
            <a:r>
              <a:rPr lang="es-ES" i="0" u="none" strike="noStrike" kern="100" baseline="0" dirty="0">
                <a:solidFill>
                  <a:srgbClr val="0F4761"/>
                </a:solidFill>
                <a:latin typeface="Century Gothic" panose="020B0502020202020204" pitchFamily="34" charset="0"/>
              </a:rPr>
              <a:t>Crítica:</a:t>
            </a:r>
            <a:endParaRPr lang="es-ES" b="1" i="0" u="none" strike="noStrike" kern="100" baseline="0" dirty="0">
              <a:solidFill>
                <a:srgbClr val="0F4761"/>
              </a:solidFill>
              <a:latin typeface="Century Gothic" panose="020B0502020202020204" pitchFamily="34" charset="0"/>
            </a:endParaRPr>
          </a:p>
          <a:p>
            <a:pPr marL="0" marR="0" lvl="0" indent="0" algn="just" rtl="0">
              <a:buNone/>
            </a:pPr>
            <a:r>
              <a:rPr lang="es-ES" b="1" i="0" u="none" strike="noStrike" kern="100" baseline="0" dirty="0">
                <a:solidFill>
                  <a:srgbClr val="0F4761"/>
                </a:solidFill>
                <a:latin typeface="Century Gothic" panose="020B0502020202020204" pitchFamily="34" charset="0"/>
              </a:rPr>
              <a:t>"La LGTAIP fracasa cuando los órganos garantes, como el INAI, no ejercen sus facultades de apremio y sanción de manera contundente. Una ley sin </a:t>
            </a:r>
            <a:r>
              <a:rPr lang="es-ES" b="1" i="0" u="none" strike="noStrike" kern="100" baseline="0" dirty="0">
                <a:solidFill>
                  <a:srgbClr val="C00000"/>
                </a:solidFill>
                <a:latin typeface="Century Gothic" panose="020B0502020202020204" pitchFamily="34" charset="0"/>
              </a:rPr>
              <a:t>dientes fuertes</a:t>
            </a:r>
            <a:r>
              <a:rPr lang="es-ES" b="1" i="0" u="none" strike="noStrike" kern="100" baseline="0" dirty="0">
                <a:solidFill>
                  <a:srgbClr val="0F4761"/>
                </a:solidFill>
                <a:latin typeface="Century Gothic" panose="020B0502020202020204" pitchFamily="34" charset="0"/>
              </a:rPr>
              <a:t> en un contexto de resistencia burocrática se vuelve meramente declarativa. La </a:t>
            </a:r>
            <a:r>
              <a:rPr lang="es-ES" b="1" i="0" u="none" strike="noStrike" kern="100" baseline="0" dirty="0">
                <a:solidFill>
                  <a:srgbClr val="C00000"/>
                </a:solidFill>
                <a:latin typeface="Century Gothic" panose="020B0502020202020204" pitchFamily="34" charset="0"/>
              </a:rPr>
              <a:t>imposición de multas y responsabilidades</a:t>
            </a:r>
            <a:r>
              <a:rPr lang="es-ES" b="1" i="0" u="none" strike="noStrike" kern="100" baseline="0" dirty="0">
                <a:solidFill>
                  <a:srgbClr val="0F4761"/>
                </a:solidFill>
                <a:latin typeface="Century Gothic" panose="020B0502020202020204" pitchFamily="34" charset="0"/>
              </a:rPr>
              <a:t> es el único lenguaje que la burocracia entiende para dejar de privilegiar la opacidad."</a:t>
            </a:r>
          </a:p>
        </p:txBody>
      </p:sp>
    </p:spTree>
    <p:extLst>
      <p:ext uri="{BB962C8B-B14F-4D97-AF65-F5344CB8AC3E}">
        <p14:creationId xmlns:p14="http://schemas.microsoft.com/office/powerpoint/2010/main" val="1200513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2</a:t>
            </a:r>
            <a:r>
              <a:rPr lang="es-ES" i="0" u="none" strike="noStrike" kern="100" baseline="0" dirty="0">
                <a:solidFill>
                  <a:srgbClr val="0F4761"/>
                </a:solidFill>
                <a:latin typeface="Century Gothic" panose="020B0502020202020204" pitchFamily="34" charset="0"/>
              </a:rPr>
              <a:t> de </a:t>
            </a:r>
            <a:r>
              <a:rPr lang="es-ES" b="1" i="0" u="none" strike="noStrike" kern="100" baseline="0" dirty="0">
                <a:solidFill>
                  <a:srgbClr val="0F4761"/>
                </a:solidFill>
                <a:latin typeface="Century Gothic" panose="020B0502020202020204" pitchFamily="34" charset="0"/>
              </a:rPr>
              <a:t>4	Lourdes Morales (Académica y Directora de la Red por la Rendición de Cuentas):</a:t>
            </a:r>
          </a:p>
          <a:p>
            <a:pPr marL="0" marR="0" lvl="0" indent="0" algn="just" rtl="0">
              <a:buNone/>
            </a:pPr>
            <a:endParaRPr lang="es-ES" b="1" i="0" u="none" strike="noStrike" kern="100" baseline="0" dirty="0">
              <a:solidFill>
                <a:srgbClr val="0F4761"/>
              </a:solidFill>
              <a:latin typeface="Century Gothic" panose="020B0502020202020204" pitchFamily="34" charset="0"/>
            </a:endParaRPr>
          </a:p>
          <a:p>
            <a:pPr marL="0" marR="0" lvl="0" indent="0" algn="just" rtl="0">
              <a:buNone/>
            </a:pPr>
            <a:r>
              <a:rPr lang="es-ES" i="0" u="none" strike="noStrike" kern="100" baseline="0" dirty="0">
                <a:solidFill>
                  <a:srgbClr val="0F4761"/>
                </a:solidFill>
                <a:latin typeface="Century Gothic" panose="020B0502020202020204" pitchFamily="34" charset="0"/>
              </a:rPr>
              <a:t>Crítica:</a:t>
            </a:r>
          </a:p>
          <a:p>
            <a:pPr marL="0" marR="0" lvl="0" indent="0" algn="just" rtl="0">
              <a:buNone/>
            </a:pPr>
            <a:r>
              <a:rPr lang="es-ES" b="1" i="0" u="none" strike="noStrike" kern="100" baseline="0" dirty="0">
                <a:solidFill>
                  <a:srgbClr val="0F4761"/>
                </a:solidFill>
                <a:latin typeface="Century Gothic" panose="020B0502020202020204" pitchFamily="34" charset="0"/>
              </a:rPr>
              <a:t>"La Ley prometió un estándar de </a:t>
            </a:r>
            <a:r>
              <a:rPr lang="es-ES" b="1" i="0" u="none" strike="noStrike" kern="100" baseline="0" dirty="0">
                <a:solidFill>
                  <a:srgbClr val="C00000"/>
                </a:solidFill>
                <a:latin typeface="Century Gothic" panose="020B0502020202020204" pitchFamily="34" charset="0"/>
              </a:rPr>
              <a:t>transparencia proactiva</a:t>
            </a:r>
            <a:r>
              <a:rPr lang="es-ES" b="1" i="0" u="none" strike="noStrike" kern="100" baseline="0" dirty="0">
                <a:solidFill>
                  <a:srgbClr val="0F4761"/>
                </a:solidFill>
                <a:latin typeface="Century Gothic" panose="020B0502020202020204" pitchFamily="34" charset="0"/>
              </a:rPr>
              <a:t> que no se ha cumplido. La obligación del Art. 70 (publicación de oficio) debería satisfacer el 90% de las necesidades ciudadanas. Sin embargo, la mayoría de la información de valor público sigue necesitando una solicitud directa, lo que demuestra que el gobierno sigue sin entender que la transparencia es </a:t>
            </a:r>
            <a:r>
              <a:rPr lang="es-ES" b="1" i="0" u="none" strike="noStrike" kern="100" baseline="0" dirty="0">
                <a:solidFill>
                  <a:srgbClr val="C00000"/>
                </a:solidFill>
                <a:latin typeface="Century Gothic" panose="020B0502020202020204" pitchFamily="34" charset="0"/>
              </a:rPr>
              <a:t>una política de estado y no un favor que se concede</a:t>
            </a:r>
            <a:r>
              <a:rPr lang="es-ES" b="1" i="0" u="none" strike="noStrike" kern="100" baseline="0" dirty="0">
                <a:solidFill>
                  <a:srgbClr val="0F4761"/>
                </a:solidFill>
                <a:latin typeface="Century Gothic" panose="020B0502020202020204" pitchFamily="34" charset="0"/>
              </a:rPr>
              <a:t>."</a:t>
            </a:r>
          </a:p>
        </p:txBody>
      </p:sp>
    </p:spTree>
    <p:extLst>
      <p:ext uri="{BB962C8B-B14F-4D97-AF65-F5344CB8AC3E}">
        <p14:creationId xmlns:p14="http://schemas.microsoft.com/office/powerpoint/2010/main" val="674288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3</a:t>
            </a:r>
            <a:r>
              <a:rPr lang="es-ES" i="0" u="none" strike="noStrike" kern="100" baseline="0" dirty="0">
                <a:solidFill>
                  <a:srgbClr val="0F4761"/>
                </a:solidFill>
                <a:latin typeface="Century Gothic" panose="020B0502020202020204" pitchFamily="34" charset="0"/>
              </a:rPr>
              <a:t> de </a:t>
            </a:r>
            <a:r>
              <a:rPr lang="es-ES" b="1" i="0" u="none" strike="noStrike" kern="100" baseline="0" dirty="0">
                <a:solidFill>
                  <a:srgbClr val="0F4761"/>
                </a:solidFill>
                <a:latin typeface="Century Gothic" panose="020B0502020202020204" pitchFamily="34" charset="0"/>
              </a:rPr>
              <a:t>4	Héctor Fix-Fierro (Investigador del Instituto de Investigaciones Jurídicas de la UNAM):</a:t>
            </a:r>
          </a:p>
          <a:p>
            <a:pPr marL="0" marR="0" lvl="0" indent="0" algn="just" rtl="0">
              <a:buNone/>
            </a:pPr>
            <a:endParaRPr lang="es-ES" b="1" kern="100" dirty="0">
              <a:solidFill>
                <a:srgbClr val="0F4761"/>
              </a:solidFill>
              <a:latin typeface="Century Gothic" panose="020B0502020202020204" pitchFamily="34" charset="0"/>
            </a:endParaRPr>
          </a:p>
          <a:p>
            <a:pPr marL="0" marR="0" lvl="0" indent="0" algn="just" rtl="0">
              <a:buNone/>
            </a:pPr>
            <a:r>
              <a:rPr lang="es-ES" i="0" u="none" strike="noStrike" kern="100" baseline="0" dirty="0">
                <a:solidFill>
                  <a:srgbClr val="0F4761"/>
                </a:solidFill>
                <a:latin typeface="Century Gothic" panose="020B0502020202020204" pitchFamily="34" charset="0"/>
              </a:rPr>
              <a:t>Crítica:</a:t>
            </a:r>
          </a:p>
          <a:p>
            <a:pPr marL="0" marR="0" lvl="0" indent="0" algn="just" rtl="0">
              <a:buNone/>
            </a:pPr>
            <a:r>
              <a:rPr lang="es-ES" b="1" i="0" u="none" strike="noStrike" kern="100" baseline="0" dirty="0">
                <a:solidFill>
                  <a:srgbClr val="0F4761"/>
                </a:solidFill>
                <a:latin typeface="Century Gothic" panose="020B0502020202020204" pitchFamily="34" charset="0"/>
              </a:rPr>
              <a:t>"El diseño del </a:t>
            </a:r>
            <a:r>
              <a:rPr lang="es-ES" b="1" i="0" u="none" strike="noStrike" kern="100" baseline="0" dirty="0">
                <a:solidFill>
                  <a:srgbClr val="C00000"/>
                </a:solidFill>
                <a:latin typeface="Century Gothic" panose="020B0502020202020204" pitchFamily="34" charset="0"/>
              </a:rPr>
              <a:t>Sistema Nacional de Transparencia</a:t>
            </a:r>
            <a:r>
              <a:rPr lang="es-ES" b="1" i="0" u="none" strike="noStrike" kern="100" baseline="0" dirty="0">
                <a:solidFill>
                  <a:srgbClr val="0F4761"/>
                </a:solidFill>
                <a:latin typeface="Century Gothic" panose="020B0502020202020204" pitchFamily="34" charset="0"/>
              </a:rPr>
              <a:t> es complejo y está sujeto a la </a:t>
            </a:r>
            <a:r>
              <a:rPr lang="es-ES" b="1" i="0" u="none" strike="noStrike" kern="100" baseline="0" dirty="0">
                <a:solidFill>
                  <a:srgbClr val="C00000"/>
                </a:solidFill>
                <a:latin typeface="Century Gothic" panose="020B0502020202020204" pitchFamily="34" charset="0"/>
              </a:rPr>
              <a:t>voluntad política</a:t>
            </a:r>
            <a:r>
              <a:rPr lang="es-ES" b="1" i="0" u="none" strike="noStrike" kern="100" baseline="0" dirty="0">
                <a:solidFill>
                  <a:srgbClr val="0F4761"/>
                </a:solidFill>
                <a:latin typeface="Century Gothic" panose="020B0502020202020204" pitchFamily="34" charset="0"/>
              </a:rPr>
              <a:t> de los estados. Si no hay una coordinación real y una presión desde el nivel federal para que los órganos locales cumplan con la </a:t>
            </a:r>
            <a:r>
              <a:rPr lang="es-ES" b="1" i="0" u="none" strike="noStrike" kern="100" baseline="0" dirty="0">
                <a:solidFill>
                  <a:srgbClr val="C00000"/>
                </a:solidFill>
                <a:latin typeface="Century Gothic" panose="020B0502020202020204" pitchFamily="34" charset="0"/>
              </a:rPr>
              <a:t>homologación tecnológica</a:t>
            </a:r>
            <a:r>
              <a:rPr lang="es-ES" b="1" i="0" u="none" strike="noStrike" kern="100" baseline="0" dirty="0">
                <a:solidFill>
                  <a:srgbClr val="0F4761"/>
                </a:solidFill>
                <a:latin typeface="Century Gothic" panose="020B0502020202020204" pitchFamily="34" charset="0"/>
              </a:rPr>
              <a:t> de la PNT, el acceso a la información en los municipios y entidades con menos recursos seguirá siendo una ilusión."</a:t>
            </a:r>
          </a:p>
          <a:p>
            <a:pPr marL="0" marR="0" lvl="0" indent="0" algn="just" rtl="0">
              <a:buNone/>
            </a:pPr>
            <a:endParaRPr lang="es-ES" b="1" i="0" u="none" strike="noStrike" kern="100" baseline="0" dirty="0">
              <a:solidFill>
                <a:srgbClr val="0F4761"/>
              </a:solidFill>
              <a:latin typeface="Century Gothic" panose="020B0502020202020204" pitchFamily="34" charset="0"/>
            </a:endParaRPr>
          </a:p>
        </p:txBody>
      </p:sp>
    </p:spTree>
    <p:extLst>
      <p:ext uri="{BB962C8B-B14F-4D97-AF65-F5344CB8AC3E}">
        <p14:creationId xmlns:p14="http://schemas.microsoft.com/office/powerpoint/2010/main" val="607943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D4016C1-4374-B1CB-B5EC-A5CA75871215}"/>
              </a:ext>
            </a:extLst>
          </p:cNvPr>
          <p:cNvSpPr>
            <a:spLocks noGrp="1"/>
          </p:cNvSpPr>
          <p:nvPr>
            <p:ph type="body" idx="1"/>
          </p:nvPr>
        </p:nvSpPr>
        <p:spPr>
          <a:xfrm>
            <a:off x="838200" y="854439"/>
            <a:ext cx="10515600" cy="5322524"/>
          </a:xfrm>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4</a:t>
            </a:r>
            <a:r>
              <a:rPr lang="es-ES" i="0" u="none" strike="noStrike" kern="100" baseline="0" dirty="0">
                <a:solidFill>
                  <a:srgbClr val="0F4761"/>
                </a:solidFill>
                <a:latin typeface="Century Gothic" panose="020B0502020202020204" pitchFamily="34" charset="0"/>
              </a:rPr>
              <a:t> de </a:t>
            </a:r>
            <a:r>
              <a:rPr lang="es-ES" b="1" i="0" u="none" strike="noStrike" kern="100" baseline="0" dirty="0">
                <a:solidFill>
                  <a:srgbClr val="0F4761"/>
                </a:solidFill>
                <a:latin typeface="Century Gothic" panose="020B0502020202020204" pitchFamily="34" charset="0"/>
              </a:rPr>
              <a:t>4	María Amparo Casar (Académica, Experta en Corrupción y Rendición de Cuentas):</a:t>
            </a:r>
          </a:p>
          <a:p>
            <a:pPr marL="0" marR="0" lvl="0" indent="0" algn="just" rtl="0">
              <a:buNone/>
            </a:pPr>
            <a:endParaRPr lang="es-ES" b="1" i="0" u="none" strike="noStrike" kern="100" baseline="0" dirty="0">
              <a:solidFill>
                <a:srgbClr val="0F4761"/>
              </a:solidFill>
              <a:latin typeface="Century Gothic" panose="020B0502020202020204" pitchFamily="34" charset="0"/>
            </a:endParaRPr>
          </a:p>
          <a:p>
            <a:pPr marL="0" marR="0" lvl="0" indent="0" algn="just" rtl="0">
              <a:buNone/>
            </a:pPr>
            <a:r>
              <a:rPr lang="es-ES" i="0" u="none" strike="noStrike" kern="100" baseline="0" dirty="0">
                <a:solidFill>
                  <a:srgbClr val="0F4761"/>
                </a:solidFill>
                <a:latin typeface="Century Gothic" panose="020B0502020202020204" pitchFamily="34" charset="0"/>
              </a:rPr>
              <a:t>Crítica:</a:t>
            </a:r>
          </a:p>
          <a:p>
            <a:pPr marL="0" marR="0" lvl="0" indent="0" algn="just" rtl="0">
              <a:buNone/>
            </a:pPr>
            <a:r>
              <a:rPr lang="es-ES" b="1" i="0" u="none" strike="noStrike" kern="100" baseline="0" dirty="0">
                <a:solidFill>
                  <a:srgbClr val="0F4761"/>
                </a:solidFill>
                <a:latin typeface="Century Gothic" panose="020B0502020202020204" pitchFamily="34" charset="0"/>
              </a:rPr>
              <a:t>"El binomio </a:t>
            </a:r>
            <a:r>
              <a:rPr lang="es-ES" b="1" i="0" u="none" strike="noStrike" kern="100" baseline="0" dirty="0">
                <a:solidFill>
                  <a:srgbClr val="C00000"/>
                </a:solidFill>
                <a:latin typeface="Century Gothic" panose="020B0502020202020204" pitchFamily="34" charset="0"/>
              </a:rPr>
              <a:t>Transparencia/Anticorrupción</a:t>
            </a:r>
            <a:r>
              <a:rPr lang="es-ES" b="1" i="0" u="none" strike="noStrike" kern="100" baseline="0" dirty="0">
                <a:solidFill>
                  <a:srgbClr val="0F4761"/>
                </a:solidFill>
                <a:latin typeface="Century Gothic" panose="020B0502020202020204" pitchFamily="34" charset="0"/>
              </a:rPr>
              <a:t> solo funciona si se publican datos de </a:t>
            </a:r>
            <a:r>
              <a:rPr lang="es-ES" b="1" i="0" u="none" strike="noStrike" kern="100" baseline="0" dirty="0">
                <a:solidFill>
                  <a:srgbClr val="C00000"/>
                </a:solidFill>
                <a:latin typeface="Century Gothic" panose="020B0502020202020204" pitchFamily="34" charset="0"/>
              </a:rPr>
              <a:t>calidad</a:t>
            </a:r>
            <a:r>
              <a:rPr lang="es-ES" b="1" i="0" u="none" strike="noStrike" kern="100" baseline="0" dirty="0">
                <a:solidFill>
                  <a:srgbClr val="0F4761"/>
                </a:solidFill>
                <a:latin typeface="Century Gothic" panose="020B0502020202020204" pitchFamily="34" charset="0"/>
              </a:rPr>
              <a:t>. Cuando los sujetos obligados entregan la información de contratos en formatos cerrados, sin metadatos o con errores intencionales, se obstaculiza la capacidad de la sociedad para auditar. El problema no es solo la falta de información, sino la </a:t>
            </a:r>
            <a:r>
              <a:rPr lang="es-ES" b="1" i="0" u="none" strike="noStrike" kern="100" baseline="0" dirty="0">
                <a:solidFill>
                  <a:srgbClr val="C00000"/>
                </a:solidFill>
                <a:latin typeface="Century Gothic" panose="020B0502020202020204" pitchFamily="34" charset="0"/>
              </a:rPr>
              <a:t>información basura</a:t>
            </a:r>
            <a:r>
              <a:rPr lang="es-ES" b="1" i="0" u="none" strike="noStrike" kern="100" baseline="0" dirty="0">
                <a:solidFill>
                  <a:srgbClr val="0F4761"/>
                </a:solidFill>
                <a:latin typeface="Century Gothic" panose="020B0502020202020204" pitchFamily="34" charset="0"/>
              </a:rPr>
              <a:t>, que es una nueva forma de opacidad."</a:t>
            </a:r>
          </a:p>
        </p:txBody>
      </p:sp>
    </p:spTree>
    <p:extLst>
      <p:ext uri="{BB962C8B-B14F-4D97-AF65-F5344CB8AC3E}">
        <p14:creationId xmlns:p14="http://schemas.microsoft.com/office/powerpoint/2010/main" val="70142354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28.10.25 Diapos</Template>
  <TotalTime>392</TotalTime>
  <Words>1540</Words>
  <Application>Microsoft Office PowerPoint</Application>
  <PresentationFormat>Panorámica</PresentationFormat>
  <Paragraphs>87</Paragraphs>
  <Slides>22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Aptos</vt:lpstr>
      <vt:lpstr>Aptos Display</vt:lpstr>
      <vt:lpstr>Arial</vt:lpstr>
      <vt:lpstr>Century Gothic</vt:lpstr>
      <vt:lpstr>Tema de Office</vt:lpstr>
      <vt:lpstr>D1 Título: Tecnología, Datos Abiertos y Litigio (45 min)</vt:lpstr>
      <vt:lpstr>D2 Revisión de la PNT: Del Acceso al Uso</vt:lpstr>
      <vt:lpstr>D3 La Columna Vertebral Digital: Datos Abiertos</vt:lpstr>
      <vt:lpstr>D4 Principios de los Datos Abiertos</vt:lpstr>
      <vt:lpstr>D5 La Accesibilidad: Un Mandato Legal (Art. 3, Fracc. XIII)</vt:lpstr>
      <vt:lpstr>D6 El SIRR: El Jurista como Litigante Informático</vt:lpstr>
      <vt:lpstr>D7 Tipos de Litigio en Derecho Informático</vt:lpstr>
      <vt:lpstr>D8 Intersección Crítica: Transparencia vs. Datos Personales</vt:lpstr>
      <vt:lpstr>Ejemplo de testado de Datos Personales (VERSIÓN PÚBLICA)</vt:lpstr>
      <vt:lpstr>D9 Conclusiones: El Jurista Informático como Garante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 Título: Tecnología, Datos Abiertos y Litigio (45 min)</dc:title>
  <dc:creator>GERARDO ROBERTO ARAGÓN GONZÁLEZ</dc:creator>
  <cp:lastModifiedBy>GERARDO ROBERTO ARAGÓN GONZÁLEZ</cp:lastModifiedBy>
  <cp:revision>61</cp:revision>
  <dcterms:created xsi:type="dcterms:W3CDTF">2025-10-28T12:34:55Z</dcterms:created>
  <dcterms:modified xsi:type="dcterms:W3CDTF">2025-10-28T23:42:50Z</dcterms:modified>
</cp:coreProperties>
</file>