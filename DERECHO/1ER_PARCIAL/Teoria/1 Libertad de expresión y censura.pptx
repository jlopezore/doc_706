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B9E1-CD7E-44B7-97FD-4264F091C360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113D-34B6-4D88-A787-800D8BA183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3544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B9E1-CD7E-44B7-97FD-4264F091C360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113D-34B6-4D88-A787-800D8BA183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84203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B9E1-CD7E-44B7-97FD-4264F091C360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113D-34B6-4D88-A787-800D8BA183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0794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B9E1-CD7E-44B7-97FD-4264F091C360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113D-34B6-4D88-A787-800D8BA183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6863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B9E1-CD7E-44B7-97FD-4264F091C360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113D-34B6-4D88-A787-800D8BA183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4241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B9E1-CD7E-44B7-97FD-4264F091C360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113D-34B6-4D88-A787-800D8BA183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0814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B9E1-CD7E-44B7-97FD-4264F091C360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113D-34B6-4D88-A787-800D8BA183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0071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B9E1-CD7E-44B7-97FD-4264F091C360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113D-34B6-4D88-A787-800D8BA183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49971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B9E1-CD7E-44B7-97FD-4264F091C360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113D-34B6-4D88-A787-800D8BA183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9111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B9E1-CD7E-44B7-97FD-4264F091C360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113D-34B6-4D88-A787-800D8BA183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8331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B9E1-CD7E-44B7-97FD-4264F091C360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113D-34B6-4D88-A787-800D8BA183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879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B9E1-CD7E-44B7-97FD-4264F091C360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113D-34B6-4D88-A787-800D8BA18306}" type="slidenum">
              <a:rPr lang="es-MX" smtClean="0"/>
              <a:t>‹Nº›</a:t>
            </a:fld>
            <a:endParaRPr lang="es-MX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944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B9E1-CD7E-44B7-97FD-4264F091C360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113D-34B6-4D88-A787-800D8BA183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0765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B9E1-CD7E-44B7-97FD-4264F091C360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113D-34B6-4D88-A787-800D8BA183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2009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B9E1-CD7E-44B7-97FD-4264F091C360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113D-34B6-4D88-A787-800D8BA183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7683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B9E1-CD7E-44B7-97FD-4264F091C360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113D-34B6-4D88-A787-800D8BA183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8451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B9E1-CD7E-44B7-97FD-4264F091C360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113D-34B6-4D88-A787-800D8BA183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1373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A0BF7-4C1C-8B81-2FA0-DDAD3958B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2CED9D-B7DF-C78B-F46D-A8EBADBC9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08396A-0766-8F1C-9B15-E470F085A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B9E1-CD7E-44B7-97FD-4264F091C360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A20D08-D3FA-4B70-A9C9-3A9898AEC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498D29-3078-C8FE-BE82-ADAF2F0D3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7113D-34B6-4D88-A787-800D8BA183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7085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762B9E1-CD7E-44B7-97FD-4264F091C360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847113D-34B6-4D88-A787-800D8BA183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31235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82D006-F3E8-5BD3-271E-6A9A6A5B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Módulo 1: La Voz en la Era Digital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FEA553-E0B1-7FB7-38DA-FE318B0390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marL="0" marR="0" lvl="0" indent="0" algn="ctr" rtl="0">
              <a:buNone/>
            </a:pP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Capítulo 1: </a:t>
            </a: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Libertad de expresión y censura: De la imprenta al internet.</a:t>
            </a:r>
          </a:p>
          <a:p>
            <a:pPr marR="0" lvl="0" algn="just" rtl="0"/>
            <a:endParaRPr lang="es-ES" kern="100" dirty="0">
              <a:solidFill>
                <a:srgbClr val="0F4761"/>
              </a:solidFill>
              <a:latin typeface="Century Gothic" panose="020B0502020202020204" pitchFamily="34" charset="0"/>
            </a:endParaRPr>
          </a:p>
          <a:p>
            <a:pPr marL="457200" marR="0" lvl="1" indent="0" algn="just" rtl="0">
              <a:buNone/>
            </a:pP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"Hoy exploraremos cómo la lucha por la libre expresión se adaptó desde el papel hasta la pantalla."</a:t>
            </a:r>
          </a:p>
        </p:txBody>
      </p:sp>
    </p:spTree>
    <p:extLst>
      <p:ext uri="{BB962C8B-B14F-4D97-AF65-F5344CB8AC3E}">
        <p14:creationId xmlns:p14="http://schemas.microsoft.com/office/powerpoint/2010/main" val="353478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09EE88-256E-A149-B480-04B11830C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¿Censura Judicial en Redes?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B91968-759B-3EBD-DDDE-928A88734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75" y="2098623"/>
            <a:ext cx="10364452" cy="3692577"/>
          </a:xfrm>
        </p:spPr>
        <p:txBody>
          <a:bodyPr anchor="t"/>
          <a:lstStyle/>
          <a:p>
            <a:pPr marL="0" marR="0" lvl="0" indent="0" algn="just" rtl="0">
              <a:buNone/>
            </a:pP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Un periodista es condenado por "violencia política de género" por un comentario en redes contra una figura pública, ordenándole multa, disculpas y cursos de género, generando debate sobre la sobrejudicialización de la crítica.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C32248A-F4AF-036F-5FE7-E74A84B70165}"/>
              </a:ext>
            </a:extLst>
          </p:cNvPr>
          <p:cNvSpPr/>
          <p:nvPr/>
        </p:nvSpPr>
        <p:spPr>
          <a:xfrm>
            <a:off x="1408631" y="3961530"/>
            <a:ext cx="3643053" cy="21033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Century Gothic" panose="020B0502020202020204" pitchFamily="34" charset="0"/>
              </a:rPr>
              <a:t>"¿Publicar una opinión dura en Twitter contra un político es libertad de expresión o violencia penal? ¿Dónde está el límite?"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519EB52-A304-1E98-D6AB-75EB12DE0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4669" y="3316401"/>
            <a:ext cx="3393578" cy="339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195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6A913-2E43-123C-1538-47D01C2C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 Tensión Histórica: Poder vs. Información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984791-4DE5-C947-12A8-235DD7165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7031012" cy="3424107"/>
          </a:xfrm>
        </p:spPr>
        <p:txBody>
          <a:bodyPr anchor="ctr"/>
          <a:lstStyle/>
          <a:p>
            <a:pPr marL="0" marR="0" lvl="0" indent="0" algn="just" rtl="0">
              <a:buNone/>
            </a:pP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En México, la historia registra una constante tensión entre el flujo libre de información y las acciones de grupos de poder que buscan inhibir o detener contenidos incómodos.</a:t>
            </a:r>
          </a:p>
          <a:p>
            <a:pPr marL="0" marR="0" lvl="0" indent="0" algn="just" rtl="0">
              <a:buNone/>
            </a:pPr>
            <a:endParaRPr lang="es-ES" b="0" i="0" u="none" strike="noStrike" kern="100" baseline="0" dirty="0">
              <a:solidFill>
                <a:srgbClr val="0F4761"/>
              </a:solidFill>
              <a:latin typeface="Century Gothic" panose="020B0502020202020204" pitchFamily="34" charset="0"/>
            </a:endParaRPr>
          </a:p>
          <a:p>
            <a:pPr marL="457200" marR="0" lvl="1" indent="0" algn="just" rtl="0">
              <a:buNone/>
            </a:pP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"Es como un juego de 'jalar la cuerda' que se juega desde hace más de un siglo. El poder siempre quiere jalar la cuerda hacia el control."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B934B8B-5834-3DEB-3A31-198602E47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629" y="2018430"/>
            <a:ext cx="2736173" cy="412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896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FD6B07-043D-555E-FC43-D6A024DB8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Adaptación de la Censura: 1917, La Imprenta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DF706A-8E60-7FB0-4939-5C529254F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5370067" cy="3519357"/>
          </a:xfrm>
        </p:spPr>
        <p:txBody>
          <a:bodyPr anchor="ctr">
            <a:normAutofit fontScale="85000" lnSpcReduction="10000"/>
          </a:bodyPr>
          <a:lstStyle/>
          <a:p>
            <a:pPr marR="0" lvl="0" algn="just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Las tentaciones de control se han adaptado a los medios de cada época. La Ley de Delitos de Imprenta (1917) usó la imprenta como instrumento de comunicación masiva, permitiendo al gobierno controlar la información.</a:t>
            </a:r>
          </a:p>
          <a:p>
            <a:pPr marR="0" lvl="1" algn="just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Ejemplo: "En 1917, si tu periódico revelaba corrupción, te podían acusar de 'ataque a la vida privada' por exponer al funcionario al desprecio o ridículo. ¡La verdad se volvía delito!".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0A73E3-A433-C879-9C92-C897764661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3778" y="1617478"/>
            <a:ext cx="3373131" cy="4954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161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D5C8BE-C02C-0956-375B-0EB661D33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Delito por "Desprecio o Ridículo"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769929-51A6-12CE-65CE-2160D77E8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marR="0" lvl="0" algn="just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Artículo 1∘   de la Ley de Delitos de Imprenta consideraba "ataque a la vida privada" publicar algo que expusiera a una persona al "odio, desprecio o ridículo".</a:t>
            </a:r>
          </a:p>
          <a:p>
            <a:pPr marR="0" lvl="1" algn="just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"Si mi opinión te hace sentir mal, ¿debe ser penalizada? ¿Un gobernante corrupto tiene derecho a no ser ridiculizado por la prensa?".</a:t>
            </a:r>
          </a:p>
        </p:txBody>
      </p:sp>
    </p:spTree>
    <p:extLst>
      <p:ext uri="{BB962C8B-B14F-4D97-AF65-F5344CB8AC3E}">
        <p14:creationId xmlns:p14="http://schemas.microsoft.com/office/powerpoint/2010/main" val="1002907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33A380-9C93-32A4-1D7F-58D8FDDE3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Ataque al "Orden o a la Paz Pública"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19AB0B-ACA3-3169-B47D-5FE8D723E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marR="0" lvl="0" algn="just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Se consideraba "ataque al orden o a la paz pública" cualquier manifestación o exposición "maliciosa" que buscara "desprestigiar, ridiculizar o destruir las instituciones".</a:t>
            </a:r>
          </a:p>
          <a:p>
            <a:pPr marL="457200" marR="0" lvl="1" indent="0" algn="just" rtl="0">
              <a:buNone/>
            </a:pP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"</a:t>
            </a: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¿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Quién decide qué es 'malicioso'</a:t>
            </a: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?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Esto es un cheque en blanco para el control discrecional."</a:t>
            </a:r>
          </a:p>
        </p:txBody>
      </p:sp>
    </p:spTree>
    <p:extLst>
      <p:ext uri="{BB962C8B-B14F-4D97-AF65-F5344CB8AC3E}">
        <p14:creationId xmlns:p14="http://schemas.microsoft.com/office/powerpoint/2010/main" val="2329792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54ACAC-52ED-18B6-0DB1-1FC7CFE20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Censura: De lo Público a lo Privado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0A4173-8364-0876-E4BC-C6660487A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marR="0" lvl="0" algn="just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Artículo 7 iba al extremo: las expresiones hechas "en lugares privados, pero de manera que puedan ser observadas, vistas u oídas por el público" se consideraban públicas y sancionables.</a:t>
            </a:r>
          </a:p>
          <a:p>
            <a:pPr marL="457200" marR="0" lvl="1" indent="0" algn="just" rtl="0">
              <a:buNone/>
            </a:pP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"Imaginen que sus conversaciones de WhatsApp o un chisme con sus vecinos puedan ser sujeto de revisión legal. El control llegaba hasta la sala de su casa."</a:t>
            </a:r>
          </a:p>
        </p:txBody>
      </p:sp>
    </p:spTree>
    <p:extLst>
      <p:ext uri="{BB962C8B-B14F-4D97-AF65-F5344CB8AC3E}">
        <p14:creationId xmlns:p14="http://schemas.microsoft.com/office/powerpoint/2010/main" val="3757024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26ACA7-348C-864A-157D-8D9D36012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 Siguiente Ola: Radio y TV (1960)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091B8D-25EB-A71C-3C75-83F1C6651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marR="0" lvl="0" algn="just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 </a:t>
            </a: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radio y televisión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se perfilaron como nuevos medios de penetración masiva. En 1960, la Ley Federal de Radio y Televisión (LFRTV) se convirtió en el nuevo instrumento de control gubernamental.</a:t>
            </a:r>
          </a:p>
          <a:p>
            <a:pPr marL="457200" marR="0" lvl="1" indent="0" algn="just" rtl="0">
              <a:buNone/>
            </a:pP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"El poder siempre sigue la audiencia. Cuando la gente dejó el papel por la TV, la ley lo siguió."</a:t>
            </a:r>
          </a:p>
        </p:txBody>
      </p:sp>
    </p:spTree>
    <p:extLst>
      <p:ext uri="{BB962C8B-B14F-4D97-AF65-F5344CB8AC3E}">
        <p14:creationId xmlns:p14="http://schemas.microsoft.com/office/powerpoint/2010/main" val="2633772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8B2BB-7982-4416-FF39-CE72A551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 Prohibición de Contenidos "Contrarios al Orden"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1769BD-B7D9-D67A-F952-09F10F83C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b"/>
          <a:lstStyle/>
          <a:p>
            <a:pPr marR="0" lvl="0" algn="just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artículo 63 de la LFRTV prohibió difundir "...noticias, mensajes o propaganda... que sean contrarios a la seguridad del Estado o el orden público".</a:t>
            </a:r>
          </a:p>
          <a:p>
            <a:pPr marR="0" lvl="1" algn="just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Relevancia: "Una vez más, un concepto ambiguo ('orden público') dejaba un margen discrecional enorme para censurar contenidos o castigar su difusión".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C9D6D9-6B82-F501-F60E-369BF7854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362" y="1581150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014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BC8B4-DF8C-2E02-CF8D-7DDFDEFEE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Nace el Gigante: </a:t>
            </a:r>
            <a:r>
              <a:rPr lang="es-ES" b="0" i="0" u="none" strike="noStrike" kern="100" baseline="0" dirty="0" err="1">
                <a:solidFill>
                  <a:srgbClr val="0F4761"/>
                </a:solidFill>
                <a:latin typeface="Century Gothic" panose="020B0502020202020204" pitchFamily="34" charset="0"/>
              </a:rPr>
              <a:t>ARPAnet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a Internet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7567ED-980A-549E-F404-B66D54DE3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75" y="2214695"/>
            <a:ext cx="10364452" cy="4425948"/>
          </a:xfrm>
        </p:spPr>
        <p:txBody>
          <a:bodyPr anchor="t">
            <a:normAutofit/>
          </a:bodyPr>
          <a:lstStyle/>
          <a:p>
            <a:pPr marR="0" lvl="0" algn="just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Mientras tanto, la tecnología cambiaba las reglas. En 1969, el proyecto militar estadounidense </a:t>
            </a:r>
            <a:r>
              <a:rPr lang="es-ES" b="0" i="0" u="none" strike="noStrike" kern="100" baseline="0" dirty="0" err="1">
                <a:solidFill>
                  <a:srgbClr val="0F4761"/>
                </a:solidFill>
                <a:latin typeface="Century Gothic" panose="020B0502020202020204" pitchFamily="34" charset="0"/>
              </a:rPr>
              <a:t>ARPAnet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(la base del Internet) lograba su primer nodo.</a:t>
            </a:r>
          </a:p>
          <a:p>
            <a:pPr marR="0" lvl="1" algn="just" rtl="0"/>
            <a:endParaRPr lang="es-ES" b="0" i="0" u="none" strike="noStrike" kern="100" baseline="0" dirty="0">
              <a:solidFill>
                <a:srgbClr val="0F4761"/>
              </a:solidFill>
              <a:latin typeface="Century Gothic" panose="020B0502020202020204" pitchFamily="34" charset="0"/>
            </a:endParaRPr>
          </a:p>
          <a:p>
            <a:pPr marR="0" lvl="1" algn="just" rtl="0"/>
            <a:endParaRPr lang="es-ES" kern="100" dirty="0">
              <a:solidFill>
                <a:srgbClr val="0F4761"/>
              </a:solidFill>
              <a:latin typeface="Century Gothic" panose="020B0502020202020204" pitchFamily="34" charset="0"/>
            </a:endParaRPr>
          </a:p>
          <a:p>
            <a:pPr marR="0" lvl="1" algn="just" rtl="0"/>
            <a:endParaRPr lang="es-ES" b="0" i="0" u="none" strike="noStrike" kern="100" baseline="0" dirty="0">
              <a:solidFill>
                <a:srgbClr val="0F4761"/>
              </a:solidFill>
              <a:latin typeface="Century Gothic" panose="020B0502020202020204" pitchFamily="34" charset="0"/>
            </a:endParaRPr>
          </a:p>
          <a:p>
            <a:pPr marR="0" lvl="1" algn="just" rtl="0"/>
            <a:endParaRPr lang="es-ES" kern="100" dirty="0">
              <a:solidFill>
                <a:srgbClr val="0F4761"/>
              </a:solidFill>
              <a:latin typeface="Century Gothic" panose="020B0502020202020204" pitchFamily="34" charset="0"/>
            </a:endParaRPr>
          </a:p>
          <a:p>
            <a:pPr marL="457200" marR="0" lvl="1" indent="0" algn="just" rtl="0">
              <a:buNone/>
            </a:pPr>
            <a:endParaRPr lang="es-ES" b="0" i="0" u="none" strike="noStrike" kern="100" baseline="0" dirty="0">
              <a:solidFill>
                <a:srgbClr val="0F4761"/>
              </a:solidFill>
              <a:latin typeface="Century Gothic" panose="020B0502020202020204" pitchFamily="34" charset="0"/>
            </a:endParaRPr>
          </a:p>
          <a:p>
            <a:pPr marL="457200" marR="0" lvl="1" indent="0" algn="just" rtl="0">
              <a:buNone/>
            </a:pP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Hito: "En 1989, México concretó su primer enlace con internet, un año antes que Brasil y Argentina, perfilando una nueva era".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4C1CF53-BCC8-C36F-FA66-8A2BE343A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725" y="3380282"/>
            <a:ext cx="2857500" cy="16002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6C73052-9C3A-5C3B-83EF-35A0FB9B1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909" y="3006777"/>
            <a:ext cx="2143125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322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901103-144F-EF3D-35B0-BFB2A8003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Poder del Ciudadano Digital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75F1E0-ACAC-872D-5E93-18F096AF1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7173" y="1805737"/>
            <a:ext cx="5911054" cy="3985463"/>
          </a:xfrm>
        </p:spPr>
        <p:txBody>
          <a:bodyPr anchor="ctr"/>
          <a:lstStyle/>
          <a:p>
            <a:pPr marR="0" lvl="0" algn="just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A principios del nuevo milenio, el internet con cerca de 300 millones de usuarios le dio poder a los ciudadanos.</a:t>
            </a:r>
          </a:p>
          <a:p>
            <a:pPr marL="457200" marR="0" lvl="1" indent="0" algn="just" rtl="0">
              <a:buNone/>
            </a:pP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"La mayoría de los contenidos en la red son creados por usuarios particulares, no por editores. </a:t>
            </a: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 red funciona como medio de comunicación y difusión al mismo tiempo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".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47994E8-1217-E8D5-9D63-7AE1C9F8E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17" y="2086414"/>
            <a:ext cx="4782556" cy="398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732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6C2CA-8B63-BD17-7C98-45AD7C1C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Censura 2.0: Adaptación al Internet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EB2BF2-8E4D-172C-C089-063756A85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5861779" cy="3424107"/>
          </a:xfrm>
        </p:spPr>
        <p:txBody>
          <a:bodyPr anchor="t"/>
          <a:lstStyle/>
          <a:p>
            <a:pPr marR="0" lvl="0" algn="just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Los mecanismos de censura (legales o sutiles) han sido eficaces en la historia. Ahora, se han adecuado para incidir en el flujo de información en internet.</a:t>
            </a:r>
          </a:p>
          <a:p>
            <a:pPr marR="0" lvl="1" algn="just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Desafío: "La censura no es una reliquia; se adapta a las nuevas plataformas como las redes sociales, blogs y ciberactivismo".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96030F8-6168-4464-1DDC-F41990DFFA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454" y="2640090"/>
            <a:ext cx="5116643" cy="287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562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BC34CF-1417-D881-7CCF-6E2EB6F18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Blindaje Constitucional (2013)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35177C-3BFB-87DF-13EF-DE0B9B2E7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14" y="1888761"/>
            <a:ext cx="5182225" cy="4470644"/>
          </a:xfrm>
        </p:spPr>
        <p:txBody>
          <a:bodyPr anchor="ctr">
            <a:normAutofit lnSpcReduction="10000"/>
          </a:bodyPr>
          <a:lstStyle/>
          <a:p>
            <a:pPr marR="0" lvl="0" algn="just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 reforma de Telecomunicaciones (2013) agregó una redacción clave al Artículo 7 de la Constitución.</a:t>
            </a:r>
          </a:p>
          <a:p>
            <a:pPr marR="0" lvl="1" algn="just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Avance Legal: Este artículo ahora </a:t>
            </a: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prohíbe expresamente que las leyes dispongan vías indirectas para restringir la libertad de difundir opiniones o información a través de "cualesquiera otros medios y tecnologías de la información y comunicación"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939D44A-3E2F-FD85-5075-8F7EDACF20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" t="2070" r="333" b="7237"/>
          <a:stretch/>
        </p:blipFill>
        <p:spPr>
          <a:xfrm>
            <a:off x="2258340" y="1723870"/>
            <a:ext cx="3183090" cy="476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385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D33B00-9878-FB53-F44F-704C25BD9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Redes Sociales</a:t>
            </a:r>
            <a:r>
              <a:rPr lang="es-ES" kern="100" dirty="0">
                <a:solidFill>
                  <a:srgbClr val="0F4761"/>
                </a:solidFill>
                <a:latin typeface="Century Gothic" panose="020B0502020202020204" pitchFamily="34" charset="0"/>
              </a:rPr>
              <a:t>: El Nuevo Campo de Batalla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611BC4-1693-7924-1FB2-4A3085AB6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7120953" cy="4078677"/>
          </a:xfrm>
        </p:spPr>
        <p:txBody>
          <a:bodyPr anchor="ctr"/>
          <a:lstStyle/>
          <a:p>
            <a:pPr marL="0" marR="0" lvl="0" indent="0" algn="just" rtl="0">
              <a:buNone/>
            </a:pP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internet es una plataforma formidable para la libertad. Sin embargo, se han montado políticas restrictivas, sanciones y canales de control (empresariales o estatales).</a:t>
            </a:r>
          </a:p>
          <a:p>
            <a:pPr marL="457200" marR="0" lvl="1" indent="0" algn="just" rtl="0">
              <a:buNone/>
            </a:pP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"Internet no es una utopía sin ley. Es un campo de batalla legal donde el Estado, las empresas (ej. Twitter, Facebook) y los usuarios compiten por el control del discurso".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00CDC66-9F27-C6A2-96E4-9D3F19B0DC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728" y="3051388"/>
            <a:ext cx="3243497" cy="185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906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70C70-D119-3F4A-C375-4A8BCF393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Censura Global: Casos Extremos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010FB5-29AF-50E3-7B44-562966C00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75" y="3957403"/>
            <a:ext cx="10364452" cy="1833797"/>
          </a:xfrm>
        </p:spPr>
        <p:txBody>
          <a:bodyPr anchor="ctr">
            <a:normAutofit fontScale="92500" lnSpcReduction="20000"/>
          </a:bodyPr>
          <a:lstStyle/>
          <a:p>
            <a:pPr marR="0" lvl="0" algn="just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 censura es un fenómeno global. Ejemplos de control digital: Condenas de cárcel por criticar a la monarquía en Tailandia (60 años), o por caricaturizar a un presidente en Egipto (3 años).</a:t>
            </a:r>
          </a:p>
          <a:p>
            <a:pPr marR="0" lvl="1" algn="just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Dilema Global: "¿Qué tan cerca estamos de estas realidades cuando se aprueban </a:t>
            </a: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leyes de </a:t>
            </a:r>
            <a:r>
              <a:rPr lang="es-ES" b="1" i="0" u="none" strike="noStrike" kern="100" baseline="0" dirty="0" err="1">
                <a:solidFill>
                  <a:srgbClr val="0F4761"/>
                </a:solidFill>
                <a:latin typeface="Century Gothic" panose="020B0502020202020204" pitchFamily="34" charset="0"/>
              </a:rPr>
              <a:t>ciberaSedio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con redacciones ambiguas que pueden llevar a la censura judicial?".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0F02C16-008F-AFE4-69D3-C4363A8F66A6}"/>
              </a:ext>
            </a:extLst>
          </p:cNvPr>
          <p:cNvSpPr/>
          <p:nvPr/>
        </p:nvSpPr>
        <p:spPr>
          <a:xfrm>
            <a:off x="1963710" y="1836570"/>
            <a:ext cx="7689955" cy="19805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dirty="0">
                <a:latin typeface="Century Gothic" panose="020B0502020202020204" pitchFamily="34" charset="0"/>
              </a:rPr>
              <a:t>Art. 480 del Código Penal de Puebla. (violencia digital)</a:t>
            </a:r>
          </a:p>
          <a:p>
            <a:pPr algn="just"/>
            <a:r>
              <a:rPr lang="es-MX" b="1" dirty="0" err="1">
                <a:latin typeface="Century Gothic" panose="020B0502020202020204" pitchFamily="34" charset="0"/>
              </a:rPr>
              <a:t>Ciberasedio</a:t>
            </a:r>
            <a:r>
              <a:rPr lang="es-MX" dirty="0">
                <a:latin typeface="Century Gothic" panose="020B0502020202020204" pitchFamily="34" charset="0"/>
              </a:rPr>
              <a:t> ocurre cuando alguien usa medios digitales para vigilar, hostigar, intimidar u ofender a otra persona, causando la alteración de su vida cotidiana o el daño a su integridad. Pena: 6 meses-3 años de prisión y multa. Se perseguirá de oficio tratándose de grupos vulnerables. (CNDH señala que tipifica de manera poco clara el este delito.)</a:t>
            </a:r>
          </a:p>
        </p:txBody>
      </p:sp>
    </p:spTree>
    <p:extLst>
      <p:ext uri="{BB962C8B-B14F-4D97-AF65-F5344CB8AC3E}">
        <p14:creationId xmlns:p14="http://schemas.microsoft.com/office/powerpoint/2010/main" val="1839254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7A399F-63BF-77E4-E064-FFB5B7912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Dilema Penal: ¿Cómo Regular sin Censurar?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3759D4-1348-3461-2D0F-29105FE8C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marR="0" lvl="0" algn="just" rtl="0"/>
            <a:r>
              <a:rPr lang="es-MX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Bajo el argumento de combatir ciberdelitos (fraudes, terrorismo, noticias falsas), se promueven mecanismos que pueden ser armas de franca censura.</a:t>
            </a:r>
          </a:p>
          <a:p>
            <a:pPr marL="457200" marR="0" lvl="1" indent="0" algn="just" rtl="0">
              <a:buNone/>
            </a:pP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Para legislar restricciones o sanciones en el ámbito penal en internet, solo deben considerarse las excepciones más precisas y justificadas.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438EAD-D75E-9E19-C529-F51F43D52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873" y="4434882"/>
            <a:ext cx="3365554" cy="198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522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03BCB-D5C6-D381-4351-5D209FC7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Los Únicos Límites Penales Válidos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BBE3E6-8144-1F55-8F9F-6AE6CC5F9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>
              <a:schemeClr val="accent1"/>
            </a:solidFill>
          </a:ln>
        </p:spPr>
        <p:txBody>
          <a:bodyPr anchor="ctr"/>
          <a:lstStyle/>
          <a:p>
            <a:pPr marR="0" lvl="0" algn="just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Las únicas excepciones en el ámbito penal justificadas, según estándares internacionales, son: 1) Propaganda de guerra o incitación al odio que constituya violencia; 2) Incitación al genocidio; y 3) Pornografía infantil.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Conclusión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: "</a:t>
            </a:r>
            <a:r>
              <a:rPr lang="es-ES" b="0" i="0" u="none" strike="noStrike" kern="100" baseline="0" dirty="0">
                <a:solidFill>
                  <a:srgbClr val="0F4761"/>
                </a:solidFill>
                <a:highlight>
                  <a:srgbClr val="00FFFF"/>
                </a:highlight>
                <a:latin typeface="Century Gothic" panose="020B0502020202020204" pitchFamily="34" charset="0"/>
              </a:rPr>
              <a:t>Todo lo demás, como el rumor o la ofensa, debe resolverse en el ámbito del derecho civil (responsabilidad ulterior), no en el penal. El miedo a un terremoto en redes no es igual a un atentado terrorista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556853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0F32D7-3883-E316-9800-2DD3B29F9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AD1898-6F46-AACA-D350-7712D1113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dirty="0">
                <a:latin typeface="Century Gothic" panose="020B0502020202020204" pitchFamily="34" charset="0"/>
              </a:rPr>
              <a:t>BIBLIOGRAFÍA:</a:t>
            </a:r>
          </a:p>
          <a:p>
            <a:pPr marL="0" indent="0">
              <a:buNone/>
            </a:pPr>
            <a:r>
              <a:rPr lang="es-ES" dirty="0">
                <a:latin typeface="Century Gothic" panose="020B0502020202020204" pitchFamily="34" charset="0"/>
              </a:rPr>
              <a:t>“Delitos informáticos frente a estándares de derechos humanos y libertad de expresión en México.” </a:t>
            </a:r>
            <a:r>
              <a:rPr lang="es-ES" sz="2000" b="0" dirty="0">
                <a:latin typeface="Century Gothic" panose="020B0502020202020204" pitchFamily="34" charset="0"/>
              </a:rPr>
              <a:t>(</a:t>
            </a:r>
            <a:r>
              <a:rPr lang="es-ES" sz="2000" b="0" i="1" dirty="0">
                <a:latin typeface="Century Gothic" panose="020B0502020202020204" pitchFamily="34" charset="0"/>
              </a:rPr>
              <a:t>Repositorio INFOTEC</a:t>
            </a:r>
            <a:r>
              <a:rPr lang="es-ES" sz="2000" b="0" dirty="0">
                <a:latin typeface="Century Gothic" panose="020B0502020202020204" pitchFamily="34" charset="0"/>
              </a:rPr>
              <a:t>)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78327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TM04033925[[fn=Gota]]</Template>
  <TotalTime>128</TotalTime>
  <Words>1239</Words>
  <Application>Microsoft Office PowerPoint</Application>
  <PresentationFormat>Panorámica</PresentationFormat>
  <Paragraphs>62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Century Gothic</vt:lpstr>
      <vt:lpstr>Tw Cen MT</vt:lpstr>
      <vt:lpstr>Gota</vt:lpstr>
      <vt:lpstr>Módulo 1: La Voz en la Era Digital</vt:lpstr>
      <vt:lpstr>¿Censura Judicial en Redes?</vt:lpstr>
      <vt:lpstr>La Tensión Histórica: Poder vs. Información</vt:lpstr>
      <vt:lpstr>Adaptación de la Censura: 1917, La Imprenta</vt:lpstr>
      <vt:lpstr>Delito por "Desprecio o Ridículo"</vt:lpstr>
      <vt:lpstr>Ataque al "Orden o a la Paz Pública"</vt:lpstr>
      <vt:lpstr>Censura: De lo Público a lo Privado</vt:lpstr>
      <vt:lpstr>La Siguiente Ola: Radio y TV (1960)</vt:lpstr>
      <vt:lpstr>La Prohibición de Contenidos "Contrarios al Orden"</vt:lpstr>
      <vt:lpstr>Nace el Gigante: ARPAnet a Internet</vt:lpstr>
      <vt:lpstr>El Poder del Ciudadano Digital</vt:lpstr>
      <vt:lpstr>Censura 2.0: Adaptación al Internet</vt:lpstr>
      <vt:lpstr>Blindaje Constitucional (2013)</vt:lpstr>
      <vt:lpstr>Redes Sociales: El Nuevo Campo de Batalla</vt:lpstr>
      <vt:lpstr>Censura Global: Casos Extremos</vt:lpstr>
      <vt:lpstr>El Dilema Penal: ¿Cómo Regular sin Censurar?</vt:lpstr>
      <vt:lpstr>Los Únicos Límites Penales Válidos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1: La Voz en la Era Digital</dc:title>
  <dc:creator>GERARDO ROBERTO ARAGÓN GONZÁLEZ</dc:creator>
  <cp:lastModifiedBy>GERARDO ROBERTO ARAGÓN GONZÁLEZ</cp:lastModifiedBy>
  <cp:revision>50</cp:revision>
  <dcterms:created xsi:type="dcterms:W3CDTF">2025-10-08T20:44:29Z</dcterms:created>
  <dcterms:modified xsi:type="dcterms:W3CDTF">2025-10-27T13:22:39Z</dcterms:modified>
</cp:coreProperties>
</file>